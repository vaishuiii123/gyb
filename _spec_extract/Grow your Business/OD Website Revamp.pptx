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6" r:id="rId2"/>
    <p:sldId id="283" r:id="rId3"/>
    <p:sldId id="268" r:id="rId4"/>
    <p:sldId id="267" r:id="rId5"/>
    <p:sldId id="261" r:id="rId6"/>
    <p:sldId id="269" r:id="rId7"/>
    <p:sldId id="270" r:id="rId8"/>
    <p:sldId id="271" r:id="rId9"/>
    <p:sldId id="272" r:id="rId10"/>
    <p:sldId id="284" r:id="rId11"/>
    <p:sldId id="273" r:id="rId12"/>
    <p:sldId id="275" r:id="rId13"/>
    <p:sldId id="274" r:id="rId14"/>
    <p:sldId id="282" r:id="rId15"/>
    <p:sldId id="285" r:id="rId16"/>
    <p:sldId id="279" r:id="rId17"/>
    <p:sldId id="28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448EC9-5AB6-CE51-D8B7-192FA90B1B59}" name="Dev Damani" initials="DD" userId="S::dev.damani@knavcpa.com::a8e63c5b-b9d4-4ccb-b512-3bb523760245" providerId="AD"/>
  <p188:author id="{6C5033D6-0C35-7587-F166-47C55731D969}" name="Mansi Chaturvedi" initials="MC" userId="S::mansi.chaturvedi@knavcpa.com::f2713598-1137-4a51-995d-8a81c81cae9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AB7C5B-3A82-4CEE-AC79-7CECF271B478}" v="89" dt="2024-06-27T11:31:09.239"/>
    <p1510:client id="{C5A557F4-FAAF-417A-970D-DAF8C711E4E9}" v="346" dt="2024-06-27T11:31:47.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showGuides="1">
      <p:cViewPr>
        <p:scale>
          <a:sx n="100" d="100"/>
          <a:sy n="100" d="100"/>
        </p:scale>
        <p:origin x="5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C1857A-8362-46DB-888A-80B1BE83EC7E}" type="datetimeFigureOut">
              <a:rPr lang="en-IN" smtClean="0"/>
              <a:t>22-05-2025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71BE3-73B5-427B-ACCD-69E07E808999}" type="slidenum">
              <a:rPr lang="en-IN" smtClean="0"/>
              <a:t>‹#›</a:t>
            </a:fld>
            <a:endParaRPr lang="en-IN"/>
          </a:p>
        </p:txBody>
      </p:sp>
    </p:spTree>
    <p:extLst>
      <p:ext uri="{BB962C8B-B14F-4D97-AF65-F5344CB8AC3E}">
        <p14:creationId xmlns:p14="http://schemas.microsoft.com/office/powerpoint/2010/main" val="227720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A6C7-9409-6865-889D-5D8D1EA0E1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BAF48B-D609-573E-EBF6-2364FEEAC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C2D89A-7A51-DF2E-0816-E559EF286A7B}"/>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3D5DBC26-AF5B-A4AC-440D-C6B39E0588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A70D01-0DFD-54B0-C3FC-E958B7BDE38A}"/>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1229259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03B3B-11F4-8244-FF2D-D1FC94C9A1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552574-043C-F838-626C-3C66A093CD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5EED63-C2D0-796E-AF0A-C7756C439B14}"/>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FA89FB1F-5F74-8116-6A38-230920EE72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CAB189-E64D-3835-6206-124893154A9A}"/>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48924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98AB-2316-1FD8-3D0F-F934D643BE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EF989E-0C46-BADF-AF85-CADDE3CFE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4BD4E-7D93-339D-E3CC-7D21945DC798}"/>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D178275F-2171-7F73-D9BD-30D2ACB69D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9F4293-201B-F9F8-940A-13BF3985B259}"/>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2493038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2F6F-2D65-D133-5B73-07B147C715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E754FC-4927-8CDD-B522-63DB1D2D42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134627-B56B-1000-A403-4C902F764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83632E-FAE9-D1F9-8826-038BFDEC0102}"/>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6" name="Footer Placeholder 5">
            <a:extLst>
              <a:ext uri="{FF2B5EF4-FFF2-40B4-BE49-F238E27FC236}">
                <a16:creationId xmlns:a16="http://schemas.microsoft.com/office/drawing/2014/main" id="{226F6A75-CE11-0F2C-8EF1-0E5977BCF8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DB1D29-D6DB-9404-CC43-471816149410}"/>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3875648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CA73-32E7-9ABE-69A8-89F1DC143C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220DBC-CB36-7DDD-E4EC-2BD6FF2C11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31E12-D0A6-718D-5F57-227788A337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DC05FC-C263-C8F9-D3D4-2A6176986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BC2811-E403-4807-6010-E1885199EC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0A107C-4ACC-92A5-2882-7AEF8D229A9B}"/>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8" name="Footer Placeholder 7">
            <a:extLst>
              <a:ext uri="{FF2B5EF4-FFF2-40B4-BE49-F238E27FC236}">
                <a16:creationId xmlns:a16="http://schemas.microsoft.com/office/drawing/2014/main" id="{67C0A230-AC97-E34E-4CC6-6002A1DE68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E06A8E-EE4E-3F80-F8F7-D72A429AF3AB}"/>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23921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B344-D047-C3FD-1E90-1AB535C6D1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7E0BEE-57AF-A237-1804-0C3A5A2B6A86}"/>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4" name="Footer Placeholder 3">
            <a:extLst>
              <a:ext uri="{FF2B5EF4-FFF2-40B4-BE49-F238E27FC236}">
                <a16:creationId xmlns:a16="http://schemas.microsoft.com/office/drawing/2014/main" id="{BC469A43-7CCA-E634-D1AE-F0473238BE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D5EB64-49E7-44EC-28E6-0EC59C96FB54}"/>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1880424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BE41C3-5F1C-45B7-F868-3533EC1E20BA}"/>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3" name="Footer Placeholder 2">
            <a:extLst>
              <a:ext uri="{FF2B5EF4-FFF2-40B4-BE49-F238E27FC236}">
                <a16:creationId xmlns:a16="http://schemas.microsoft.com/office/drawing/2014/main" id="{CCEF84A4-B83E-54D6-17F0-2C87162DCA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488168-D71E-6B5D-0963-D50574826CB5}"/>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239567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C88F1-AB00-2BF2-E2B0-690F56FCB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18CAB4-2236-CCE3-A51A-A513A62220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8AF768-7F50-5DC7-82FE-D0AAB41D7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C80DF3-924A-9AA1-449B-2491873B2DFA}"/>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6" name="Footer Placeholder 5">
            <a:extLst>
              <a:ext uri="{FF2B5EF4-FFF2-40B4-BE49-F238E27FC236}">
                <a16:creationId xmlns:a16="http://schemas.microsoft.com/office/drawing/2014/main" id="{445A0D06-2BE7-16FF-9E2D-E97289FFFB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4C8F14-4535-B259-0CA4-926D8836219C}"/>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418064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82162-B13C-D78D-ACD2-173E5DEA2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CC888-4B4F-4ED0-6CAE-06757C54B3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522F24-30BC-360E-7BFD-A293B343E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BE3CE6-DDE4-DFCB-B253-B80FD0FAEE2C}"/>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6" name="Footer Placeholder 5">
            <a:extLst>
              <a:ext uri="{FF2B5EF4-FFF2-40B4-BE49-F238E27FC236}">
                <a16:creationId xmlns:a16="http://schemas.microsoft.com/office/drawing/2014/main" id="{DE0E63B1-8D42-E564-CB4B-303F689CEE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897559-1C11-8032-8016-CF05363EA0F2}"/>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103564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561EF-477C-B946-E634-929D6AA3D5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D5C6A7-AC96-7896-15D9-9E135B6635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DBF3FE-F579-F435-A956-F09402634C9F}"/>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13CCFB80-33DD-89AA-D193-5BFC03DD55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D3D58F-2E57-A9DD-8057-A29211902048}"/>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1917538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4398E8-4E17-0E03-1447-082FB2D259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52790B-977F-EAC6-02A3-5758AA2A45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3499D-C26D-E2A1-5FED-483F5DA57AF7}"/>
              </a:ext>
            </a:extLst>
          </p:cNvPr>
          <p:cNvSpPr>
            <a:spLocks noGrp="1"/>
          </p:cNvSpPr>
          <p:nvPr>
            <p:ph type="dt" sz="half" idx="10"/>
          </p:nvPr>
        </p:nvSpPr>
        <p:spPr/>
        <p:txBody>
          <a:body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36AF0828-C289-EEAE-2BE9-B9F0523C6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BB1AAB-80C5-5BC8-81C9-018EB306548D}"/>
              </a:ext>
            </a:extLst>
          </p:cNvPr>
          <p:cNvSpPr>
            <a:spLocks noGrp="1"/>
          </p:cNvSpPr>
          <p:nvPr>
            <p:ph type="sldNum" sz="quarter" idx="12"/>
          </p:nvPr>
        </p:nvSpPr>
        <p:spPr/>
        <p:txBody>
          <a:bodyPr/>
          <a:lstStyle/>
          <a:p>
            <a:fld id="{5155C8E7-3224-4988-9A6F-9FE92C20EB18}" type="slidenum">
              <a:rPr lang="en-IN" smtClean="0"/>
              <a:t>‹#›</a:t>
            </a:fld>
            <a:endParaRPr lang="en-IN"/>
          </a:p>
        </p:txBody>
      </p:sp>
    </p:spTree>
    <p:extLst>
      <p:ext uri="{BB962C8B-B14F-4D97-AF65-F5344CB8AC3E}">
        <p14:creationId xmlns:p14="http://schemas.microsoft.com/office/powerpoint/2010/main" val="2414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B96C34-52FA-5B9E-02B9-DA7E5DDA40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CFD0E3-7E65-478D-4DE0-C1994BA16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AC9D8-FBA7-AA1D-A928-06EA730A8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91D66C-5DF1-4E5C-A88C-0979FCD0AA9E}" type="datetimeFigureOut">
              <a:rPr lang="en-IN" smtClean="0"/>
              <a:t>22-05-2025</a:t>
            </a:fld>
            <a:endParaRPr lang="en-IN"/>
          </a:p>
        </p:txBody>
      </p:sp>
      <p:sp>
        <p:nvSpPr>
          <p:cNvPr id="5" name="Footer Placeholder 4">
            <a:extLst>
              <a:ext uri="{FF2B5EF4-FFF2-40B4-BE49-F238E27FC236}">
                <a16:creationId xmlns:a16="http://schemas.microsoft.com/office/drawing/2014/main" id="{DAAEA2CA-C143-D26D-C77E-9E3F654DA8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C12AE8F-25AE-628C-648D-74F8F6B004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55C8E7-3224-4988-9A6F-9FE92C20EB18}" type="slidenum">
              <a:rPr lang="en-IN" smtClean="0"/>
              <a:t>‹#›</a:t>
            </a:fld>
            <a:endParaRPr lang="en-IN"/>
          </a:p>
        </p:txBody>
      </p:sp>
    </p:spTree>
    <p:extLst>
      <p:ext uri="{BB962C8B-B14F-4D97-AF65-F5344CB8AC3E}">
        <p14:creationId xmlns:p14="http://schemas.microsoft.com/office/powerpoint/2010/main" val="3947469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0C46C06-C9CE-4692-4FAA-7AEAEBD661E4}"/>
              </a:ext>
            </a:extLst>
          </p:cNvPr>
          <p:cNvGrpSpPr/>
          <p:nvPr/>
        </p:nvGrpSpPr>
        <p:grpSpPr>
          <a:xfrm>
            <a:off x="3243942" y="3069616"/>
            <a:ext cx="5704116" cy="718768"/>
            <a:chOff x="3243942" y="3109476"/>
            <a:chExt cx="5704116" cy="718768"/>
          </a:xfrm>
        </p:grpSpPr>
        <p:sp>
          <p:nvSpPr>
            <p:cNvPr id="4" name="Rectangle 3">
              <a:extLst>
                <a:ext uri="{FF2B5EF4-FFF2-40B4-BE49-F238E27FC236}">
                  <a16:creationId xmlns:a16="http://schemas.microsoft.com/office/drawing/2014/main" id="{04B5D0C0-45A3-4CB4-7217-8F7B61C55B5A}"/>
                </a:ext>
              </a:extLst>
            </p:cNvPr>
            <p:cNvSpPr/>
            <p:nvPr/>
          </p:nvSpPr>
          <p:spPr>
            <a:xfrm>
              <a:off x="3243942" y="3109476"/>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Grow Your Business Website</a:t>
              </a:r>
            </a:p>
          </p:txBody>
        </p:sp>
        <p:sp>
          <p:nvSpPr>
            <p:cNvPr id="5" name="Rectangle 4">
              <a:extLst>
                <a:ext uri="{FF2B5EF4-FFF2-40B4-BE49-F238E27FC236}">
                  <a16:creationId xmlns:a16="http://schemas.microsoft.com/office/drawing/2014/main" id="{9456DE68-504B-6DAF-106B-F53FC8136D5C}"/>
                </a:ext>
              </a:extLst>
            </p:cNvPr>
            <p:cNvSpPr/>
            <p:nvPr/>
          </p:nvSpPr>
          <p:spPr>
            <a:xfrm>
              <a:off x="3243943" y="3508720"/>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Current Functionalities &amp; Proposed Edits</a:t>
              </a:r>
            </a:p>
          </p:txBody>
        </p:sp>
      </p:grpSp>
      <p:pic>
        <p:nvPicPr>
          <p:cNvPr id="8" name="Picture 7" descr="A red and black logo&#10;&#10;Description automatically generated">
            <a:extLst>
              <a:ext uri="{FF2B5EF4-FFF2-40B4-BE49-F238E27FC236}">
                <a16:creationId xmlns:a16="http://schemas.microsoft.com/office/drawing/2014/main" id="{1FE3B64B-283E-E759-BDF8-1FF0E057A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9827" y="2058798"/>
            <a:ext cx="1872343" cy="724465"/>
          </a:xfrm>
          <a:prstGeom prst="rect">
            <a:avLst/>
          </a:prstGeom>
        </p:spPr>
      </p:pic>
    </p:spTree>
    <p:extLst>
      <p:ext uri="{BB962C8B-B14F-4D97-AF65-F5344CB8AC3E}">
        <p14:creationId xmlns:p14="http://schemas.microsoft.com/office/powerpoint/2010/main" val="2388553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603F0E-32BE-AB7D-4AA7-9D1073982F79}"/>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Adding Participants to a Workshop</a:t>
            </a:r>
          </a:p>
        </p:txBody>
      </p:sp>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
        <p:nvSpPr>
          <p:cNvPr id="20" name="Rectangle 19">
            <a:extLst>
              <a:ext uri="{FF2B5EF4-FFF2-40B4-BE49-F238E27FC236}">
                <a16:creationId xmlns:a16="http://schemas.microsoft.com/office/drawing/2014/main" id="{2F6B1071-D8CB-422F-DA0F-E3AD9EDB145D}"/>
              </a:ext>
            </a:extLst>
          </p:cNvPr>
          <p:cNvSpPr/>
          <p:nvPr/>
        </p:nvSpPr>
        <p:spPr>
          <a:xfrm>
            <a:off x="666749" y="551940"/>
            <a:ext cx="4447117"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Participant Details in Workshop as opposed to Organization</a:t>
            </a:r>
          </a:p>
        </p:txBody>
      </p:sp>
      <p:sp>
        <p:nvSpPr>
          <p:cNvPr id="25" name="Rectangle: Rounded Corners 24">
            <a:extLst>
              <a:ext uri="{FF2B5EF4-FFF2-40B4-BE49-F238E27FC236}">
                <a16:creationId xmlns:a16="http://schemas.microsoft.com/office/drawing/2014/main" id="{B14CAF2A-A075-3C5D-8EEE-6BD02F2A9056}"/>
              </a:ext>
            </a:extLst>
          </p:cNvPr>
          <p:cNvSpPr/>
          <p:nvPr/>
        </p:nvSpPr>
        <p:spPr>
          <a:xfrm>
            <a:off x="391885" y="4581625"/>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26" name="Rectangle 25">
            <a:extLst>
              <a:ext uri="{FF2B5EF4-FFF2-40B4-BE49-F238E27FC236}">
                <a16:creationId xmlns:a16="http://schemas.microsoft.com/office/drawing/2014/main" id="{64B442C5-E309-799B-6F70-B03045ED7834}"/>
              </a:ext>
            </a:extLst>
          </p:cNvPr>
          <p:cNvSpPr/>
          <p:nvPr/>
        </p:nvSpPr>
        <p:spPr>
          <a:xfrm>
            <a:off x="391885" y="5071533"/>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At present, participants’ details form a part of the organization.</a:t>
            </a:r>
          </a:p>
        </p:txBody>
      </p:sp>
      <p:sp>
        <p:nvSpPr>
          <p:cNvPr id="27" name="Rectangle: Rounded Corners 26">
            <a:extLst>
              <a:ext uri="{FF2B5EF4-FFF2-40B4-BE49-F238E27FC236}">
                <a16:creationId xmlns:a16="http://schemas.microsoft.com/office/drawing/2014/main" id="{0A51ACE1-0721-8727-61DF-69CF8B3B8C64}"/>
              </a:ext>
            </a:extLst>
          </p:cNvPr>
          <p:cNvSpPr/>
          <p:nvPr/>
        </p:nvSpPr>
        <p:spPr>
          <a:xfrm>
            <a:off x="391885" y="5737706"/>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28" name="Rectangle 27">
            <a:extLst>
              <a:ext uri="{FF2B5EF4-FFF2-40B4-BE49-F238E27FC236}">
                <a16:creationId xmlns:a16="http://schemas.microsoft.com/office/drawing/2014/main" id="{6AD6EFA2-A778-6B45-F649-17F306F49916}"/>
              </a:ext>
            </a:extLst>
          </p:cNvPr>
          <p:cNvSpPr/>
          <p:nvPr/>
        </p:nvSpPr>
        <p:spPr>
          <a:xfrm>
            <a:off x="391885" y="6253014"/>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Going forward we wish to have participants’ details shifted from Organization to Workshop. This is to solve for our proposal of having multiple workshops from the same organization. Consequently, responsibility centres could be different for each workshops. </a:t>
            </a:r>
          </a:p>
        </p:txBody>
      </p:sp>
      <p:pic>
        <p:nvPicPr>
          <p:cNvPr id="3" name="Picture 2">
            <a:extLst>
              <a:ext uri="{FF2B5EF4-FFF2-40B4-BE49-F238E27FC236}">
                <a16:creationId xmlns:a16="http://schemas.microsoft.com/office/drawing/2014/main" id="{15D4B381-DE74-F2A1-30F5-0C81AB1012A5}"/>
              </a:ext>
            </a:extLst>
          </p:cNvPr>
          <p:cNvPicPr>
            <a:picLocks noChangeAspect="1"/>
          </p:cNvPicPr>
          <p:nvPr/>
        </p:nvPicPr>
        <p:blipFill>
          <a:blip r:embed="rId2"/>
          <a:stretch>
            <a:fillRect/>
          </a:stretch>
        </p:blipFill>
        <p:spPr>
          <a:xfrm>
            <a:off x="481239" y="1074268"/>
            <a:ext cx="8327300" cy="3278875"/>
          </a:xfrm>
          <a:prstGeom prst="rect">
            <a:avLst/>
          </a:prstGeom>
        </p:spPr>
      </p:pic>
    </p:spTree>
    <p:extLst>
      <p:ext uri="{BB962C8B-B14F-4D97-AF65-F5344CB8AC3E}">
        <p14:creationId xmlns:p14="http://schemas.microsoft.com/office/powerpoint/2010/main" val="326207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603F0E-32BE-AB7D-4AA7-9D1073982F79}"/>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Workshop Creation</a:t>
            </a:r>
          </a:p>
        </p:txBody>
      </p:sp>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
        <p:nvSpPr>
          <p:cNvPr id="20" name="Rectangle 19">
            <a:extLst>
              <a:ext uri="{FF2B5EF4-FFF2-40B4-BE49-F238E27FC236}">
                <a16:creationId xmlns:a16="http://schemas.microsoft.com/office/drawing/2014/main" id="{2F6B1071-D8CB-422F-DA0F-E3AD9EDB145D}"/>
              </a:ext>
            </a:extLst>
          </p:cNvPr>
          <p:cNvSpPr/>
          <p:nvPr/>
        </p:nvSpPr>
        <p:spPr>
          <a:xfrm>
            <a:off x="666750" y="551940"/>
            <a:ext cx="2971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Prior to Workshop Commencement Date</a:t>
            </a:r>
          </a:p>
        </p:txBody>
      </p:sp>
      <p:sp>
        <p:nvSpPr>
          <p:cNvPr id="25" name="Rectangle: Rounded Corners 24">
            <a:extLst>
              <a:ext uri="{FF2B5EF4-FFF2-40B4-BE49-F238E27FC236}">
                <a16:creationId xmlns:a16="http://schemas.microsoft.com/office/drawing/2014/main" id="{B14CAF2A-A075-3C5D-8EEE-6BD02F2A9056}"/>
              </a:ext>
            </a:extLst>
          </p:cNvPr>
          <p:cNvSpPr/>
          <p:nvPr/>
        </p:nvSpPr>
        <p:spPr>
          <a:xfrm>
            <a:off x="391885" y="4581625"/>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26" name="Rectangle 25">
            <a:extLst>
              <a:ext uri="{FF2B5EF4-FFF2-40B4-BE49-F238E27FC236}">
                <a16:creationId xmlns:a16="http://schemas.microsoft.com/office/drawing/2014/main" id="{64B442C5-E309-799B-6F70-B03045ED7834}"/>
              </a:ext>
            </a:extLst>
          </p:cNvPr>
          <p:cNvSpPr/>
          <p:nvPr/>
        </p:nvSpPr>
        <p:spPr>
          <a:xfrm>
            <a:off x="391885" y="5071533"/>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can edit all of the available options. </a:t>
            </a:r>
          </a:p>
        </p:txBody>
      </p:sp>
      <p:sp>
        <p:nvSpPr>
          <p:cNvPr id="27" name="Rectangle: Rounded Corners 26">
            <a:extLst>
              <a:ext uri="{FF2B5EF4-FFF2-40B4-BE49-F238E27FC236}">
                <a16:creationId xmlns:a16="http://schemas.microsoft.com/office/drawing/2014/main" id="{0A51ACE1-0721-8727-61DF-69CF8B3B8C64}"/>
              </a:ext>
            </a:extLst>
          </p:cNvPr>
          <p:cNvSpPr/>
          <p:nvPr/>
        </p:nvSpPr>
        <p:spPr>
          <a:xfrm>
            <a:off x="391885" y="5737706"/>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28" name="Rectangle 27">
            <a:extLst>
              <a:ext uri="{FF2B5EF4-FFF2-40B4-BE49-F238E27FC236}">
                <a16:creationId xmlns:a16="http://schemas.microsoft.com/office/drawing/2014/main" id="{6AD6EFA2-A778-6B45-F649-17F306F49916}"/>
              </a:ext>
            </a:extLst>
          </p:cNvPr>
          <p:cNvSpPr/>
          <p:nvPr/>
        </p:nvSpPr>
        <p:spPr>
          <a:xfrm>
            <a:off x="391885" y="6253014"/>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Existing functionality should be retained. </a:t>
            </a:r>
          </a:p>
        </p:txBody>
      </p:sp>
      <p:pic>
        <p:nvPicPr>
          <p:cNvPr id="2" name="Picture 1">
            <a:extLst>
              <a:ext uri="{FF2B5EF4-FFF2-40B4-BE49-F238E27FC236}">
                <a16:creationId xmlns:a16="http://schemas.microsoft.com/office/drawing/2014/main" id="{B4FDEEF8-BC64-4E8C-7964-7F1705963DC7}"/>
              </a:ext>
            </a:extLst>
          </p:cNvPr>
          <p:cNvPicPr>
            <a:picLocks noChangeAspect="1"/>
          </p:cNvPicPr>
          <p:nvPr/>
        </p:nvPicPr>
        <p:blipFill>
          <a:blip r:embed="rId2"/>
          <a:stretch>
            <a:fillRect/>
          </a:stretch>
        </p:blipFill>
        <p:spPr>
          <a:xfrm>
            <a:off x="346777" y="894621"/>
            <a:ext cx="6323009" cy="3556691"/>
          </a:xfrm>
          <a:prstGeom prst="rect">
            <a:avLst/>
          </a:prstGeom>
        </p:spPr>
      </p:pic>
    </p:spTree>
    <p:extLst>
      <p:ext uri="{BB962C8B-B14F-4D97-AF65-F5344CB8AC3E}">
        <p14:creationId xmlns:p14="http://schemas.microsoft.com/office/powerpoint/2010/main" val="88230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2</a:t>
            </a:r>
          </a:p>
        </p:txBody>
      </p:sp>
      <p:sp>
        <p:nvSpPr>
          <p:cNvPr id="20" name="Rectangle 19">
            <a:extLst>
              <a:ext uri="{FF2B5EF4-FFF2-40B4-BE49-F238E27FC236}">
                <a16:creationId xmlns:a16="http://schemas.microsoft.com/office/drawing/2014/main" id="{2F6B1071-D8CB-422F-DA0F-E3AD9EDB145D}"/>
              </a:ext>
            </a:extLst>
          </p:cNvPr>
          <p:cNvSpPr/>
          <p:nvPr/>
        </p:nvSpPr>
        <p:spPr>
          <a:xfrm>
            <a:off x="666750" y="551940"/>
            <a:ext cx="2971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Overlapping Dates of &gt;1 Workshop</a:t>
            </a:r>
          </a:p>
        </p:txBody>
      </p:sp>
      <p:sp>
        <p:nvSpPr>
          <p:cNvPr id="25" name="Rectangle: Rounded Corners 24">
            <a:extLst>
              <a:ext uri="{FF2B5EF4-FFF2-40B4-BE49-F238E27FC236}">
                <a16:creationId xmlns:a16="http://schemas.microsoft.com/office/drawing/2014/main" id="{B14CAF2A-A075-3C5D-8EEE-6BD02F2A9056}"/>
              </a:ext>
            </a:extLst>
          </p:cNvPr>
          <p:cNvSpPr/>
          <p:nvPr/>
        </p:nvSpPr>
        <p:spPr>
          <a:xfrm>
            <a:off x="391885" y="4581625"/>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26" name="Rectangle 25">
            <a:extLst>
              <a:ext uri="{FF2B5EF4-FFF2-40B4-BE49-F238E27FC236}">
                <a16:creationId xmlns:a16="http://schemas.microsoft.com/office/drawing/2014/main" id="{64B442C5-E309-799B-6F70-B03045ED7834}"/>
              </a:ext>
            </a:extLst>
          </p:cNvPr>
          <p:cNvSpPr/>
          <p:nvPr/>
        </p:nvSpPr>
        <p:spPr>
          <a:xfrm>
            <a:off x="391885" y="5071533"/>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More than one workshop cannot run simultaneously if their timeframes overlap each other. </a:t>
            </a:r>
          </a:p>
        </p:txBody>
      </p:sp>
      <p:sp>
        <p:nvSpPr>
          <p:cNvPr id="27" name="Rectangle: Rounded Corners 26">
            <a:extLst>
              <a:ext uri="{FF2B5EF4-FFF2-40B4-BE49-F238E27FC236}">
                <a16:creationId xmlns:a16="http://schemas.microsoft.com/office/drawing/2014/main" id="{0A51ACE1-0721-8727-61DF-69CF8B3B8C64}"/>
              </a:ext>
            </a:extLst>
          </p:cNvPr>
          <p:cNvSpPr/>
          <p:nvPr/>
        </p:nvSpPr>
        <p:spPr>
          <a:xfrm>
            <a:off x="391885" y="5737706"/>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28" name="Rectangle 27">
            <a:extLst>
              <a:ext uri="{FF2B5EF4-FFF2-40B4-BE49-F238E27FC236}">
                <a16:creationId xmlns:a16="http://schemas.microsoft.com/office/drawing/2014/main" id="{6AD6EFA2-A778-6B45-F649-17F306F49916}"/>
              </a:ext>
            </a:extLst>
          </p:cNvPr>
          <p:cNvSpPr/>
          <p:nvPr/>
        </p:nvSpPr>
        <p:spPr>
          <a:xfrm>
            <a:off x="391885" y="6253014"/>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Considering the fact that the team could be working on two workshops simultaneously, creation of multiple workshops parallelly should be an option. In addition, we also desire a functionality wherein workshops of two different organizations can run parallelly. </a:t>
            </a:r>
          </a:p>
        </p:txBody>
      </p:sp>
      <p:pic>
        <p:nvPicPr>
          <p:cNvPr id="2" name="Picture 1">
            <a:extLst>
              <a:ext uri="{FF2B5EF4-FFF2-40B4-BE49-F238E27FC236}">
                <a16:creationId xmlns:a16="http://schemas.microsoft.com/office/drawing/2014/main" id="{47760B55-96F0-882A-85BA-FCE69E427FFC}"/>
              </a:ext>
            </a:extLst>
          </p:cNvPr>
          <p:cNvPicPr>
            <a:picLocks noChangeAspect="1"/>
          </p:cNvPicPr>
          <p:nvPr/>
        </p:nvPicPr>
        <p:blipFill>
          <a:blip r:embed="rId2"/>
          <a:stretch>
            <a:fillRect/>
          </a:stretch>
        </p:blipFill>
        <p:spPr>
          <a:xfrm>
            <a:off x="346778" y="894621"/>
            <a:ext cx="6313904" cy="3551569"/>
          </a:xfrm>
          <a:prstGeom prst="rect">
            <a:avLst/>
          </a:prstGeom>
        </p:spPr>
      </p:pic>
      <p:sp>
        <p:nvSpPr>
          <p:cNvPr id="3" name="Rectangle 2">
            <a:extLst>
              <a:ext uri="{FF2B5EF4-FFF2-40B4-BE49-F238E27FC236}">
                <a16:creationId xmlns:a16="http://schemas.microsoft.com/office/drawing/2014/main" id="{6721165B-8039-5EC6-D7E6-01A53711570A}"/>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Workshop Creation</a:t>
            </a:r>
          </a:p>
        </p:txBody>
      </p:sp>
    </p:spTree>
    <p:extLst>
      <p:ext uri="{BB962C8B-B14F-4D97-AF65-F5344CB8AC3E}">
        <p14:creationId xmlns:p14="http://schemas.microsoft.com/office/powerpoint/2010/main" val="365773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DEE9DB2-0420-2613-76BA-C1FFA20E163C}"/>
              </a:ext>
            </a:extLst>
          </p:cNvPr>
          <p:cNvPicPr>
            <a:picLocks noChangeAspect="1"/>
          </p:cNvPicPr>
          <p:nvPr/>
        </p:nvPicPr>
        <p:blipFill>
          <a:blip r:embed="rId2"/>
          <a:stretch>
            <a:fillRect/>
          </a:stretch>
        </p:blipFill>
        <p:spPr>
          <a:xfrm>
            <a:off x="370113" y="865368"/>
            <a:ext cx="6375009" cy="3585941"/>
          </a:xfrm>
          <a:prstGeom prst="rect">
            <a:avLst/>
          </a:prstGeom>
        </p:spPr>
      </p:pic>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3</a:t>
            </a:r>
          </a:p>
        </p:txBody>
      </p:sp>
      <p:sp>
        <p:nvSpPr>
          <p:cNvPr id="20" name="Rectangle 19">
            <a:extLst>
              <a:ext uri="{FF2B5EF4-FFF2-40B4-BE49-F238E27FC236}">
                <a16:creationId xmlns:a16="http://schemas.microsoft.com/office/drawing/2014/main" id="{2F6B1071-D8CB-422F-DA0F-E3AD9EDB145D}"/>
              </a:ext>
            </a:extLst>
          </p:cNvPr>
          <p:cNvSpPr/>
          <p:nvPr/>
        </p:nvSpPr>
        <p:spPr>
          <a:xfrm>
            <a:off x="666750" y="551940"/>
            <a:ext cx="2971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Post Workshop Commencement Date </a:t>
            </a:r>
          </a:p>
        </p:txBody>
      </p:sp>
      <p:sp>
        <p:nvSpPr>
          <p:cNvPr id="25" name="Rectangle: Rounded Corners 24">
            <a:extLst>
              <a:ext uri="{FF2B5EF4-FFF2-40B4-BE49-F238E27FC236}">
                <a16:creationId xmlns:a16="http://schemas.microsoft.com/office/drawing/2014/main" id="{B14CAF2A-A075-3C5D-8EEE-6BD02F2A9056}"/>
              </a:ext>
            </a:extLst>
          </p:cNvPr>
          <p:cNvSpPr/>
          <p:nvPr/>
        </p:nvSpPr>
        <p:spPr>
          <a:xfrm>
            <a:off x="391885" y="4581625"/>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26" name="Rectangle 25">
            <a:extLst>
              <a:ext uri="{FF2B5EF4-FFF2-40B4-BE49-F238E27FC236}">
                <a16:creationId xmlns:a16="http://schemas.microsoft.com/office/drawing/2014/main" id="{64B442C5-E309-799B-6F70-B03045ED7834}"/>
              </a:ext>
            </a:extLst>
          </p:cNvPr>
          <p:cNvSpPr/>
          <p:nvPr/>
        </p:nvSpPr>
        <p:spPr>
          <a:xfrm>
            <a:off x="391885" y="5071533"/>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cannot edit any detail other than workshop conclusion date. </a:t>
            </a:r>
          </a:p>
        </p:txBody>
      </p:sp>
      <p:sp>
        <p:nvSpPr>
          <p:cNvPr id="27" name="Rectangle: Rounded Corners 26">
            <a:extLst>
              <a:ext uri="{FF2B5EF4-FFF2-40B4-BE49-F238E27FC236}">
                <a16:creationId xmlns:a16="http://schemas.microsoft.com/office/drawing/2014/main" id="{0A51ACE1-0721-8727-61DF-69CF8B3B8C64}"/>
              </a:ext>
            </a:extLst>
          </p:cNvPr>
          <p:cNvSpPr/>
          <p:nvPr/>
        </p:nvSpPr>
        <p:spPr>
          <a:xfrm>
            <a:off x="391885" y="5737706"/>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28" name="Rectangle 27">
            <a:extLst>
              <a:ext uri="{FF2B5EF4-FFF2-40B4-BE49-F238E27FC236}">
                <a16:creationId xmlns:a16="http://schemas.microsoft.com/office/drawing/2014/main" id="{6AD6EFA2-A778-6B45-F649-17F306F49916}"/>
              </a:ext>
            </a:extLst>
          </p:cNvPr>
          <p:cNvSpPr/>
          <p:nvPr/>
        </p:nvSpPr>
        <p:spPr>
          <a:xfrm>
            <a:off x="391885" y="6253014"/>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Editing access should be expanded to all options. </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Workshop Creation</a:t>
            </a:r>
          </a:p>
        </p:txBody>
      </p:sp>
    </p:spTree>
    <p:extLst>
      <p:ext uri="{BB962C8B-B14F-4D97-AF65-F5344CB8AC3E}">
        <p14:creationId xmlns:p14="http://schemas.microsoft.com/office/powerpoint/2010/main" val="3983889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
        <p:nvSpPr>
          <p:cNvPr id="20" name="Rectangle 19">
            <a:extLst>
              <a:ext uri="{FF2B5EF4-FFF2-40B4-BE49-F238E27FC236}">
                <a16:creationId xmlns:a16="http://schemas.microsoft.com/office/drawing/2014/main" id="{2F6B1071-D8CB-422F-DA0F-E3AD9EDB145D}"/>
              </a:ext>
            </a:extLst>
          </p:cNvPr>
          <p:cNvSpPr/>
          <p:nvPr/>
        </p:nvSpPr>
        <p:spPr>
          <a:xfrm>
            <a:off x="666750" y="551940"/>
            <a:ext cx="2971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Addition of Questions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pic>
        <p:nvPicPr>
          <p:cNvPr id="2" name="Picture 1">
            <a:extLst>
              <a:ext uri="{FF2B5EF4-FFF2-40B4-BE49-F238E27FC236}">
                <a16:creationId xmlns:a16="http://schemas.microsoft.com/office/drawing/2014/main" id="{FB5CDE8C-4C22-E760-6B0B-31E711D8074B}"/>
              </a:ext>
            </a:extLst>
          </p:cNvPr>
          <p:cNvPicPr>
            <a:picLocks noChangeAspect="1"/>
          </p:cNvPicPr>
          <p:nvPr/>
        </p:nvPicPr>
        <p:blipFill>
          <a:blip r:embed="rId2"/>
          <a:stretch>
            <a:fillRect/>
          </a:stretch>
        </p:blipFill>
        <p:spPr>
          <a:xfrm>
            <a:off x="391885" y="886442"/>
            <a:ext cx="5103006" cy="2870441"/>
          </a:xfrm>
          <a:prstGeom prst="rect">
            <a:avLst/>
          </a:prstGeom>
        </p:spPr>
      </p:pic>
      <p:pic>
        <p:nvPicPr>
          <p:cNvPr id="4" name="Picture 3">
            <a:extLst>
              <a:ext uri="{FF2B5EF4-FFF2-40B4-BE49-F238E27FC236}">
                <a16:creationId xmlns:a16="http://schemas.microsoft.com/office/drawing/2014/main" id="{622DA01D-D7F0-0F4C-81AF-04D29B8DBFFF}"/>
              </a:ext>
            </a:extLst>
          </p:cNvPr>
          <p:cNvPicPr>
            <a:picLocks noChangeAspect="1"/>
          </p:cNvPicPr>
          <p:nvPr/>
        </p:nvPicPr>
        <p:blipFill>
          <a:blip r:embed="rId3"/>
          <a:stretch>
            <a:fillRect/>
          </a:stretch>
        </p:blipFill>
        <p:spPr>
          <a:xfrm>
            <a:off x="346778" y="3887181"/>
            <a:ext cx="5148113" cy="2895812"/>
          </a:xfrm>
          <a:prstGeom prst="rect">
            <a:avLst/>
          </a:prstGeom>
        </p:spPr>
      </p:pic>
      <p:sp>
        <p:nvSpPr>
          <p:cNvPr id="5" name="Oval 4">
            <a:extLst>
              <a:ext uri="{FF2B5EF4-FFF2-40B4-BE49-F238E27FC236}">
                <a16:creationId xmlns:a16="http://schemas.microsoft.com/office/drawing/2014/main" id="{7D6B0479-BC68-4D32-0EB2-46942EF8FEA6}"/>
              </a:ext>
            </a:extLst>
          </p:cNvPr>
          <p:cNvSpPr/>
          <p:nvPr/>
        </p:nvSpPr>
        <p:spPr>
          <a:xfrm>
            <a:off x="5029122" y="1981250"/>
            <a:ext cx="181796" cy="16916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88037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405494" y="551940"/>
            <a:ext cx="2971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Addition of Questions in a Template</a:t>
            </a:r>
          </a:p>
        </p:txBody>
      </p:sp>
      <p:sp>
        <p:nvSpPr>
          <p:cNvPr id="25" name="Rectangle: Rounded Corners 24">
            <a:extLst>
              <a:ext uri="{FF2B5EF4-FFF2-40B4-BE49-F238E27FC236}">
                <a16:creationId xmlns:a16="http://schemas.microsoft.com/office/drawing/2014/main" id="{B14CAF2A-A075-3C5D-8EEE-6BD02F2A9056}"/>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26" name="Rectangle 25">
            <a:extLst>
              <a:ext uri="{FF2B5EF4-FFF2-40B4-BE49-F238E27FC236}">
                <a16:creationId xmlns:a16="http://schemas.microsoft.com/office/drawing/2014/main" id="{64B442C5-E309-799B-6F70-B03045ED7834}"/>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cannot add additional questions once a template is created. Upon the selection of a question, all of the questions end up getting selected and the dialog box showcasing – “No question found” pops up. </a:t>
            </a:r>
          </a:p>
        </p:txBody>
      </p:sp>
      <p:sp>
        <p:nvSpPr>
          <p:cNvPr id="27" name="Rectangle: Rounded Corners 26">
            <a:extLst>
              <a:ext uri="{FF2B5EF4-FFF2-40B4-BE49-F238E27FC236}">
                <a16:creationId xmlns:a16="http://schemas.microsoft.com/office/drawing/2014/main" id="{0A51ACE1-0721-8727-61DF-69CF8B3B8C64}"/>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28" name="Rectangle 27">
            <a:extLst>
              <a:ext uri="{FF2B5EF4-FFF2-40B4-BE49-F238E27FC236}">
                <a16:creationId xmlns:a16="http://schemas.microsoft.com/office/drawing/2014/main" id="{6AD6EFA2-A778-6B45-F649-17F306F49916}"/>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Herein, selection should allow the user to </a:t>
            </a:r>
            <a:r>
              <a:rPr lang="en-IN" sz="1200" b="1" dirty="0">
                <a:solidFill>
                  <a:schemeClr val="tx1"/>
                </a:solidFill>
                <a:latin typeface="Calibri" panose="020F0502020204030204" pitchFamily="34" charset="0"/>
                <a:cs typeface="Calibri" panose="020F0502020204030204" pitchFamily="34" charset="0"/>
              </a:rPr>
              <a:t>add the selected question</a:t>
            </a:r>
            <a:r>
              <a:rPr lang="en-IN" sz="1200" dirty="0">
                <a:solidFill>
                  <a:schemeClr val="tx1"/>
                </a:solidFill>
                <a:latin typeface="Calibri" panose="020F0502020204030204" pitchFamily="34" charset="0"/>
                <a:cs typeface="Calibri" panose="020F0502020204030204" pitchFamily="34" charset="0"/>
              </a:rPr>
              <a:t>. Further, </a:t>
            </a:r>
            <a:r>
              <a:rPr lang="en-IN" sz="1200" b="1" dirty="0">
                <a:solidFill>
                  <a:schemeClr val="tx1"/>
                </a:solidFill>
                <a:latin typeface="Calibri" panose="020F0502020204030204" pitchFamily="34" charset="0"/>
                <a:cs typeface="Calibri" panose="020F0502020204030204" pitchFamily="34" charset="0"/>
              </a:rPr>
              <a:t>template </a:t>
            </a:r>
            <a:r>
              <a:rPr lang="en-IN" sz="1200" dirty="0">
                <a:solidFill>
                  <a:schemeClr val="tx1"/>
                </a:solidFill>
                <a:latin typeface="Calibri" panose="020F0502020204030204" pitchFamily="34" charset="0"/>
                <a:cs typeface="Calibri" panose="020F0502020204030204" pitchFamily="34" charset="0"/>
              </a:rPr>
              <a:t>once created, should also be </a:t>
            </a:r>
            <a:r>
              <a:rPr lang="en-IN" sz="1200" b="1" dirty="0">
                <a:solidFill>
                  <a:schemeClr val="tx1"/>
                </a:solidFill>
                <a:latin typeface="Calibri" panose="020F0502020204030204" pitchFamily="34" charset="0"/>
                <a:cs typeface="Calibri" panose="020F0502020204030204" pitchFamily="34" charset="0"/>
              </a:rPr>
              <a:t>editable</a:t>
            </a:r>
            <a:r>
              <a:rPr lang="en-IN" sz="1200" dirty="0">
                <a:solidFill>
                  <a:schemeClr val="tx1"/>
                </a:solidFill>
                <a:latin typeface="Calibri" panose="020F0502020204030204" pitchFamily="34" charset="0"/>
                <a:cs typeface="Calibri" panose="020F0502020204030204" pitchFamily="34" charset="0"/>
              </a:rPr>
              <a:t>. </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sp>
        <p:nvSpPr>
          <p:cNvPr id="5" name="Oval 4">
            <a:extLst>
              <a:ext uri="{FF2B5EF4-FFF2-40B4-BE49-F238E27FC236}">
                <a16:creationId xmlns:a16="http://schemas.microsoft.com/office/drawing/2014/main" id="{7D6B0479-BC68-4D32-0EB2-46942EF8FEA6}"/>
              </a:ext>
            </a:extLst>
          </p:cNvPr>
          <p:cNvSpPr/>
          <p:nvPr/>
        </p:nvSpPr>
        <p:spPr>
          <a:xfrm>
            <a:off x="5482088" y="2093019"/>
            <a:ext cx="181796" cy="16916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6DFF51B4-E5E7-912C-0E11-F46BA79BA2B1}"/>
              </a:ext>
            </a:extLst>
          </p:cNvPr>
          <p:cNvPicPr>
            <a:picLocks noChangeAspect="1"/>
          </p:cNvPicPr>
          <p:nvPr/>
        </p:nvPicPr>
        <p:blipFill>
          <a:blip r:embed="rId2"/>
          <a:stretch>
            <a:fillRect/>
          </a:stretch>
        </p:blipFill>
        <p:spPr>
          <a:xfrm>
            <a:off x="391885" y="873110"/>
            <a:ext cx="5780315" cy="3251427"/>
          </a:xfrm>
          <a:prstGeom prst="rect">
            <a:avLst/>
          </a:prstGeom>
        </p:spPr>
      </p:pic>
    </p:spTree>
    <p:extLst>
      <p:ext uri="{BB962C8B-B14F-4D97-AF65-F5344CB8AC3E}">
        <p14:creationId xmlns:p14="http://schemas.microsoft.com/office/powerpoint/2010/main" val="3612866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26D6759-F1F8-A2B1-4814-2DB04A913025}"/>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
        <p:nvSpPr>
          <p:cNvPr id="20" name="Rectangle 19">
            <a:extLst>
              <a:ext uri="{FF2B5EF4-FFF2-40B4-BE49-F238E27FC236}">
                <a16:creationId xmlns:a16="http://schemas.microsoft.com/office/drawing/2014/main" id="{2F6B1071-D8CB-422F-DA0F-E3AD9EDB145D}"/>
              </a:ext>
            </a:extLst>
          </p:cNvPr>
          <p:cNvSpPr/>
          <p:nvPr/>
        </p:nvSpPr>
        <p:spPr>
          <a:xfrm>
            <a:off x="666750" y="551940"/>
            <a:ext cx="3352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Deletion (Deselection) of Questions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pic>
        <p:nvPicPr>
          <p:cNvPr id="7" name="Picture 6">
            <a:extLst>
              <a:ext uri="{FF2B5EF4-FFF2-40B4-BE49-F238E27FC236}">
                <a16:creationId xmlns:a16="http://schemas.microsoft.com/office/drawing/2014/main" id="{39F74820-82C3-686A-749C-F4B817996BD7}"/>
              </a:ext>
            </a:extLst>
          </p:cNvPr>
          <p:cNvPicPr>
            <a:picLocks noChangeAspect="1"/>
          </p:cNvPicPr>
          <p:nvPr/>
        </p:nvPicPr>
        <p:blipFill>
          <a:blip r:embed="rId2"/>
          <a:stretch>
            <a:fillRect/>
          </a:stretch>
        </p:blipFill>
        <p:spPr>
          <a:xfrm>
            <a:off x="391885" y="886442"/>
            <a:ext cx="5017783" cy="2822502"/>
          </a:xfrm>
          <a:prstGeom prst="rect">
            <a:avLst/>
          </a:prstGeom>
        </p:spPr>
      </p:pic>
      <p:sp>
        <p:nvSpPr>
          <p:cNvPr id="8" name="Oval 7">
            <a:extLst>
              <a:ext uri="{FF2B5EF4-FFF2-40B4-BE49-F238E27FC236}">
                <a16:creationId xmlns:a16="http://schemas.microsoft.com/office/drawing/2014/main" id="{2FAC8FB5-AACE-5271-F185-5316C24DA4F9}"/>
              </a:ext>
            </a:extLst>
          </p:cNvPr>
          <p:cNvSpPr/>
          <p:nvPr/>
        </p:nvSpPr>
        <p:spPr>
          <a:xfrm>
            <a:off x="4940222" y="2573511"/>
            <a:ext cx="181796" cy="16916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15D6FD64-1F32-C068-BA84-E64228FE7686}"/>
              </a:ext>
            </a:extLst>
          </p:cNvPr>
          <p:cNvPicPr>
            <a:picLocks noChangeAspect="1"/>
          </p:cNvPicPr>
          <p:nvPr/>
        </p:nvPicPr>
        <p:blipFill>
          <a:blip r:embed="rId3"/>
          <a:stretch>
            <a:fillRect/>
          </a:stretch>
        </p:blipFill>
        <p:spPr>
          <a:xfrm>
            <a:off x="391886" y="3839242"/>
            <a:ext cx="5017782" cy="2822502"/>
          </a:xfrm>
          <a:prstGeom prst="rect">
            <a:avLst/>
          </a:prstGeom>
        </p:spPr>
      </p:pic>
    </p:spTree>
    <p:extLst>
      <p:ext uri="{BB962C8B-B14F-4D97-AF65-F5344CB8AC3E}">
        <p14:creationId xmlns:p14="http://schemas.microsoft.com/office/powerpoint/2010/main" val="4044868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361949" y="551940"/>
            <a:ext cx="3352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Deletion (Deselection) of Questions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pic>
        <p:nvPicPr>
          <p:cNvPr id="2" name="Picture 1">
            <a:extLst>
              <a:ext uri="{FF2B5EF4-FFF2-40B4-BE49-F238E27FC236}">
                <a16:creationId xmlns:a16="http://schemas.microsoft.com/office/drawing/2014/main" id="{E7B6F425-8511-DF84-8816-1B18E3F515CD}"/>
              </a:ext>
            </a:extLst>
          </p:cNvPr>
          <p:cNvPicPr>
            <a:picLocks noChangeAspect="1"/>
          </p:cNvPicPr>
          <p:nvPr/>
        </p:nvPicPr>
        <p:blipFill>
          <a:blip r:embed="rId2"/>
          <a:stretch>
            <a:fillRect/>
          </a:stretch>
        </p:blipFill>
        <p:spPr>
          <a:xfrm>
            <a:off x="391885" y="894427"/>
            <a:ext cx="5780315" cy="3251427"/>
          </a:xfrm>
          <a:prstGeom prst="rect">
            <a:avLst/>
          </a:prstGeom>
        </p:spPr>
      </p:pic>
      <p:sp>
        <p:nvSpPr>
          <p:cNvPr id="3" name="Rectangle: Rounded Corners 2">
            <a:extLst>
              <a:ext uri="{FF2B5EF4-FFF2-40B4-BE49-F238E27FC236}">
                <a16:creationId xmlns:a16="http://schemas.microsoft.com/office/drawing/2014/main" id="{8B337080-1CF6-D76F-4758-3C6BD353C619}"/>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4" name="Rectangle 3">
            <a:extLst>
              <a:ext uri="{FF2B5EF4-FFF2-40B4-BE49-F238E27FC236}">
                <a16:creationId xmlns:a16="http://schemas.microsoft.com/office/drawing/2014/main" id="{603BBE46-E174-8A31-5A8A-9F33DBA8C02B}"/>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cannot delete questions once a template is created. Upon the deselection of a question(s), all of the questions end up getting deselected and the dialog box showcasing – “No question found” pops up. </a:t>
            </a:r>
          </a:p>
        </p:txBody>
      </p:sp>
      <p:sp>
        <p:nvSpPr>
          <p:cNvPr id="5" name="Rectangle: Rounded Corners 4">
            <a:extLst>
              <a:ext uri="{FF2B5EF4-FFF2-40B4-BE49-F238E27FC236}">
                <a16:creationId xmlns:a16="http://schemas.microsoft.com/office/drawing/2014/main" id="{6BA25E78-8B74-BC3B-6535-4CF4FE34A510}"/>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6" name="Rectangle 5">
            <a:extLst>
              <a:ext uri="{FF2B5EF4-FFF2-40B4-BE49-F238E27FC236}">
                <a16:creationId xmlns:a16="http://schemas.microsoft.com/office/drawing/2014/main" id="{F1313829-96D3-204E-6A00-7B4532609FBE}"/>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Herein, deselection should allow the user to delete </a:t>
            </a:r>
            <a:r>
              <a:rPr lang="en-IN" sz="1200" b="1" dirty="0">
                <a:solidFill>
                  <a:schemeClr val="tx1"/>
                </a:solidFill>
                <a:latin typeface="Calibri" panose="020F0502020204030204" pitchFamily="34" charset="0"/>
                <a:cs typeface="Calibri" panose="020F0502020204030204" pitchFamily="34" charset="0"/>
              </a:rPr>
              <a:t>the selected question</a:t>
            </a:r>
            <a:r>
              <a:rPr lang="en-IN" sz="1200" dirty="0">
                <a:solidFill>
                  <a:schemeClr val="tx1"/>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209382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590550" y="551940"/>
            <a:ext cx="3352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Edition of Questions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sp>
        <p:nvSpPr>
          <p:cNvPr id="3" name="Rectangle: Rounded Corners 2">
            <a:extLst>
              <a:ext uri="{FF2B5EF4-FFF2-40B4-BE49-F238E27FC236}">
                <a16:creationId xmlns:a16="http://schemas.microsoft.com/office/drawing/2014/main" id="{8B337080-1CF6-D76F-4758-3C6BD353C619}"/>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4" name="Rectangle 3">
            <a:extLst>
              <a:ext uri="{FF2B5EF4-FFF2-40B4-BE49-F238E27FC236}">
                <a16:creationId xmlns:a16="http://schemas.microsoft.com/office/drawing/2014/main" id="{603BBE46-E174-8A31-5A8A-9F33DBA8C02B}"/>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cannot make any edits to the Questions in a template. This access is available only in the Questions Sheet. </a:t>
            </a:r>
          </a:p>
        </p:txBody>
      </p:sp>
      <p:sp>
        <p:nvSpPr>
          <p:cNvPr id="5" name="Rectangle: Rounded Corners 4">
            <a:extLst>
              <a:ext uri="{FF2B5EF4-FFF2-40B4-BE49-F238E27FC236}">
                <a16:creationId xmlns:a16="http://schemas.microsoft.com/office/drawing/2014/main" id="{6BA25E78-8B74-BC3B-6535-4CF4FE34A510}"/>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6" name="Rectangle 5">
            <a:extLst>
              <a:ext uri="{FF2B5EF4-FFF2-40B4-BE49-F238E27FC236}">
                <a16:creationId xmlns:a16="http://schemas.microsoft.com/office/drawing/2014/main" id="{F1313829-96D3-204E-6A00-7B4532609FBE}"/>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a:t>
            </a:r>
            <a:r>
              <a:rPr lang="en-IN" sz="1200" b="1" dirty="0">
                <a:solidFill>
                  <a:schemeClr val="tx1"/>
                </a:solidFill>
                <a:latin typeface="Calibri" panose="020F0502020204030204" pitchFamily="34" charset="0"/>
                <a:cs typeface="Calibri" panose="020F0502020204030204" pitchFamily="34" charset="0"/>
              </a:rPr>
              <a:t>Editing access </a:t>
            </a:r>
            <a:r>
              <a:rPr lang="en-IN" sz="1200" dirty="0">
                <a:solidFill>
                  <a:schemeClr val="tx1"/>
                </a:solidFill>
                <a:latin typeface="Calibri" panose="020F0502020204030204" pitchFamily="34" charset="0"/>
                <a:cs typeface="Calibri" panose="020F0502020204030204" pitchFamily="34" charset="0"/>
              </a:rPr>
              <a:t>should be made available for Questions </a:t>
            </a:r>
            <a:r>
              <a:rPr lang="en-IN" sz="1200" b="1" dirty="0">
                <a:solidFill>
                  <a:schemeClr val="tx1"/>
                </a:solidFill>
                <a:latin typeface="Calibri" panose="020F0502020204030204" pitchFamily="34" charset="0"/>
                <a:cs typeface="Calibri" panose="020F0502020204030204" pitchFamily="34" charset="0"/>
              </a:rPr>
              <a:t>within a Template</a:t>
            </a:r>
            <a:r>
              <a:rPr lang="en-IN" sz="1200" dirty="0">
                <a:solidFill>
                  <a:schemeClr val="tx1"/>
                </a:solidFill>
                <a:latin typeface="Calibri" panose="020F0502020204030204" pitchFamily="34" charset="0"/>
                <a:cs typeface="Calibri" panose="020F0502020204030204" pitchFamily="34" charset="0"/>
              </a:rPr>
              <a:t>. </a:t>
            </a:r>
          </a:p>
        </p:txBody>
      </p:sp>
      <p:pic>
        <p:nvPicPr>
          <p:cNvPr id="8" name="Picture 7">
            <a:extLst>
              <a:ext uri="{FF2B5EF4-FFF2-40B4-BE49-F238E27FC236}">
                <a16:creationId xmlns:a16="http://schemas.microsoft.com/office/drawing/2014/main" id="{1FD4CA93-C01D-7B86-8B61-DEC3D3BD43AA}"/>
              </a:ext>
            </a:extLst>
          </p:cNvPr>
          <p:cNvPicPr>
            <a:picLocks noChangeAspect="1"/>
          </p:cNvPicPr>
          <p:nvPr/>
        </p:nvPicPr>
        <p:blipFill>
          <a:blip r:embed="rId2"/>
          <a:stretch>
            <a:fillRect/>
          </a:stretch>
        </p:blipFill>
        <p:spPr>
          <a:xfrm>
            <a:off x="391885" y="886441"/>
            <a:ext cx="6785636" cy="3175950"/>
          </a:xfrm>
          <a:prstGeom prst="rect">
            <a:avLst/>
          </a:prstGeom>
        </p:spPr>
      </p:pic>
      <p:sp>
        <p:nvSpPr>
          <p:cNvPr id="9" name="Oval 8">
            <a:extLst>
              <a:ext uri="{FF2B5EF4-FFF2-40B4-BE49-F238E27FC236}">
                <a16:creationId xmlns:a16="http://schemas.microsoft.com/office/drawing/2014/main" id="{B69C7D12-487B-98C1-DE1C-A44C080FC1C3}"/>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884925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634093" y="551940"/>
            <a:ext cx="3352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Adding </a:t>
            </a:r>
            <a:r>
              <a:rPr lang="en-IN" sz="1200" b="1" i="1" dirty="0">
                <a:solidFill>
                  <a:schemeClr val="tx1"/>
                </a:solidFill>
                <a:latin typeface="Calibri" panose="020F0502020204030204" pitchFamily="34" charset="0"/>
                <a:cs typeface="Calibri" panose="020F0502020204030204" pitchFamily="34" charset="0"/>
              </a:rPr>
              <a:t>New </a:t>
            </a:r>
            <a:r>
              <a:rPr lang="en-IN" sz="1200" b="1" dirty="0">
                <a:solidFill>
                  <a:schemeClr val="tx1"/>
                </a:solidFill>
                <a:latin typeface="Calibri" panose="020F0502020204030204" pitchFamily="34" charset="0"/>
                <a:cs typeface="Calibri" panose="020F0502020204030204" pitchFamily="34" charset="0"/>
              </a:rPr>
              <a:t>Questions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sp>
        <p:nvSpPr>
          <p:cNvPr id="8" name="Rectangle: Rounded Corners 7">
            <a:extLst>
              <a:ext uri="{FF2B5EF4-FFF2-40B4-BE49-F238E27FC236}">
                <a16:creationId xmlns:a16="http://schemas.microsoft.com/office/drawing/2014/main" id="{FD63BE9A-3561-1452-E071-4303A7EF2BC5}"/>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9" name="Rectangle 8">
            <a:extLst>
              <a:ext uri="{FF2B5EF4-FFF2-40B4-BE49-F238E27FC236}">
                <a16:creationId xmlns:a16="http://schemas.microsoft.com/office/drawing/2014/main" id="{846743B4-694E-A1D6-51F7-74E888514FFC}"/>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The functionality to add a question is available in the Questions Sheet. However, it is not available within a template. Template only allows for selection from among the existing questions. </a:t>
            </a:r>
          </a:p>
        </p:txBody>
      </p:sp>
      <p:sp>
        <p:nvSpPr>
          <p:cNvPr id="10" name="Rectangle: Rounded Corners 9">
            <a:extLst>
              <a:ext uri="{FF2B5EF4-FFF2-40B4-BE49-F238E27FC236}">
                <a16:creationId xmlns:a16="http://schemas.microsoft.com/office/drawing/2014/main" id="{41A63040-5410-60FD-351D-5F9CF5AF838B}"/>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11" name="Rectangle 10">
            <a:extLst>
              <a:ext uri="{FF2B5EF4-FFF2-40B4-BE49-F238E27FC236}">
                <a16:creationId xmlns:a16="http://schemas.microsoft.com/office/drawing/2014/main" id="{C618F71D-51EF-CA2B-C454-C33089EA5BDF}"/>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The addition of a new question as a functionality should be available under both – the Workshop Templates and the Questions sheet, such that </a:t>
            </a:r>
            <a:r>
              <a:rPr lang="en-IN" sz="1200" b="1" dirty="0">
                <a:solidFill>
                  <a:schemeClr val="tx1"/>
                </a:solidFill>
                <a:latin typeface="Calibri" panose="020F0502020204030204" pitchFamily="34" charset="0"/>
                <a:cs typeface="Calibri" panose="020F0502020204030204" pitchFamily="34" charset="0"/>
              </a:rPr>
              <a:t>any addition in one Workshop Template does not affect any other Templates and any addition in the Questions Sheet reflects in all templates</a:t>
            </a:r>
            <a:r>
              <a:rPr lang="en-IN" sz="1200" dirty="0">
                <a:solidFill>
                  <a:schemeClr val="tx1"/>
                </a:solidFill>
                <a:latin typeface="Calibri" panose="020F0502020204030204" pitchFamily="34" charset="0"/>
                <a:cs typeface="Calibri" panose="020F0502020204030204" pitchFamily="34" charset="0"/>
              </a:rPr>
              <a:t>. </a:t>
            </a:r>
          </a:p>
        </p:txBody>
      </p:sp>
      <p:pic>
        <p:nvPicPr>
          <p:cNvPr id="13" name="Picture 12">
            <a:extLst>
              <a:ext uri="{FF2B5EF4-FFF2-40B4-BE49-F238E27FC236}">
                <a16:creationId xmlns:a16="http://schemas.microsoft.com/office/drawing/2014/main" id="{D5B42FC6-867A-0894-49E2-972D336DE42F}"/>
              </a:ext>
            </a:extLst>
          </p:cNvPr>
          <p:cNvPicPr>
            <a:picLocks noChangeAspect="1"/>
          </p:cNvPicPr>
          <p:nvPr/>
        </p:nvPicPr>
        <p:blipFill>
          <a:blip r:embed="rId2"/>
          <a:stretch>
            <a:fillRect/>
          </a:stretch>
        </p:blipFill>
        <p:spPr>
          <a:xfrm>
            <a:off x="361949" y="894428"/>
            <a:ext cx="5780314" cy="3251426"/>
          </a:xfrm>
          <a:prstGeom prst="rect">
            <a:avLst/>
          </a:prstGeom>
        </p:spPr>
      </p:pic>
      <p:sp>
        <p:nvSpPr>
          <p:cNvPr id="15" name="Oval 14">
            <a:extLst>
              <a:ext uri="{FF2B5EF4-FFF2-40B4-BE49-F238E27FC236}">
                <a16:creationId xmlns:a16="http://schemas.microsoft.com/office/drawing/2014/main" id="{6E8A712E-89BF-B2E6-56F7-99467EE469C7}"/>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1498281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592956" y="551940"/>
            <a:ext cx="3985394"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Adding </a:t>
            </a:r>
            <a:r>
              <a:rPr lang="en-IN" sz="1200" b="1" i="1" dirty="0">
                <a:solidFill>
                  <a:schemeClr val="tx1"/>
                </a:solidFill>
                <a:latin typeface="Calibri" panose="020F0502020204030204" pitchFamily="34" charset="0"/>
                <a:cs typeface="Calibri" panose="020F0502020204030204" pitchFamily="34" charset="0"/>
              </a:rPr>
              <a:t>New </a:t>
            </a:r>
            <a:r>
              <a:rPr lang="en-IN" sz="1200" b="1" dirty="0">
                <a:solidFill>
                  <a:schemeClr val="tx1"/>
                </a:solidFill>
                <a:latin typeface="Calibri" panose="020F0502020204030204" pitchFamily="34" charset="0"/>
                <a:cs typeface="Calibri" panose="020F0502020204030204" pitchFamily="34" charset="0"/>
              </a:rPr>
              <a:t>Question Category(s) in a Template</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sp>
        <p:nvSpPr>
          <p:cNvPr id="8" name="Rectangle: Rounded Corners 7">
            <a:extLst>
              <a:ext uri="{FF2B5EF4-FFF2-40B4-BE49-F238E27FC236}">
                <a16:creationId xmlns:a16="http://schemas.microsoft.com/office/drawing/2014/main" id="{FD63BE9A-3561-1452-E071-4303A7EF2BC5}"/>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pic>
        <p:nvPicPr>
          <p:cNvPr id="3" name="Picture 2">
            <a:extLst>
              <a:ext uri="{FF2B5EF4-FFF2-40B4-BE49-F238E27FC236}">
                <a16:creationId xmlns:a16="http://schemas.microsoft.com/office/drawing/2014/main" id="{B147B897-13D0-6CA4-C179-655CC279ACC4}"/>
              </a:ext>
            </a:extLst>
          </p:cNvPr>
          <p:cNvPicPr>
            <a:picLocks noChangeAspect="1"/>
          </p:cNvPicPr>
          <p:nvPr/>
        </p:nvPicPr>
        <p:blipFill>
          <a:blip r:embed="rId2"/>
          <a:stretch>
            <a:fillRect/>
          </a:stretch>
        </p:blipFill>
        <p:spPr>
          <a:xfrm>
            <a:off x="361947" y="900617"/>
            <a:ext cx="5780316" cy="3251427"/>
          </a:xfrm>
          <a:prstGeom prst="rect">
            <a:avLst/>
          </a:prstGeom>
        </p:spPr>
      </p:pic>
      <p:sp>
        <p:nvSpPr>
          <p:cNvPr id="9" name="Rectangle 8">
            <a:extLst>
              <a:ext uri="{FF2B5EF4-FFF2-40B4-BE49-F238E27FC236}">
                <a16:creationId xmlns:a16="http://schemas.microsoft.com/office/drawing/2014/main" id="{846743B4-694E-A1D6-51F7-74E888514FFC}"/>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The functionality to add a question category is available in the Question Category Sheet. However, it is not available within a template. Template only allows for selection from among the existing categories. </a:t>
            </a:r>
          </a:p>
        </p:txBody>
      </p:sp>
      <p:sp>
        <p:nvSpPr>
          <p:cNvPr id="10" name="Rectangle: Rounded Corners 9">
            <a:extLst>
              <a:ext uri="{FF2B5EF4-FFF2-40B4-BE49-F238E27FC236}">
                <a16:creationId xmlns:a16="http://schemas.microsoft.com/office/drawing/2014/main" id="{41A63040-5410-60FD-351D-5F9CF5AF838B}"/>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11" name="Rectangle 10">
            <a:extLst>
              <a:ext uri="{FF2B5EF4-FFF2-40B4-BE49-F238E27FC236}">
                <a16:creationId xmlns:a16="http://schemas.microsoft.com/office/drawing/2014/main" id="{C618F71D-51EF-CA2B-C454-C33089EA5BDF}"/>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The addition of a new category as functionality should be available under both – the Workshop Templates and the Question Category sheet, such that </a:t>
            </a:r>
            <a:r>
              <a:rPr lang="en-IN" sz="1200" b="1" dirty="0">
                <a:solidFill>
                  <a:schemeClr val="tx1"/>
                </a:solidFill>
                <a:latin typeface="Calibri" panose="020F0502020204030204" pitchFamily="34" charset="0"/>
                <a:cs typeface="Calibri" panose="020F0502020204030204" pitchFamily="34" charset="0"/>
              </a:rPr>
              <a:t>any addition in one Workshop Template does not reflect in any other Templates and any addition in the Question Category Sheet reflects in all templates</a:t>
            </a:r>
            <a:r>
              <a:rPr lang="en-IN" sz="1200" dirty="0">
                <a:solidFill>
                  <a:schemeClr val="tx1"/>
                </a:solidFill>
                <a:latin typeface="Calibri" panose="020F0502020204030204" pitchFamily="34" charset="0"/>
                <a:cs typeface="Calibri" panose="020F0502020204030204" pitchFamily="34" charset="0"/>
              </a:rPr>
              <a:t>. </a:t>
            </a:r>
          </a:p>
        </p:txBody>
      </p:sp>
      <p:sp>
        <p:nvSpPr>
          <p:cNvPr id="4" name="Oval 3">
            <a:extLst>
              <a:ext uri="{FF2B5EF4-FFF2-40B4-BE49-F238E27FC236}">
                <a16:creationId xmlns:a16="http://schemas.microsoft.com/office/drawing/2014/main" id="{C419C5BC-ACA8-8AE0-016E-B6F65D2AADB7}"/>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871307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612206" y="551940"/>
            <a:ext cx="4315393"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Edition, Addition and Deletion of Category Tags / Question Tags </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Questionnaire</a:t>
            </a:r>
          </a:p>
        </p:txBody>
      </p:sp>
      <p:pic>
        <p:nvPicPr>
          <p:cNvPr id="3" name="Picture 2">
            <a:extLst>
              <a:ext uri="{FF2B5EF4-FFF2-40B4-BE49-F238E27FC236}">
                <a16:creationId xmlns:a16="http://schemas.microsoft.com/office/drawing/2014/main" id="{44232CEE-7BE1-1D50-B94E-FC3F23B28DE0}"/>
              </a:ext>
            </a:extLst>
          </p:cNvPr>
          <p:cNvPicPr>
            <a:picLocks noChangeAspect="1"/>
          </p:cNvPicPr>
          <p:nvPr/>
        </p:nvPicPr>
        <p:blipFill>
          <a:blip r:embed="rId2"/>
          <a:stretch>
            <a:fillRect/>
          </a:stretch>
        </p:blipFill>
        <p:spPr>
          <a:xfrm>
            <a:off x="361947" y="858245"/>
            <a:ext cx="5780316" cy="3251427"/>
          </a:xfrm>
          <a:prstGeom prst="rect">
            <a:avLst/>
          </a:prstGeom>
        </p:spPr>
      </p:pic>
      <p:sp>
        <p:nvSpPr>
          <p:cNvPr id="8" name="Rectangle: Rounded Corners 7">
            <a:extLst>
              <a:ext uri="{FF2B5EF4-FFF2-40B4-BE49-F238E27FC236}">
                <a16:creationId xmlns:a16="http://schemas.microsoft.com/office/drawing/2014/main" id="{FD63BE9A-3561-1452-E071-4303A7EF2BC5}"/>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9" name="Rectangle 8">
            <a:extLst>
              <a:ext uri="{FF2B5EF4-FFF2-40B4-BE49-F238E27FC236}">
                <a16:creationId xmlns:a16="http://schemas.microsoft.com/office/drawing/2014/main" id="{846743B4-694E-A1D6-51F7-74E888514FFC}"/>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Current functionality does not permit any addition, deletion or edition of Category / Question Tags. </a:t>
            </a:r>
          </a:p>
        </p:txBody>
      </p:sp>
      <p:sp>
        <p:nvSpPr>
          <p:cNvPr id="10" name="Rectangle: Rounded Corners 9">
            <a:extLst>
              <a:ext uri="{FF2B5EF4-FFF2-40B4-BE49-F238E27FC236}">
                <a16:creationId xmlns:a16="http://schemas.microsoft.com/office/drawing/2014/main" id="{41A63040-5410-60FD-351D-5F9CF5AF838B}"/>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11" name="Rectangle 10">
            <a:extLst>
              <a:ext uri="{FF2B5EF4-FFF2-40B4-BE49-F238E27FC236}">
                <a16:creationId xmlns:a16="http://schemas.microsoft.com/office/drawing/2014/main" id="{C618F71D-51EF-CA2B-C454-C33089EA5BDF}"/>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Edit, Delete and Add options should be extended for Category / Question Tags as well. Furthermore, multiple tags should be allowed for the same question. </a:t>
            </a:r>
          </a:p>
        </p:txBody>
      </p:sp>
      <p:sp>
        <p:nvSpPr>
          <p:cNvPr id="4" name="Oval 3">
            <a:extLst>
              <a:ext uri="{FF2B5EF4-FFF2-40B4-BE49-F238E27FC236}">
                <a16:creationId xmlns:a16="http://schemas.microsoft.com/office/drawing/2014/main" id="{940C53E5-4F3C-BFD2-BB11-6B217925AC56}"/>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2782222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568778" y="551940"/>
            <a:ext cx="3584576"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200" b="1" dirty="0">
              <a:solidFill>
                <a:schemeClr val="tx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Proposed Framework</a:t>
            </a:r>
          </a:p>
        </p:txBody>
      </p:sp>
      <p:pic>
        <p:nvPicPr>
          <p:cNvPr id="8" name="Picture 7">
            <a:extLst>
              <a:ext uri="{FF2B5EF4-FFF2-40B4-BE49-F238E27FC236}">
                <a16:creationId xmlns:a16="http://schemas.microsoft.com/office/drawing/2014/main" id="{682CE5F7-1CF6-D11B-3B10-88778829991D}"/>
              </a:ext>
            </a:extLst>
          </p:cNvPr>
          <p:cNvPicPr>
            <a:picLocks noChangeAspect="1"/>
          </p:cNvPicPr>
          <p:nvPr/>
        </p:nvPicPr>
        <p:blipFill>
          <a:blip r:embed="rId2"/>
          <a:stretch>
            <a:fillRect/>
          </a:stretch>
        </p:blipFill>
        <p:spPr>
          <a:xfrm>
            <a:off x="332802" y="1290383"/>
            <a:ext cx="11083636" cy="3537796"/>
          </a:xfrm>
          <a:prstGeom prst="rect">
            <a:avLst/>
          </a:prstGeom>
        </p:spPr>
      </p:pic>
    </p:spTree>
    <p:extLst>
      <p:ext uri="{BB962C8B-B14F-4D97-AF65-F5344CB8AC3E}">
        <p14:creationId xmlns:p14="http://schemas.microsoft.com/office/powerpoint/2010/main" val="210929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568778" y="551940"/>
            <a:ext cx="3584576"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200" b="1" dirty="0">
              <a:solidFill>
                <a:schemeClr val="tx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Proposed Framework</a:t>
            </a:r>
          </a:p>
        </p:txBody>
      </p:sp>
      <p:sp>
        <p:nvSpPr>
          <p:cNvPr id="16" name="Rectangle: Rounded Corners 15">
            <a:extLst>
              <a:ext uri="{FF2B5EF4-FFF2-40B4-BE49-F238E27FC236}">
                <a16:creationId xmlns:a16="http://schemas.microsoft.com/office/drawing/2014/main" id="{4F516AEC-5F20-5BED-BD8A-C59CCD674225}"/>
              </a:ext>
            </a:extLst>
          </p:cNvPr>
          <p:cNvSpPr/>
          <p:nvPr/>
        </p:nvSpPr>
        <p:spPr>
          <a:xfrm>
            <a:off x="319192" y="534257"/>
            <a:ext cx="886582"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Backend</a:t>
            </a:r>
          </a:p>
        </p:txBody>
      </p:sp>
      <p:sp>
        <p:nvSpPr>
          <p:cNvPr id="17" name="Rectangle 16">
            <a:extLst>
              <a:ext uri="{FF2B5EF4-FFF2-40B4-BE49-F238E27FC236}">
                <a16:creationId xmlns:a16="http://schemas.microsoft.com/office/drawing/2014/main" id="{91BB9F57-818E-7DD0-668F-5C2F09E5C8FC}"/>
              </a:ext>
            </a:extLst>
          </p:cNvPr>
          <p:cNvSpPr/>
          <p:nvPr/>
        </p:nvSpPr>
        <p:spPr>
          <a:xfrm>
            <a:off x="319193" y="1069251"/>
            <a:ext cx="11553613" cy="30890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200" dirty="0">
              <a:solidFill>
                <a:schemeClr val="tx1"/>
              </a:solidFill>
              <a:latin typeface="Calibri" panose="020F0502020204030204" pitchFamily="34" charset="0"/>
              <a:cs typeface="Calibri" panose="020F0502020204030204" pitchFamily="34" charset="0"/>
            </a:endParaRPr>
          </a:p>
          <a:p>
            <a:pPr marL="228600" indent="-228600">
              <a:buAutoNum type="arabicPeriod"/>
            </a:pPr>
            <a:r>
              <a:rPr lang="en-IN" sz="1200" dirty="0">
                <a:solidFill>
                  <a:schemeClr val="tx1"/>
                </a:solidFill>
                <a:latin typeface="Calibri" panose="020F0502020204030204" pitchFamily="34" charset="0"/>
                <a:cs typeface="Calibri" panose="020F0502020204030204" pitchFamily="34" charset="0"/>
              </a:rPr>
              <a:t>The </a:t>
            </a:r>
            <a:r>
              <a:rPr lang="en-IN" sz="1200" b="1" dirty="0">
                <a:solidFill>
                  <a:schemeClr val="tx1"/>
                </a:solidFill>
                <a:latin typeface="Calibri" panose="020F0502020204030204" pitchFamily="34" charset="0"/>
                <a:cs typeface="Calibri" panose="020F0502020204030204" pitchFamily="34" charset="0"/>
              </a:rPr>
              <a:t>organization creation option </a:t>
            </a:r>
            <a:r>
              <a:rPr lang="en-IN" sz="1200" dirty="0">
                <a:solidFill>
                  <a:schemeClr val="tx1"/>
                </a:solidFill>
                <a:latin typeface="Calibri" panose="020F0502020204030204" pitchFamily="34" charset="0"/>
                <a:cs typeface="Calibri" panose="020F0502020204030204" pitchFamily="34" charset="0"/>
              </a:rPr>
              <a:t>shall provide KNAV with a functionality </a:t>
            </a:r>
            <a:r>
              <a:rPr lang="en-IN" sz="1200" dirty="0">
                <a:solidFill>
                  <a:schemeClr val="accent6"/>
                </a:solidFill>
                <a:latin typeface="Calibri" panose="020F0502020204030204" pitchFamily="34" charset="0"/>
                <a:cs typeface="Calibri" panose="020F0502020204030204" pitchFamily="34" charset="0"/>
              </a:rPr>
              <a:t>to classify an organization under the “Master Categories” as well as “Category Tags” as presented in the Proposed Framework screenshot. </a:t>
            </a:r>
            <a:r>
              <a:rPr lang="en-IN" sz="1200" dirty="0">
                <a:solidFill>
                  <a:schemeClr val="tx1"/>
                </a:solidFill>
                <a:latin typeface="Calibri" panose="020F0502020204030204" pitchFamily="34" charset="0"/>
                <a:cs typeface="Calibri" panose="020F0502020204030204" pitchFamily="34" charset="0"/>
              </a:rPr>
              <a:t>The option of multiple selections under both categories shall be required.</a:t>
            </a:r>
          </a:p>
          <a:p>
            <a:pPr marL="228600" indent="-228600" algn="just">
              <a:buAutoNum type="arabicPeriod"/>
            </a:pPr>
            <a:r>
              <a:rPr lang="en-IN" sz="1200" dirty="0">
                <a:solidFill>
                  <a:schemeClr val="tx1"/>
                </a:solidFill>
                <a:latin typeface="Calibri" panose="020F0502020204030204" pitchFamily="34" charset="0"/>
                <a:cs typeface="Calibri" panose="020F0502020204030204" pitchFamily="34" charset="0"/>
              </a:rPr>
              <a:t>Post the creation of an organization and its classification under the relevant categories, the next functionality in order shall be creation of</a:t>
            </a:r>
            <a:r>
              <a:rPr lang="en-IN" sz="1200" b="1" dirty="0">
                <a:solidFill>
                  <a:schemeClr val="tx1"/>
                </a:solidFill>
                <a:latin typeface="Calibri" panose="020F0502020204030204" pitchFamily="34" charset="0"/>
                <a:cs typeface="Calibri" panose="020F0502020204030204" pitchFamily="34" charset="0"/>
              </a:rPr>
              <a:t> Pre-OD Workshop</a:t>
            </a:r>
            <a:r>
              <a:rPr lang="en-IN" sz="1200" dirty="0">
                <a:solidFill>
                  <a:schemeClr val="tx1"/>
                </a:solidFill>
                <a:latin typeface="Calibri" panose="020F0502020204030204" pitchFamily="34" charset="0"/>
                <a:cs typeface="Calibri" panose="020F0502020204030204" pitchFamily="34" charset="0"/>
              </a:rPr>
              <a:t>. Pre-OD Workshop shall have options to </a:t>
            </a:r>
            <a:r>
              <a:rPr lang="en-IN" sz="1200" dirty="0">
                <a:solidFill>
                  <a:schemeClr val="accent6"/>
                </a:solidFill>
                <a:latin typeface="Calibri" panose="020F0502020204030204" pitchFamily="34" charset="0"/>
                <a:cs typeface="Calibri" panose="020F0502020204030204" pitchFamily="34" charset="0"/>
              </a:rPr>
              <a:t>add details such as Associated Organization, Pre-OD Commencement Date/Time, Pre-OD Conclusion Date/Time and Pre-OD Participants Details</a:t>
            </a:r>
            <a:r>
              <a:rPr lang="en-IN" sz="1200" dirty="0">
                <a:solidFill>
                  <a:schemeClr val="tx1"/>
                </a:solidFill>
                <a:latin typeface="Calibri" panose="020F0502020204030204" pitchFamily="34" charset="0"/>
                <a:cs typeface="Calibri" panose="020F0502020204030204" pitchFamily="34" charset="0"/>
              </a:rPr>
              <a:t>. </a:t>
            </a:r>
          </a:p>
          <a:p>
            <a:pPr marL="228600" indent="-228600" algn="just">
              <a:buAutoNum type="arabicPeriod"/>
            </a:pPr>
            <a:r>
              <a:rPr lang="en-IN" sz="1200" dirty="0">
                <a:solidFill>
                  <a:schemeClr val="tx1"/>
                </a:solidFill>
                <a:latin typeface="Calibri" panose="020F0502020204030204" pitchFamily="34" charset="0"/>
                <a:cs typeface="Calibri" panose="020F0502020204030204" pitchFamily="34" charset="0"/>
              </a:rPr>
              <a:t>Post the creation of Pre-OD Workshop, the subsequent functionality in line shall be the creation of </a:t>
            </a:r>
            <a:r>
              <a:rPr lang="en-IN" sz="1200" b="1" dirty="0">
                <a:solidFill>
                  <a:schemeClr val="tx1"/>
                </a:solidFill>
                <a:latin typeface="Calibri" panose="020F0502020204030204" pitchFamily="34" charset="0"/>
                <a:cs typeface="Calibri" panose="020F0502020204030204" pitchFamily="34" charset="0"/>
              </a:rPr>
              <a:t>Pre-OD template</a:t>
            </a:r>
            <a:r>
              <a:rPr lang="en-IN" sz="1200" dirty="0">
                <a:solidFill>
                  <a:schemeClr val="tx1"/>
                </a:solidFill>
                <a:latin typeface="Calibri" panose="020F0502020204030204" pitchFamily="34" charset="0"/>
                <a:cs typeface="Calibri" panose="020F0502020204030204" pitchFamily="34" charset="0"/>
              </a:rPr>
              <a:t>, with options to select relevant </a:t>
            </a:r>
            <a:r>
              <a:rPr lang="en-IN" sz="1200" dirty="0">
                <a:solidFill>
                  <a:schemeClr val="accent6"/>
                </a:solidFill>
                <a:latin typeface="Calibri" panose="020F0502020204030204" pitchFamily="34" charset="0"/>
                <a:cs typeface="Calibri" panose="020F0502020204030204" pitchFamily="34" charset="0"/>
              </a:rPr>
              <a:t>Questions</a:t>
            </a:r>
            <a:r>
              <a:rPr lang="en-IN" sz="1200" dirty="0">
                <a:solidFill>
                  <a:schemeClr val="tx1"/>
                </a:solidFill>
                <a:latin typeface="Calibri" panose="020F0502020204030204" pitchFamily="34" charset="0"/>
                <a:cs typeface="Calibri" panose="020F0502020204030204" pitchFamily="34" charset="0"/>
              </a:rPr>
              <a:t>. These questions shall be selected from a Pre-OD Master Sheet. Furthermore, as highlighted in Slides </a:t>
            </a:r>
            <a:r>
              <a:rPr lang="en-IN" sz="1200">
                <a:solidFill>
                  <a:schemeClr val="tx1"/>
                </a:solidFill>
                <a:latin typeface="Calibri" panose="020F0502020204030204" pitchFamily="34" charset="0"/>
                <a:cs typeface="Calibri" panose="020F0502020204030204" pitchFamily="34" charset="0"/>
              </a:rPr>
              <a:t>6-10</a:t>
            </a:r>
            <a:r>
              <a:rPr lang="en-IN" sz="1200" dirty="0">
                <a:solidFill>
                  <a:schemeClr val="tx1"/>
                </a:solidFill>
                <a:latin typeface="Calibri" panose="020F0502020204030204" pitchFamily="34" charset="0"/>
                <a:cs typeface="Calibri" panose="020F0502020204030204" pitchFamily="34" charset="0"/>
              </a:rPr>
              <a:t>, </a:t>
            </a:r>
            <a:r>
              <a:rPr lang="en-IN" sz="1200" dirty="0">
                <a:solidFill>
                  <a:schemeClr val="accent6"/>
                </a:solidFill>
                <a:latin typeface="Calibri" panose="020F0502020204030204" pitchFamily="34" charset="0"/>
                <a:cs typeface="Calibri" panose="020F0502020204030204" pitchFamily="34" charset="0"/>
              </a:rPr>
              <a:t>addition, deletion and edition option should be made available for Questions in the template itself</a:t>
            </a:r>
            <a:r>
              <a:rPr lang="en-IN" sz="1200" dirty="0">
                <a:solidFill>
                  <a:schemeClr val="tx1"/>
                </a:solidFill>
                <a:latin typeface="Calibri" panose="020F0502020204030204" pitchFamily="34" charset="0"/>
                <a:cs typeface="Calibri" panose="020F0502020204030204" pitchFamily="34" charset="0"/>
              </a:rPr>
              <a:t>. </a:t>
            </a:r>
          </a:p>
          <a:p>
            <a:pPr marL="228600" indent="-228600" algn="just">
              <a:buAutoNum type="arabicPeriod"/>
            </a:pPr>
            <a:r>
              <a:rPr lang="en-IN" sz="1200" dirty="0">
                <a:solidFill>
                  <a:schemeClr val="tx1"/>
                </a:solidFill>
                <a:latin typeface="Calibri" panose="020F0502020204030204" pitchFamily="34" charset="0"/>
                <a:cs typeface="Calibri" panose="020F0502020204030204" pitchFamily="34" charset="0"/>
              </a:rPr>
              <a:t>Post the conclusion of Pre-OD Workshop, KNAV should get an option to fill in details for the corresponding OD workshop under the </a:t>
            </a:r>
            <a:r>
              <a:rPr lang="en-IN" sz="1200" b="1" dirty="0">
                <a:solidFill>
                  <a:schemeClr val="tx1"/>
                </a:solidFill>
                <a:latin typeface="Calibri" panose="020F0502020204030204" pitchFamily="34" charset="0"/>
                <a:cs typeface="Calibri" panose="020F0502020204030204" pitchFamily="34" charset="0"/>
              </a:rPr>
              <a:t>same organization and with same participants</a:t>
            </a:r>
            <a:r>
              <a:rPr lang="en-IN" sz="1200" dirty="0">
                <a:solidFill>
                  <a:schemeClr val="tx1"/>
                </a:solidFill>
                <a:latin typeface="Calibri" panose="020F0502020204030204" pitchFamily="34" charset="0"/>
                <a:cs typeface="Calibri" panose="020F0502020204030204" pitchFamily="34" charset="0"/>
              </a:rPr>
              <a:t>. However, the </a:t>
            </a:r>
            <a:r>
              <a:rPr lang="en-IN" sz="1200" b="1" dirty="0">
                <a:solidFill>
                  <a:schemeClr val="tx1"/>
                </a:solidFill>
                <a:latin typeface="Calibri" panose="020F0502020204030204" pitchFamily="34" charset="0"/>
                <a:cs typeface="Calibri" panose="020F0502020204030204" pitchFamily="34" charset="0"/>
              </a:rPr>
              <a:t>Commencement and Conclusion</a:t>
            </a:r>
            <a:r>
              <a:rPr lang="en-IN" sz="1200" dirty="0">
                <a:solidFill>
                  <a:schemeClr val="tx1"/>
                </a:solidFill>
                <a:latin typeface="Calibri" panose="020F0502020204030204" pitchFamily="34" charset="0"/>
                <a:cs typeface="Calibri" panose="020F0502020204030204" pitchFamily="34" charset="0"/>
              </a:rPr>
              <a:t> </a:t>
            </a:r>
            <a:r>
              <a:rPr lang="en-IN" sz="1200" b="1" dirty="0">
                <a:solidFill>
                  <a:schemeClr val="tx1"/>
                </a:solidFill>
                <a:latin typeface="Calibri" panose="020F0502020204030204" pitchFamily="34" charset="0"/>
                <a:cs typeface="Calibri" panose="020F0502020204030204" pitchFamily="34" charset="0"/>
              </a:rPr>
              <a:t>Dates and Questions Template shall be different</a:t>
            </a:r>
            <a:r>
              <a:rPr lang="en-IN" sz="1200" dirty="0">
                <a:solidFill>
                  <a:schemeClr val="tx1"/>
                </a:solidFill>
                <a:latin typeface="Calibri" panose="020F0502020204030204" pitchFamily="34" charset="0"/>
                <a:cs typeface="Calibri" panose="020F0502020204030204" pitchFamily="34" charset="0"/>
              </a:rPr>
              <a:t>. </a:t>
            </a:r>
          </a:p>
          <a:p>
            <a:pPr marL="228600" indent="-228600" algn="just">
              <a:buAutoNum type="arabicPeriod"/>
            </a:pPr>
            <a:r>
              <a:rPr lang="en-IN" sz="1200" dirty="0">
                <a:solidFill>
                  <a:schemeClr val="tx1"/>
                </a:solidFill>
                <a:latin typeface="Calibri" panose="020F0502020204030204" pitchFamily="34" charset="0"/>
                <a:cs typeface="Calibri" panose="020F0502020204030204" pitchFamily="34" charset="0"/>
              </a:rPr>
              <a:t>In line with the hierarchy highlighted in the creation of </a:t>
            </a:r>
            <a:r>
              <a:rPr lang="en-IN" sz="1200" b="1" dirty="0">
                <a:solidFill>
                  <a:schemeClr val="tx1"/>
                </a:solidFill>
                <a:latin typeface="Calibri" panose="020F0502020204030204" pitchFamily="34" charset="0"/>
                <a:cs typeface="Calibri" panose="020F0502020204030204" pitchFamily="34" charset="0"/>
              </a:rPr>
              <a:t>Pre-OD template</a:t>
            </a:r>
            <a:r>
              <a:rPr lang="en-IN" sz="1200" dirty="0">
                <a:solidFill>
                  <a:schemeClr val="tx1"/>
                </a:solidFill>
                <a:latin typeface="Calibri" panose="020F0502020204030204" pitchFamily="34" charset="0"/>
                <a:cs typeface="Calibri" panose="020F0502020204030204" pitchFamily="34" charset="0"/>
              </a:rPr>
              <a:t>, creation of an OD template shall present the users with an </a:t>
            </a:r>
            <a:r>
              <a:rPr lang="en-IN" sz="1200" dirty="0">
                <a:solidFill>
                  <a:schemeClr val="accent6"/>
                </a:solidFill>
                <a:latin typeface="Calibri" panose="020F0502020204030204" pitchFamily="34" charset="0"/>
                <a:cs typeface="Calibri" panose="020F0502020204030204" pitchFamily="34" charset="0"/>
              </a:rPr>
              <a:t>option to select the relevant Business Functions and subsequently the Questions from the Master Sheet</a:t>
            </a:r>
            <a:r>
              <a:rPr lang="en-IN" sz="1200" dirty="0">
                <a:solidFill>
                  <a:schemeClr val="tx1"/>
                </a:solidFill>
                <a:latin typeface="Calibri" panose="020F0502020204030204" pitchFamily="34" charset="0"/>
                <a:cs typeface="Calibri" panose="020F0502020204030204" pitchFamily="34" charset="0"/>
              </a:rPr>
              <a:t>. This shall be coupled with added functionalities to </a:t>
            </a:r>
            <a:r>
              <a:rPr lang="en-IN" sz="1200" dirty="0">
                <a:solidFill>
                  <a:schemeClr val="accent6"/>
                </a:solidFill>
                <a:latin typeface="Calibri" panose="020F0502020204030204" pitchFamily="34" charset="0"/>
                <a:cs typeface="Calibri" panose="020F0502020204030204" pitchFamily="34" charset="0"/>
              </a:rPr>
              <a:t>add new business functions and new questions within the template, delete business functions and questions within the template as well as edit business functions and questions within the template</a:t>
            </a:r>
            <a:r>
              <a:rPr lang="en-IN" sz="1200" dirty="0">
                <a:solidFill>
                  <a:schemeClr val="tx1"/>
                </a:solidFill>
                <a:latin typeface="Calibri" panose="020F0502020204030204" pitchFamily="34" charset="0"/>
                <a:cs typeface="Calibri" panose="020F0502020204030204" pitchFamily="34" charset="0"/>
              </a:rPr>
              <a:t>. </a:t>
            </a:r>
          </a:p>
          <a:p>
            <a:pPr marL="228600" indent="-228600" algn="just">
              <a:buAutoNum type="arabicPeriod"/>
            </a:pPr>
            <a:endParaRPr lang="en-IN" sz="1200" dirty="0">
              <a:solidFill>
                <a:schemeClr val="tx1"/>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02FC3BFC-D91C-14E4-5B16-8C2C5FEA66B9}"/>
              </a:ext>
            </a:extLst>
          </p:cNvPr>
          <p:cNvSpPr/>
          <p:nvPr/>
        </p:nvSpPr>
        <p:spPr>
          <a:xfrm>
            <a:off x="319192" y="4782721"/>
            <a:ext cx="11553613" cy="18900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just" rtl="0" eaLnBrk="1" latinLnBrk="0" hangingPunct="1">
              <a:spcBef>
                <a:spcPts val="0"/>
              </a:spcBef>
              <a:spcAft>
                <a:spcPts val="0"/>
              </a:spcAft>
            </a:pPr>
            <a:r>
              <a:rPr lang="en-US" sz="1200" b="1" kern="1200" dirty="0">
                <a:solidFill>
                  <a:srgbClr val="000000"/>
                </a:solidFill>
                <a:effectLst/>
                <a:latin typeface="Calibri" panose="020F0502020204030204" pitchFamily="34" charset="0"/>
                <a:cs typeface="Calibri" panose="020F0502020204030204" pitchFamily="34" charset="0"/>
              </a:rPr>
              <a:t>Additionally, on the front-end, we have the following changes primarily: </a:t>
            </a:r>
          </a:p>
          <a:p>
            <a:pPr marL="0" algn="just" rtl="0" eaLnBrk="1" latinLnBrk="0" hangingPunct="1">
              <a:spcBef>
                <a:spcPts val="0"/>
              </a:spcBef>
              <a:spcAft>
                <a:spcPts val="0"/>
              </a:spcAft>
            </a:pPr>
            <a:endParaRPr lang="en-IN" sz="1200" dirty="0">
              <a:effectLst/>
              <a:latin typeface="Calibri" panose="020F0502020204030204" pitchFamily="34" charset="0"/>
              <a:cs typeface="Calibri" panose="020F0502020204030204" pitchFamily="34" charset="0"/>
            </a:endParaRPr>
          </a:p>
          <a:p>
            <a:pPr marL="228600" indent="-228600" algn="just">
              <a:buFont typeface="+mj-lt"/>
              <a:buAutoNum type="arabicPeriod"/>
            </a:pPr>
            <a:r>
              <a:rPr lang="en-IN" sz="1200" dirty="0">
                <a:solidFill>
                  <a:schemeClr val="tx1"/>
                </a:solidFill>
                <a:latin typeface="Calibri" panose="020F0502020204030204" pitchFamily="34" charset="0"/>
                <a:cs typeface="Calibri" panose="020F0502020204030204" pitchFamily="34" charset="0"/>
              </a:rPr>
              <a:t>The Pre-OD Workshop shall reflect on the frontend for </a:t>
            </a:r>
            <a:r>
              <a:rPr lang="en-IN" sz="1200" b="1" dirty="0">
                <a:solidFill>
                  <a:schemeClr val="tx1"/>
                </a:solidFill>
                <a:latin typeface="Calibri" panose="020F0502020204030204" pitchFamily="34" charset="0"/>
                <a:cs typeface="Calibri" panose="020F0502020204030204" pitchFamily="34" charset="0"/>
              </a:rPr>
              <a:t>the defined time frame</a:t>
            </a:r>
            <a:r>
              <a:rPr lang="en-IN" sz="1200" dirty="0">
                <a:solidFill>
                  <a:schemeClr val="tx1"/>
                </a:solidFill>
                <a:latin typeface="Calibri" panose="020F0502020204030204" pitchFamily="34" charset="0"/>
                <a:cs typeface="Calibri" panose="020F0502020204030204" pitchFamily="34" charset="0"/>
              </a:rPr>
              <a:t>. Post that time, Pre-OD shall not be accessible. The response formats for Pre-OD Workshop on </a:t>
            </a:r>
            <a:r>
              <a:rPr lang="en-IN" sz="1200" b="1" dirty="0">
                <a:solidFill>
                  <a:schemeClr val="tx1"/>
                </a:solidFill>
                <a:latin typeface="Calibri" panose="020F0502020204030204" pitchFamily="34" charset="0"/>
                <a:cs typeface="Calibri" panose="020F0502020204030204" pitchFamily="34" charset="0"/>
              </a:rPr>
              <a:t>frontend </a:t>
            </a:r>
            <a:r>
              <a:rPr lang="en-IN" sz="1200" dirty="0">
                <a:solidFill>
                  <a:schemeClr val="tx1"/>
                </a:solidFill>
                <a:latin typeface="Calibri" panose="020F0502020204030204" pitchFamily="34" charset="0"/>
                <a:cs typeface="Calibri" panose="020F0502020204030204" pitchFamily="34" charset="0"/>
              </a:rPr>
              <a:t>shall be </a:t>
            </a:r>
            <a:r>
              <a:rPr lang="en-IN" sz="1200" b="1" dirty="0">
                <a:solidFill>
                  <a:schemeClr val="tx1"/>
                </a:solidFill>
                <a:latin typeface="Calibri" panose="020F0502020204030204" pitchFamily="34" charset="0"/>
                <a:cs typeface="Calibri" panose="020F0502020204030204" pitchFamily="34" charset="0"/>
              </a:rPr>
              <a:t>textual as well as multiple choice</a:t>
            </a:r>
            <a:r>
              <a:rPr lang="en-IN" sz="1200" dirty="0">
                <a:solidFill>
                  <a:schemeClr val="tx1"/>
                </a:solidFill>
                <a:latin typeface="Calibri" panose="020F0502020204030204" pitchFamily="34" charset="0"/>
                <a:cs typeface="Calibri" panose="020F0502020204030204" pitchFamily="34" charset="0"/>
              </a:rPr>
              <a:t>.</a:t>
            </a:r>
            <a:endParaRPr lang="en-US" sz="1200" kern="1200" dirty="0">
              <a:solidFill>
                <a:srgbClr val="000000"/>
              </a:solidFill>
              <a:effectLst/>
              <a:latin typeface="Calibri" panose="020F0502020204030204" pitchFamily="34" charset="0"/>
              <a:cs typeface="Calibri" panose="020F0502020204030204" pitchFamily="34" charset="0"/>
            </a:endParaRPr>
          </a:p>
          <a:p>
            <a:pPr marL="228600" indent="-228600" algn="just" rtl="0" eaLnBrk="1" latinLnBrk="0" hangingPunct="1">
              <a:spcBef>
                <a:spcPts val="0"/>
              </a:spcBef>
              <a:spcAft>
                <a:spcPts val="0"/>
              </a:spcAft>
              <a:buFont typeface="+mj-lt"/>
              <a:buAutoNum type="arabicPeriod"/>
            </a:pPr>
            <a:r>
              <a:rPr lang="en-US" sz="1200" dirty="0">
                <a:solidFill>
                  <a:srgbClr val="000000"/>
                </a:solidFill>
                <a:latin typeface="Calibri" panose="020F0502020204030204" pitchFamily="34" charset="0"/>
                <a:cs typeface="Calibri" panose="020F0502020204030204" pitchFamily="34" charset="0"/>
              </a:rPr>
              <a:t>U</a:t>
            </a:r>
            <a:r>
              <a:rPr lang="en-US" sz="1200" kern="1200" dirty="0">
                <a:solidFill>
                  <a:srgbClr val="000000"/>
                </a:solidFill>
                <a:effectLst/>
                <a:latin typeface="Calibri" panose="020F0502020204030204" pitchFamily="34" charset="0"/>
                <a:cs typeface="Calibri" panose="020F0502020204030204" pitchFamily="34" charset="0"/>
              </a:rPr>
              <a:t>nder the existing system, </a:t>
            </a:r>
            <a:r>
              <a:rPr lang="en-US" sz="1200" kern="1200" dirty="0">
                <a:solidFill>
                  <a:srgbClr val="FF0000"/>
                </a:solidFill>
                <a:effectLst/>
                <a:latin typeface="Calibri" panose="020F0502020204030204" pitchFamily="34" charset="0"/>
                <a:cs typeface="Calibri" panose="020F0502020204030204" pitchFamily="34" charset="0"/>
              </a:rPr>
              <a:t>responders only get to answer from among the three options (Green, Yellow and Red)</a:t>
            </a:r>
            <a:r>
              <a:rPr lang="en-US" sz="1200" kern="1200" dirty="0">
                <a:solidFill>
                  <a:srgbClr val="000000"/>
                </a:solidFill>
                <a:effectLst/>
                <a:latin typeface="Calibri" panose="020F0502020204030204" pitchFamily="34" charset="0"/>
                <a:cs typeface="Calibri" panose="020F0502020204030204" pitchFamily="34" charset="0"/>
              </a:rPr>
              <a:t>. Along with the current system, we also wish to </a:t>
            </a:r>
            <a:r>
              <a:rPr lang="en-US" sz="1200" b="1" kern="1200" dirty="0">
                <a:solidFill>
                  <a:srgbClr val="000000"/>
                </a:solidFill>
                <a:effectLst/>
                <a:latin typeface="Calibri" panose="020F0502020204030204" pitchFamily="34" charset="0"/>
                <a:cs typeface="Calibri" panose="020F0502020204030204" pitchFamily="34" charset="0"/>
              </a:rPr>
              <a:t>have radio buttons (permitting selection of only one option), multiple selection (permitting selection of more than one option) and textual answers as response formats</a:t>
            </a:r>
            <a:r>
              <a:rPr lang="en-US" sz="1200" kern="1200" dirty="0">
                <a:solidFill>
                  <a:srgbClr val="000000"/>
                </a:solidFill>
                <a:effectLst/>
                <a:latin typeface="Calibri" panose="020F0502020204030204" pitchFamily="34" charset="0"/>
                <a:cs typeface="Calibri" panose="020F0502020204030204" pitchFamily="34" charset="0"/>
              </a:rPr>
              <a:t>. </a:t>
            </a:r>
            <a:endParaRPr lang="en-IN" sz="1200" dirty="0">
              <a:effectLst/>
              <a:latin typeface="Calibri" panose="020F0502020204030204" pitchFamily="34" charset="0"/>
              <a:cs typeface="Calibri" panose="020F0502020204030204" pitchFamily="34" charset="0"/>
            </a:endParaRPr>
          </a:p>
          <a:p>
            <a:pPr marL="228600" indent="-228600" algn="just" rtl="0" eaLnBrk="1" latinLnBrk="0" hangingPunct="1">
              <a:spcBef>
                <a:spcPts val="0"/>
              </a:spcBef>
              <a:spcAft>
                <a:spcPts val="0"/>
              </a:spcAft>
              <a:buFont typeface="+mj-lt"/>
              <a:buAutoNum type="arabicPeriod"/>
            </a:pPr>
            <a:r>
              <a:rPr lang="en-US" sz="1200" kern="1200" dirty="0">
                <a:solidFill>
                  <a:srgbClr val="000000"/>
                </a:solidFill>
                <a:effectLst/>
                <a:latin typeface="Calibri" panose="020F0502020204030204" pitchFamily="34" charset="0"/>
                <a:cs typeface="Calibri" panose="020F0502020204030204" pitchFamily="34" charset="0"/>
              </a:rPr>
              <a:t>We desire to have a system wherein for every section, the </a:t>
            </a:r>
            <a:r>
              <a:rPr lang="en-US" sz="1200" b="1" kern="1200" dirty="0">
                <a:solidFill>
                  <a:srgbClr val="000000"/>
                </a:solidFill>
                <a:effectLst/>
                <a:latin typeface="Calibri" panose="020F0502020204030204" pitchFamily="34" charset="0"/>
                <a:cs typeface="Calibri" panose="020F0502020204030204" pitchFamily="34" charset="0"/>
              </a:rPr>
              <a:t>responder shall be able to have a “save progress” option and a “submit option”</a:t>
            </a:r>
            <a:r>
              <a:rPr lang="en-US" sz="1200" kern="1200" dirty="0">
                <a:solidFill>
                  <a:srgbClr val="000000"/>
                </a:solidFill>
                <a:effectLst/>
                <a:latin typeface="Calibri" panose="020F0502020204030204" pitchFamily="34" charset="0"/>
                <a:cs typeface="Calibri" panose="020F0502020204030204" pitchFamily="34" charset="0"/>
              </a:rPr>
              <a:t>. Saved progress shall allow the responder to make changes. Submitted result shall not grant this permission. </a:t>
            </a:r>
            <a:endParaRPr lang="en-IN" sz="1200" dirty="0">
              <a:effectLst/>
              <a:latin typeface="Calibri" panose="020F0502020204030204" pitchFamily="34" charset="0"/>
              <a:cs typeface="Calibri" panose="020F0502020204030204" pitchFamily="34" charset="0"/>
            </a:endParaRPr>
          </a:p>
          <a:p>
            <a:pPr marL="228600" indent="-228600" algn="just" rtl="0" eaLnBrk="1" latinLnBrk="0" hangingPunct="1">
              <a:spcBef>
                <a:spcPts val="0"/>
              </a:spcBef>
              <a:spcAft>
                <a:spcPts val="0"/>
              </a:spcAft>
              <a:buFont typeface="+mj-lt"/>
              <a:buAutoNum type="arabicPeriod"/>
            </a:pPr>
            <a:r>
              <a:rPr lang="en-US" sz="1200" kern="1200" dirty="0">
                <a:solidFill>
                  <a:srgbClr val="000000"/>
                </a:solidFill>
                <a:effectLst/>
                <a:latin typeface="Calibri" panose="020F0502020204030204" pitchFamily="34" charset="0"/>
                <a:cs typeface="Calibri" panose="020F0502020204030204" pitchFamily="34" charset="0"/>
              </a:rPr>
              <a:t>Rather than </a:t>
            </a:r>
            <a:r>
              <a:rPr lang="en-US" sz="1200" kern="1200" dirty="0">
                <a:solidFill>
                  <a:srgbClr val="FF0000"/>
                </a:solidFill>
                <a:effectLst/>
                <a:latin typeface="Calibri" panose="020F0502020204030204" pitchFamily="34" charset="0"/>
                <a:cs typeface="Calibri" panose="020F0502020204030204" pitchFamily="34" charset="0"/>
              </a:rPr>
              <a:t>exposing the responder to all sections (i.e. Pre-OD Questionnaire, Vision &amp; Mission Keywords, </a:t>
            </a:r>
            <a:r>
              <a:rPr lang="en-US" sz="1200" dirty="0">
                <a:solidFill>
                  <a:srgbClr val="FF0000"/>
                </a:solidFill>
                <a:latin typeface="Calibri" panose="020F0502020204030204" pitchFamily="34" charset="0"/>
                <a:cs typeface="Calibri" panose="020F0502020204030204" pitchFamily="34" charset="0"/>
              </a:rPr>
              <a:t>OD </a:t>
            </a:r>
            <a:r>
              <a:rPr lang="en-US" sz="1200" kern="1200" dirty="0">
                <a:solidFill>
                  <a:srgbClr val="FF0000"/>
                </a:solidFill>
                <a:effectLst/>
                <a:latin typeface="Calibri" panose="020F0502020204030204" pitchFamily="34" charset="0"/>
                <a:cs typeface="Calibri" panose="020F0502020204030204" pitchFamily="34" charset="0"/>
              </a:rPr>
              <a:t>Questionnaire, Actionable and OD Feedback) at once</a:t>
            </a:r>
            <a:r>
              <a:rPr lang="en-US" sz="1200" kern="1200" dirty="0">
                <a:solidFill>
                  <a:srgbClr val="000000"/>
                </a:solidFill>
                <a:effectLst/>
                <a:latin typeface="Calibri" panose="020F0502020204030204" pitchFamily="34" charset="0"/>
                <a:cs typeface="Calibri" panose="020F0502020204030204" pitchFamily="34" charset="0"/>
              </a:rPr>
              <a:t>, </a:t>
            </a:r>
            <a:r>
              <a:rPr lang="en-US" sz="1200" b="1" kern="1200" dirty="0">
                <a:solidFill>
                  <a:srgbClr val="000000"/>
                </a:solidFill>
                <a:effectLst/>
                <a:latin typeface="Calibri" panose="020F0502020204030204" pitchFamily="34" charset="0"/>
                <a:cs typeface="Calibri" panose="020F0502020204030204" pitchFamily="34" charset="0"/>
              </a:rPr>
              <a:t>we can have one section leading to another</a:t>
            </a:r>
            <a:r>
              <a:rPr lang="en-US" sz="1200" kern="1200" dirty="0">
                <a:solidFill>
                  <a:srgbClr val="000000"/>
                </a:solidFill>
                <a:effectLst/>
                <a:latin typeface="Calibri" panose="020F0502020204030204" pitchFamily="34" charset="0"/>
                <a:cs typeface="Calibri" panose="020F0502020204030204" pitchFamily="34" charset="0"/>
              </a:rPr>
              <a:t>.</a:t>
            </a:r>
          </a:p>
        </p:txBody>
      </p:sp>
      <p:sp>
        <p:nvSpPr>
          <p:cNvPr id="4" name="Rectangle: Rounded Corners 3">
            <a:extLst>
              <a:ext uri="{FF2B5EF4-FFF2-40B4-BE49-F238E27FC236}">
                <a16:creationId xmlns:a16="http://schemas.microsoft.com/office/drawing/2014/main" id="{94A8C48C-390F-8EED-F98B-9E6092196196}"/>
              </a:ext>
            </a:extLst>
          </p:cNvPr>
          <p:cNvSpPr/>
          <p:nvPr/>
        </p:nvSpPr>
        <p:spPr>
          <a:xfrm>
            <a:off x="319192" y="4294480"/>
            <a:ext cx="886582"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Frontend</a:t>
            </a:r>
          </a:p>
        </p:txBody>
      </p:sp>
    </p:spTree>
    <p:extLst>
      <p:ext uri="{BB962C8B-B14F-4D97-AF65-F5344CB8AC3E}">
        <p14:creationId xmlns:p14="http://schemas.microsoft.com/office/powerpoint/2010/main" val="3503146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666749" y="551940"/>
            <a:ext cx="3352800"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Questions Display at Front-end</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Front-End Changes</a:t>
            </a:r>
          </a:p>
        </p:txBody>
      </p:sp>
      <p:sp>
        <p:nvSpPr>
          <p:cNvPr id="14" name="Rectangle: Rounded Corners 13">
            <a:extLst>
              <a:ext uri="{FF2B5EF4-FFF2-40B4-BE49-F238E27FC236}">
                <a16:creationId xmlns:a16="http://schemas.microsoft.com/office/drawing/2014/main" id="{9F8BF355-4449-739C-71C5-D3902F24544F}"/>
              </a:ext>
            </a:extLst>
          </p:cNvPr>
          <p:cNvSpPr/>
          <p:nvPr/>
        </p:nvSpPr>
        <p:spPr>
          <a:xfrm>
            <a:off x="391885" y="4209092"/>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15" name="Rectangle 14">
            <a:extLst>
              <a:ext uri="{FF2B5EF4-FFF2-40B4-BE49-F238E27FC236}">
                <a16:creationId xmlns:a16="http://schemas.microsoft.com/office/drawing/2014/main" id="{EF64CC0A-344E-20E2-A317-6F64C397D7E7}"/>
              </a:ext>
            </a:extLst>
          </p:cNvPr>
          <p:cNvSpPr/>
          <p:nvPr/>
        </p:nvSpPr>
        <p:spPr>
          <a:xfrm>
            <a:off x="391885" y="4699000"/>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The user is being exposed to the questions per their questions category and tags. </a:t>
            </a:r>
          </a:p>
        </p:txBody>
      </p:sp>
      <p:sp>
        <p:nvSpPr>
          <p:cNvPr id="16" name="Rectangle: Rounded Corners 15">
            <a:extLst>
              <a:ext uri="{FF2B5EF4-FFF2-40B4-BE49-F238E27FC236}">
                <a16:creationId xmlns:a16="http://schemas.microsoft.com/office/drawing/2014/main" id="{4F516AEC-5F20-5BED-BD8A-C59CCD674225}"/>
              </a:ext>
            </a:extLst>
          </p:cNvPr>
          <p:cNvSpPr/>
          <p:nvPr/>
        </p:nvSpPr>
        <p:spPr>
          <a:xfrm>
            <a:off x="391885" y="5381570"/>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17" name="Rectangle 16">
            <a:extLst>
              <a:ext uri="{FF2B5EF4-FFF2-40B4-BE49-F238E27FC236}">
                <a16:creationId xmlns:a16="http://schemas.microsoft.com/office/drawing/2014/main" id="{91BB9F57-818E-7DD0-668F-5C2F09E5C8FC}"/>
              </a:ext>
            </a:extLst>
          </p:cNvPr>
          <p:cNvSpPr/>
          <p:nvPr/>
        </p:nvSpPr>
        <p:spPr>
          <a:xfrm>
            <a:off x="391885" y="5896878"/>
            <a:ext cx="11553613" cy="566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Front-end user should have visibility to questions as per the new format laid out in Slide </a:t>
            </a:r>
            <a:r>
              <a:rPr lang="en-IN" sz="1200">
                <a:solidFill>
                  <a:schemeClr val="tx1"/>
                </a:solidFill>
                <a:latin typeface="Calibri" panose="020F0502020204030204" pitchFamily="34" charset="0"/>
                <a:cs typeface="Calibri" panose="020F0502020204030204" pitchFamily="34" charset="0"/>
              </a:rPr>
              <a:t>14</a:t>
            </a:r>
            <a:r>
              <a:rPr lang="en-IN" sz="1200" dirty="0">
                <a:solidFill>
                  <a:schemeClr val="tx1"/>
                </a:solidFill>
                <a:latin typeface="Calibri" panose="020F0502020204030204" pitchFamily="34" charset="0"/>
                <a:cs typeface="Calibri" panose="020F0502020204030204" pitchFamily="34" charset="0"/>
              </a:rPr>
              <a:t>,</a:t>
            </a:r>
            <a:r>
              <a:rPr lang="en-IN" sz="1200">
                <a:solidFill>
                  <a:schemeClr val="tx1"/>
                </a:solidFill>
                <a:latin typeface="Calibri" panose="020F0502020204030204" pitchFamily="34" charset="0"/>
                <a:cs typeface="Calibri" panose="020F0502020204030204" pitchFamily="34" charset="0"/>
              </a:rPr>
              <a:t> </a:t>
            </a:r>
            <a:r>
              <a:rPr lang="en-IN" sz="1200" dirty="0">
                <a:solidFill>
                  <a:schemeClr val="tx1"/>
                </a:solidFill>
                <a:latin typeface="Calibri" panose="020F0502020204030204" pitchFamily="34" charset="0"/>
                <a:cs typeface="Calibri" panose="020F0502020204030204" pitchFamily="34" charset="0"/>
              </a:rPr>
              <a:t>i.e. Business Function should be the criteria.</a:t>
            </a:r>
            <a:r>
              <a:rPr lang="en-IN" sz="1200" dirty="0">
                <a:solidFill>
                  <a:schemeClr val="tx1"/>
                </a:solidFill>
                <a:highlight>
                  <a:srgbClr val="FFFF00"/>
                </a:highlight>
                <a:latin typeface="Calibri" panose="020F0502020204030204" pitchFamily="34" charset="0"/>
                <a:cs typeface="Calibri" panose="020F0502020204030204" pitchFamily="34" charset="0"/>
              </a:rPr>
              <a:t> </a:t>
            </a:r>
          </a:p>
        </p:txBody>
      </p:sp>
      <p:sp>
        <p:nvSpPr>
          <p:cNvPr id="5" name="Oval 4">
            <a:extLst>
              <a:ext uri="{FF2B5EF4-FFF2-40B4-BE49-F238E27FC236}">
                <a16:creationId xmlns:a16="http://schemas.microsoft.com/office/drawing/2014/main" id="{835595D1-C968-9F47-ED55-B041732136FA}"/>
              </a:ext>
            </a:extLst>
          </p:cNvPr>
          <p:cNvSpPr/>
          <p:nvPr/>
        </p:nvSpPr>
        <p:spPr>
          <a:xfrm>
            <a:off x="346778" y="518145"/>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pic>
        <p:nvPicPr>
          <p:cNvPr id="3" name="Picture 2">
            <a:extLst>
              <a:ext uri="{FF2B5EF4-FFF2-40B4-BE49-F238E27FC236}">
                <a16:creationId xmlns:a16="http://schemas.microsoft.com/office/drawing/2014/main" id="{E7858F8F-4092-C7F5-9208-BAAE86A72BA3}"/>
              </a:ext>
            </a:extLst>
          </p:cNvPr>
          <p:cNvPicPr>
            <a:picLocks noChangeAspect="1"/>
          </p:cNvPicPr>
          <p:nvPr/>
        </p:nvPicPr>
        <p:blipFill>
          <a:blip r:embed="rId2"/>
          <a:stretch>
            <a:fillRect/>
          </a:stretch>
        </p:blipFill>
        <p:spPr>
          <a:xfrm>
            <a:off x="391885" y="977859"/>
            <a:ext cx="6635083" cy="3043320"/>
          </a:xfrm>
          <a:prstGeom prst="rect">
            <a:avLst/>
          </a:prstGeom>
        </p:spPr>
      </p:pic>
    </p:spTree>
    <p:extLst>
      <p:ext uri="{BB962C8B-B14F-4D97-AF65-F5344CB8AC3E}">
        <p14:creationId xmlns:p14="http://schemas.microsoft.com/office/powerpoint/2010/main" val="223817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FB324A-22CF-82E5-DD42-57127D8BC585}"/>
              </a:ext>
            </a:extLst>
          </p:cNvPr>
          <p:cNvCxnSpPr/>
          <p:nvPr/>
        </p:nvCxnSpPr>
        <p:spPr>
          <a:xfrm>
            <a:off x="65312" y="413655"/>
            <a:ext cx="57041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F6B1071-D8CB-422F-DA0F-E3AD9EDB145D}"/>
              </a:ext>
            </a:extLst>
          </p:cNvPr>
          <p:cNvSpPr/>
          <p:nvPr/>
        </p:nvSpPr>
        <p:spPr>
          <a:xfrm>
            <a:off x="612319" y="497510"/>
            <a:ext cx="6546248" cy="204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latin typeface="Calibri" panose="020F0502020204030204" pitchFamily="34" charset="0"/>
                <a:cs typeface="Calibri" panose="020F0502020204030204" pitchFamily="34" charset="0"/>
              </a:rPr>
              <a:t>Responses by Questions, Business Functions and Participants with Multiple Download Formats</a:t>
            </a:r>
          </a:p>
        </p:txBody>
      </p:sp>
      <p:sp>
        <p:nvSpPr>
          <p:cNvPr id="29" name="Rectangle 28">
            <a:extLst>
              <a:ext uri="{FF2B5EF4-FFF2-40B4-BE49-F238E27FC236}">
                <a16:creationId xmlns:a16="http://schemas.microsoft.com/office/drawing/2014/main" id="{58168F4D-D8A9-32AA-AA9B-75516D60184D}"/>
              </a:ext>
            </a:extLst>
          </p:cNvPr>
          <p:cNvSpPr/>
          <p:nvPr/>
        </p:nvSpPr>
        <p:spPr>
          <a:xfrm>
            <a:off x="65312" y="57949"/>
            <a:ext cx="5704115" cy="319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Backend Response Sheet</a:t>
            </a:r>
          </a:p>
        </p:txBody>
      </p:sp>
      <p:sp>
        <p:nvSpPr>
          <p:cNvPr id="14" name="Rectangle: Rounded Corners 13">
            <a:extLst>
              <a:ext uri="{FF2B5EF4-FFF2-40B4-BE49-F238E27FC236}">
                <a16:creationId xmlns:a16="http://schemas.microsoft.com/office/drawing/2014/main" id="{9F8BF355-4449-739C-71C5-D3902F24544F}"/>
              </a:ext>
            </a:extLst>
          </p:cNvPr>
          <p:cNvSpPr/>
          <p:nvPr/>
        </p:nvSpPr>
        <p:spPr>
          <a:xfrm>
            <a:off x="391885" y="4775149"/>
            <a:ext cx="2681515" cy="38501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Existing Functionality and Restrictions</a:t>
            </a:r>
          </a:p>
        </p:txBody>
      </p:sp>
      <p:sp>
        <p:nvSpPr>
          <p:cNvPr id="15" name="Rectangle 14">
            <a:extLst>
              <a:ext uri="{FF2B5EF4-FFF2-40B4-BE49-F238E27FC236}">
                <a16:creationId xmlns:a16="http://schemas.microsoft.com/office/drawing/2014/main" id="{EF64CC0A-344E-20E2-A317-6F64C397D7E7}"/>
              </a:ext>
            </a:extLst>
          </p:cNvPr>
          <p:cNvSpPr/>
          <p:nvPr/>
        </p:nvSpPr>
        <p:spPr>
          <a:xfrm>
            <a:off x="391885" y="5224143"/>
            <a:ext cx="11553613" cy="3866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Currently, we have an option to view the responses by Question Category and subsequently, the specific Question under that particular Question Category. </a:t>
            </a:r>
          </a:p>
        </p:txBody>
      </p:sp>
      <p:sp>
        <p:nvSpPr>
          <p:cNvPr id="16" name="Rectangle: Rounded Corners 15">
            <a:extLst>
              <a:ext uri="{FF2B5EF4-FFF2-40B4-BE49-F238E27FC236}">
                <a16:creationId xmlns:a16="http://schemas.microsoft.com/office/drawing/2014/main" id="{4F516AEC-5F20-5BED-BD8A-C59CCD674225}"/>
              </a:ext>
            </a:extLst>
          </p:cNvPr>
          <p:cNvSpPr/>
          <p:nvPr/>
        </p:nvSpPr>
        <p:spPr>
          <a:xfrm>
            <a:off x="380999" y="5729913"/>
            <a:ext cx="2681515" cy="385011"/>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bg1"/>
                </a:solidFill>
                <a:latin typeface="Calibri" panose="020F0502020204030204" pitchFamily="34" charset="0"/>
                <a:cs typeface="Calibri" panose="020F0502020204030204" pitchFamily="34" charset="0"/>
              </a:rPr>
              <a:t>Proposed Functionality and Features</a:t>
            </a:r>
          </a:p>
        </p:txBody>
      </p:sp>
      <p:sp>
        <p:nvSpPr>
          <p:cNvPr id="17" name="Rectangle 16">
            <a:extLst>
              <a:ext uri="{FF2B5EF4-FFF2-40B4-BE49-F238E27FC236}">
                <a16:creationId xmlns:a16="http://schemas.microsoft.com/office/drawing/2014/main" id="{91BB9F57-818E-7DD0-668F-5C2F09E5C8FC}"/>
              </a:ext>
            </a:extLst>
          </p:cNvPr>
          <p:cNvSpPr/>
          <p:nvPr/>
        </p:nvSpPr>
        <p:spPr>
          <a:xfrm>
            <a:off x="391885" y="6192181"/>
            <a:ext cx="11553613" cy="4252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Calibri" panose="020F0502020204030204" pitchFamily="34" charset="0"/>
                <a:cs typeface="Calibri" panose="020F0502020204030204" pitchFamily="34" charset="0"/>
              </a:rPr>
              <a:t>1. We desire to have viewing options in terms of </a:t>
            </a:r>
            <a:r>
              <a:rPr lang="en-IN" sz="1200" b="1" dirty="0">
                <a:solidFill>
                  <a:schemeClr val="tx1"/>
                </a:solidFill>
                <a:latin typeface="Calibri" panose="020F0502020204030204" pitchFamily="34" charset="0"/>
                <a:cs typeface="Calibri" panose="020F0502020204030204" pitchFamily="34" charset="0"/>
              </a:rPr>
              <a:t>Business Functions, Questions and Participants and in any combination of these three divisions</a:t>
            </a:r>
            <a:r>
              <a:rPr lang="en-IN" sz="1200" dirty="0">
                <a:solidFill>
                  <a:schemeClr val="tx1"/>
                </a:solidFill>
                <a:latin typeface="Calibri" panose="020F0502020204030204" pitchFamily="34" charset="0"/>
                <a:cs typeface="Calibri" panose="020F0502020204030204" pitchFamily="34" charset="0"/>
              </a:rPr>
              <a:t>. Additionally, </a:t>
            </a:r>
            <a:r>
              <a:rPr lang="en-IN" sz="1200" b="1" dirty="0">
                <a:solidFill>
                  <a:schemeClr val="tx1"/>
                </a:solidFill>
                <a:latin typeface="Calibri" panose="020F0502020204030204" pitchFamily="34" charset="0"/>
                <a:cs typeface="Calibri" panose="020F0502020204030204" pitchFamily="34" charset="0"/>
              </a:rPr>
              <a:t>export option should be supported in PDF and Excel versions</a:t>
            </a:r>
            <a:r>
              <a:rPr lang="en-IN" sz="1200" dirty="0">
                <a:solidFill>
                  <a:schemeClr val="tx1"/>
                </a:solidFill>
                <a:latin typeface="Calibri" panose="020F0502020204030204" pitchFamily="34" charset="0"/>
                <a:cs typeface="Calibri" panose="020F0502020204030204" pitchFamily="34" charset="0"/>
              </a:rPr>
              <a:t>. </a:t>
            </a:r>
          </a:p>
        </p:txBody>
      </p:sp>
      <p:sp>
        <p:nvSpPr>
          <p:cNvPr id="19" name="Oval 18">
            <a:extLst>
              <a:ext uri="{FF2B5EF4-FFF2-40B4-BE49-F238E27FC236}">
                <a16:creationId xmlns:a16="http://schemas.microsoft.com/office/drawing/2014/main" id="{3402A46A-B3D6-6082-8106-C41D6C384CB1}"/>
              </a:ext>
            </a:extLst>
          </p:cNvPr>
          <p:cNvSpPr/>
          <p:nvPr/>
        </p:nvSpPr>
        <p:spPr>
          <a:xfrm>
            <a:off x="346778" y="452830"/>
            <a:ext cx="268923" cy="27180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Calibri" panose="020F0502020204030204" pitchFamily="34" charset="0"/>
                <a:cs typeface="Calibri" panose="020F0502020204030204" pitchFamily="34" charset="0"/>
              </a:rPr>
              <a:t>1</a:t>
            </a:r>
          </a:p>
        </p:txBody>
      </p:sp>
      <p:pic>
        <p:nvPicPr>
          <p:cNvPr id="3" name="Picture 2">
            <a:extLst>
              <a:ext uri="{FF2B5EF4-FFF2-40B4-BE49-F238E27FC236}">
                <a16:creationId xmlns:a16="http://schemas.microsoft.com/office/drawing/2014/main" id="{D8944184-9E02-EEF4-D133-B8DAB9644D06}"/>
              </a:ext>
            </a:extLst>
          </p:cNvPr>
          <p:cNvPicPr>
            <a:picLocks noChangeAspect="1"/>
          </p:cNvPicPr>
          <p:nvPr/>
        </p:nvPicPr>
        <p:blipFill>
          <a:blip r:embed="rId2"/>
          <a:stretch>
            <a:fillRect/>
          </a:stretch>
        </p:blipFill>
        <p:spPr>
          <a:xfrm>
            <a:off x="346778" y="906318"/>
            <a:ext cx="8306041" cy="3630368"/>
          </a:xfrm>
          <a:prstGeom prst="rect">
            <a:avLst/>
          </a:prstGeom>
        </p:spPr>
      </p:pic>
    </p:spTree>
    <p:extLst>
      <p:ext uri="{BB962C8B-B14F-4D97-AF65-F5344CB8AC3E}">
        <p14:creationId xmlns:p14="http://schemas.microsoft.com/office/powerpoint/2010/main" val="2954722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0E1150D560E54591C9141405A651E5" ma:contentTypeVersion="15" ma:contentTypeDescription="Create a new document." ma:contentTypeScope="" ma:versionID="3d8ad8a8fb2b9260b05d114572a96def">
  <xsd:schema xmlns:xsd="http://www.w3.org/2001/XMLSchema" xmlns:xs="http://www.w3.org/2001/XMLSchema" xmlns:p="http://schemas.microsoft.com/office/2006/metadata/properties" xmlns:ns1="http://schemas.microsoft.com/sharepoint/v3" xmlns:ns2="b4e2e53c-0f1f-4715-94f1-5e73db55e77c" xmlns:ns3="e2361a7b-f027-41f3-b70c-a7388b39c94e" targetNamespace="http://schemas.microsoft.com/office/2006/metadata/properties" ma:root="true" ma:fieldsID="1d9eaccda63299394c5d8fa8ed4e0784" ns1:_="" ns2:_="" ns3:_="">
    <xsd:import namespace="http://schemas.microsoft.com/sharepoint/v3"/>
    <xsd:import namespace="b4e2e53c-0f1f-4715-94f1-5e73db55e77c"/>
    <xsd:import namespace="e2361a7b-f027-41f3-b70c-a7388b39c94e"/>
    <xsd:element name="properties">
      <xsd:complexType>
        <xsd:sequence>
          <xsd:element name="documentManagement">
            <xsd:complexType>
              <xsd:all>
                <xsd:element ref="ns2:MediaServiceOCR" minOccurs="0"/>
                <xsd:element ref="ns3:SharedWithUsers" minOccurs="0"/>
                <xsd:element ref="ns3:SharedWithDetails" minOccurs="0"/>
                <xsd:element ref="ns2:MediaServiceObjectDetectorVersions" minOccurs="0"/>
                <xsd:element ref="ns2:_Flow_SignoffStatus" minOccurs="0"/>
                <xsd:element ref="ns2:MediaServiceSearchProperties" minOccurs="0"/>
                <xsd:element ref="ns2:MediaServiceLocation" minOccurs="0"/>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2e53c-0f1f-4715-94f1-5e73db55e77c" elementFormDefault="qualified">
    <xsd:import namespace="http://schemas.microsoft.com/office/2006/documentManagement/types"/>
    <xsd:import namespace="http://schemas.microsoft.com/office/infopath/2007/PartnerControls"/>
    <xsd:element name="MediaServiceOCR" ma:index="8" nillable="true" ma:displayName="Extracted Text" ma:internalName="MediaServiceOCR" ma:readOnly="true">
      <xsd:simpleType>
        <xsd:restriction base="dms:Note">
          <xsd:maxLength value="255"/>
        </xsd:restriction>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Flow_SignoffStatus" ma:index="12" nillable="true" ma:displayName="Sign-off status" ma:internalName="Sign_x002d_off_x0020_status">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594cf8e-73e5-4f30-8c73-8a5df3ccdd3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2361a7b-f027-41f3-b70c-a7388b39c94e"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679e42d-35f0-46ba-bbb4-427143d641c4}" ma:internalName="TaxCatchAll" ma:showField="CatchAllData" ma:web="e2361a7b-f027-41f3-b70c-a7388b39c9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b4e2e53c-0f1f-4715-94f1-5e73db55e77c" xsi:nil="true"/>
    <SharedWithUsers xmlns="e2361a7b-f027-41f3-b70c-a7388b39c94e">
      <UserInfo>
        <DisplayName/>
        <AccountId xsi:nil="true"/>
        <AccountType/>
      </UserInfo>
    </SharedWithUsers>
    <_ip_UnifiedCompliancePolicyUIAction xmlns="http://schemas.microsoft.com/sharepoint/v3" xsi:nil="true"/>
    <TaxCatchAll xmlns="e2361a7b-f027-41f3-b70c-a7388b39c94e" xsi:nil="true"/>
    <_ip_UnifiedCompliancePolicyProperties xmlns="http://schemas.microsoft.com/sharepoint/v3" xsi:nil="true"/>
    <lcf76f155ced4ddcb4097134ff3c332f xmlns="b4e2e53c-0f1f-4715-94f1-5e73db55e77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A5B2418-9C69-41A4-A3F1-9782D3F80B74}"/>
</file>

<file path=customXml/itemProps2.xml><?xml version="1.0" encoding="utf-8"?>
<ds:datastoreItem xmlns:ds="http://schemas.openxmlformats.org/officeDocument/2006/customXml" ds:itemID="{8A2A7A2A-590D-4B0F-B4D0-1DCDAA960979}"/>
</file>

<file path=customXml/itemProps3.xml><?xml version="1.0" encoding="utf-8"?>
<ds:datastoreItem xmlns:ds="http://schemas.openxmlformats.org/officeDocument/2006/customXml" ds:itemID="{BE79DEBF-2B93-413A-B7B8-124C42BA107C}"/>
</file>

<file path=docProps/app.xml><?xml version="1.0" encoding="utf-8"?>
<Properties xmlns="http://schemas.openxmlformats.org/officeDocument/2006/extended-properties" xmlns:vt="http://schemas.openxmlformats.org/officeDocument/2006/docPropsVTypes">
  <TotalTime>740</TotalTime>
  <Words>1409</Words>
  <Application>Microsoft Office PowerPoint</Application>
  <PresentationFormat>Widescreen</PresentationFormat>
  <Paragraphs>106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 Damani</dc:creator>
  <cp:lastModifiedBy>Anushka Shetty</cp:lastModifiedBy>
  <cp:revision>3</cp:revision>
  <dcterms:created xsi:type="dcterms:W3CDTF">2024-06-13T12:40:38Z</dcterms:created>
  <dcterms:modified xsi:type="dcterms:W3CDTF">2025-05-22T14:24:42Z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0x010100EC0E1150D560E54591C9141405A651E5</vt:lpwstr>
  </property>
  <property fmtid="{D5CDD505-2E9C-101B-9397-08002B2CF9AE}" pid="3" name="Order">
    <vt:r8>4244200</vt:r8>
  </property>
  <property fmtid="{D5CDD505-2E9C-101B-9397-08002B2CF9AE}" pid="4" name="GUID">
    <vt:lpwstr>b8cd00d4-1508-4299-8d02-6f0ea759e7ea</vt:lpwstr>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