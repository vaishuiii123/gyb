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Open Sans" panose="020B0606030504020204" pitchFamily="34" charset="0"/>
      <p:regular r:id="rId10"/>
      <p:bold r:id="rId11"/>
      <p:italic r:id="rId12"/>
      <p:boldItalic r:id="rId13"/>
    </p:embeddedFont>
    <p:embeddedFont>
      <p:font typeface="Open Sans Bold" panose="020B0806030504020204" pitchFamily="34" charset="0"/>
      <p:regular r:id="rId14"/>
      <p:bold r:id="rId15"/>
    </p:embeddedFont>
    <p:embeddedFont>
      <p:font typeface="Open Sans Italics" panose="020B0604020202020204" charset="0"/>
      <p:regular r:id="rId16"/>
    </p:embeddedFont>
    <p:embeddedFont>
      <p:font typeface="Open Sans Medium" panose="020B0604020202020204" charset="0"/>
      <p:regular r:id="rId17"/>
    </p:embeddedFont>
    <p:embeddedFont>
      <p:font typeface="Open Sans Semi-Bold" panose="020B0604020202020204" charset="0"/>
      <p:regular r:id="rId18"/>
    </p:embeddedFont>
    <p:embeddedFont>
      <p:font typeface="Poppins" panose="00000500000000000000" pitchFamily="2" charset="0"/>
      <p:regular r:id="rId19"/>
      <p:bold r:id="rId20"/>
      <p:italic r:id="rId21"/>
      <p:boldItalic r:id="rId22"/>
    </p:embeddedFont>
    <p:embeddedFont>
      <p:font typeface="Poppins Bold" panose="00000800000000000000" pitchFamily="2" charset="0"/>
      <p:regular r:id="rId23"/>
      <p:bold r:id="rId24"/>
    </p:embeddedFont>
    <p:embeddedFont>
      <p:font typeface="Poppins Medium" panose="00000600000000000000" pitchFamily="2" charset="0"/>
      <p:regular r:id="rId25"/>
      <p:italic r:id="rId26"/>
    </p:embeddedFont>
    <p:embeddedFont>
      <p:font typeface="Poppins Semi-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864" userDrawn="1">
          <p15:clr>
            <a:srgbClr val="A4A3A4"/>
          </p15:clr>
        </p15:guide>
        <p15:guide id="4" pos="106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8" d="100"/>
          <a:sy n="68" d="100"/>
        </p:scale>
        <p:origin x="816" y="72"/>
      </p:cViewPr>
      <p:guideLst>
        <p:guide orient="horz" pos="2160"/>
        <p:guide pos="2880"/>
        <p:guide pos="864"/>
        <p:guide pos="10608"/>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font" Target="fonts/font17.fntdata"/><Relationship Id="rId3" Type="http://schemas.openxmlformats.org/officeDocument/2006/relationships/slide" Target="slides/slide2.xml"/><Relationship Id="rId21" Type="http://schemas.openxmlformats.org/officeDocument/2006/relationships/font" Target="fonts/font12.fntdata"/><Relationship Id="rId34"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font" Target="fonts/font16.fntdata"/><Relationship Id="rId33"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font" Target="fonts/font15.fntdata"/><Relationship Id="rId32"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font" Target="fonts/font14.fntdata"/><Relationship Id="rId28" Type="http://schemas.openxmlformats.org/officeDocument/2006/relationships/presProps" Target="presProps.xml"/><Relationship Id="rId10" Type="http://schemas.openxmlformats.org/officeDocument/2006/relationships/font" Target="fonts/font1.fntdata"/><Relationship Id="rId19" Type="http://schemas.openxmlformats.org/officeDocument/2006/relationships/font" Target="fonts/font10.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 Id="rId22" Type="http://schemas.openxmlformats.org/officeDocument/2006/relationships/font" Target="fonts/font13.fntdata"/><Relationship Id="rId27" Type="http://schemas.openxmlformats.org/officeDocument/2006/relationships/font" Target="fonts/font18.fntdata"/><Relationship Id="rId30"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1.svg"/><Relationship Id="rId7" Type="http://schemas.openxmlformats.org/officeDocument/2006/relationships/image" Target="../media/image7.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3.svg"/><Relationship Id="rId7" Type="http://schemas.openxmlformats.org/officeDocument/2006/relationships/image" Target="../media/image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3.svg"/><Relationship Id="rId7" Type="http://schemas.openxmlformats.org/officeDocument/2006/relationships/image" Target="../media/image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3.svg"/><Relationship Id="rId7" Type="http://schemas.openxmlformats.org/officeDocument/2006/relationships/image" Target="../media/image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5.svg"/><Relationship Id="rId5" Type="http://schemas.openxmlformats.org/officeDocument/2006/relationships/image" Target="../media/image5.svg"/><Relationship Id="rId10" Type="http://schemas.openxmlformats.org/officeDocument/2006/relationships/image" Target="../media/image14.png"/><Relationship Id="rId4" Type="http://schemas.openxmlformats.org/officeDocument/2006/relationships/image" Target="../media/image4.png"/><Relationship Id="rId9" Type="http://schemas.openxmlformats.org/officeDocument/2006/relationships/image" Target="../media/image9.sv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7.svg"/><Relationship Id="rId3" Type="http://schemas.openxmlformats.org/officeDocument/2006/relationships/image" Target="../media/image13.svg"/><Relationship Id="rId7" Type="http://schemas.openxmlformats.org/officeDocument/2006/relationships/image" Target="../media/image7.svg"/><Relationship Id="rId12"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5.svg"/><Relationship Id="rId5" Type="http://schemas.openxmlformats.org/officeDocument/2006/relationships/image" Target="../media/image5.svg"/><Relationship Id="rId10" Type="http://schemas.openxmlformats.org/officeDocument/2006/relationships/image" Target="../media/image14.png"/><Relationship Id="rId4" Type="http://schemas.openxmlformats.org/officeDocument/2006/relationships/image" Target="../media/image4.png"/><Relationship Id="rId9" Type="http://schemas.openxmlformats.org/officeDocument/2006/relationships/image" Target="../media/image9.svg"/></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604552" y="3223224"/>
            <a:ext cx="7882956" cy="5573211"/>
            <a:chOff x="0" y="0"/>
            <a:chExt cx="10510608" cy="7430948"/>
          </a:xfrm>
        </p:grpSpPr>
        <p:sp>
          <p:nvSpPr>
            <p:cNvPr id="3" name="Freeform 3"/>
            <p:cNvSpPr/>
            <p:nvPr/>
          </p:nvSpPr>
          <p:spPr>
            <a:xfrm>
              <a:off x="0" y="0"/>
              <a:ext cx="7390416" cy="7430948"/>
            </a:xfrm>
            <a:custGeom>
              <a:avLst/>
              <a:gdLst/>
              <a:ahLst/>
              <a:cxnLst/>
              <a:rect l="l" t="t" r="r" b="b"/>
              <a:pathLst>
                <a:path w="7390416" h="7430948">
                  <a:moveTo>
                    <a:pt x="0" y="0"/>
                  </a:moveTo>
                  <a:lnTo>
                    <a:pt x="7390416" y="0"/>
                  </a:lnTo>
                  <a:lnTo>
                    <a:pt x="7390416" y="7430948"/>
                  </a:lnTo>
                  <a:lnTo>
                    <a:pt x="0" y="74309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3120193" y="0"/>
              <a:ext cx="7390416" cy="7430948"/>
            </a:xfrm>
            <a:custGeom>
              <a:avLst/>
              <a:gdLst/>
              <a:ahLst/>
              <a:cxnLst/>
              <a:rect l="l" t="t" r="r" b="b"/>
              <a:pathLst>
                <a:path w="7390416" h="7430948">
                  <a:moveTo>
                    <a:pt x="0" y="0"/>
                  </a:moveTo>
                  <a:lnTo>
                    <a:pt x="7390415" y="0"/>
                  </a:lnTo>
                  <a:lnTo>
                    <a:pt x="7390415" y="7430948"/>
                  </a:lnTo>
                  <a:lnTo>
                    <a:pt x="0" y="74309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sp>
        <p:nvSpPr>
          <p:cNvPr id="5" name="Freeform 5"/>
          <p:cNvSpPr/>
          <p:nvPr/>
        </p:nvSpPr>
        <p:spPr>
          <a:xfrm>
            <a:off x="1028198" y="705692"/>
            <a:ext cx="1734743" cy="629964"/>
          </a:xfrm>
          <a:custGeom>
            <a:avLst/>
            <a:gdLst/>
            <a:ahLst/>
            <a:cxnLst/>
            <a:rect l="l" t="t" r="r" b="b"/>
            <a:pathLst>
              <a:path w="1734743" h="629964">
                <a:moveTo>
                  <a:pt x="0" y="0"/>
                </a:moveTo>
                <a:lnTo>
                  <a:pt x="1734743" y="0"/>
                </a:lnTo>
                <a:lnTo>
                  <a:pt x="1734743" y="629964"/>
                </a:lnTo>
                <a:lnTo>
                  <a:pt x="0" y="629964"/>
                </a:lnTo>
                <a:lnTo>
                  <a:pt x="0" y="0"/>
                </a:lnTo>
                <a:close/>
              </a:path>
            </a:pathLst>
          </a:custGeom>
          <a:blipFill>
            <a:blip r:embed="rId4"/>
            <a:stretch>
              <a:fillRect t="-3697" b="-3697"/>
            </a:stretch>
          </a:blipFill>
        </p:spPr>
        <p:txBody>
          <a:bodyPr/>
          <a:lstStyle/>
          <a:p>
            <a:endParaRPr lang="en-IN"/>
          </a:p>
        </p:txBody>
      </p:sp>
      <p:grpSp>
        <p:nvGrpSpPr>
          <p:cNvPr id="6" name="Group 6"/>
          <p:cNvGrpSpPr/>
          <p:nvPr/>
        </p:nvGrpSpPr>
        <p:grpSpPr>
          <a:xfrm>
            <a:off x="14637974" y="705692"/>
            <a:ext cx="2570760" cy="359245"/>
            <a:chOff x="0" y="0"/>
            <a:chExt cx="3427680" cy="478993"/>
          </a:xfrm>
        </p:grpSpPr>
        <p:sp>
          <p:nvSpPr>
            <p:cNvPr id="7" name="Freeform 7"/>
            <p:cNvSpPr/>
            <p:nvPr/>
          </p:nvSpPr>
          <p:spPr>
            <a:xfrm>
              <a:off x="2198699" y="0"/>
              <a:ext cx="503540" cy="478993"/>
            </a:xfrm>
            <a:custGeom>
              <a:avLst/>
              <a:gdLst/>
              <a:ahLst/>
              <a:cxnLst/>
              <a:rect l="l" t="t" r="r" b="b"/>
              <a:pathLst>
                <a:path w="503540" h="478993">
                  <a:moveTo>
                    <a:pt x="0" y="0"/>
                  </a:moveTo>
                  <a:lnTo>
                    <a:pt x="503540" y="0"/>
                  </a:lnTo>
                  <a:lnTo>
                    <a:pt x="503540" y="478993"/>
                  </a:lnTo>
                  <a:lnTo>
                    <a:pt x="0" y="47899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8" name="Freeform 8"/>
            <p:cNvSpPr/>
            <p:nvPr/>
          </p:nvSpPr>
          <p:spPr>
            <a:xfrm>
              <a:off x="2948687" y="0"/>
              <a:ext cx="478993" cy="478993"/>
            </a:xfrm>
            <a:custGeom>
              <a:avLst/>
              <a:gdLst/>
              <a:ahLst/>
              <a:cxnLst/>
              <a:rect l="l" t="t" r="r" b="b"/>
              <a:pathLst>
                <a:path w="478993" h="478993">
                  <a:moveTo>
                    <a:pt x="0" y="0"/>
                  </a:moveTo>
                  <a:lnTo>
                    <a:pt x="478993" y="0"/>
                  </a:lnTo>
                  <a:lnTo>
                    <a:pt x="478993" y="478993"/>
                  </a:lnTo>
                  <a:lnTo>
                    <a:pt x="0" y="47899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9" name="TextBox 9"/>
            <p:cNvSpPr txBox="1"/>
            <p:nvPr/>
          </p:nvSpPr>
          <p:spPr>
            <a:xfrm>
              <a:off x="0" y="54445"/>
              <a:ext cx="1948790" cy="370104"/>
            </a:xfrm>
            <a:prstGeom prst="rect">
              <a:avLst/>
            </a:prstGeom>
          </p:spPr>
          <p:txBody>
            <a:bodyPr lIns="0" tIns="0" rIns="0" bIns="0" rtlCol="0" anchor="t">
              <a:spAutoFit/>
            </a:bodyPr>
            <a:lstStyle/>
            <a:p>
              <a:pPr marL="0" lvl="0" indent="0" algn="ctr">
                <a:lnSpc>
                  <a:spcPts val="2009"/>
                </a:lnSpc>
                <a:spcBef>
                  <a:spcPct val="0"/>
                </a:spcBef>
              </a:pPr>
              <a:r>
                <a:rPr lang="en-US" sz="1827" b="1" u="none" strike="noStrike">
                  <a:solidFill>
                    <a:srgbClr val="6A0B23"/>
                  </a:solidFill>
                  <a:latin typeface="Poppins Medium"/>
                  <a:ea typeface="Poppins Medium"/>
                  <a:cs typeface="Poppins Medium"/>
                  <a:sym typeface="Poppins Medium"/>
                </a:rPr>
                <a:t>About KNAV </a:t>
              </a:r>
            </a:p>
          </p:txBody>
        </p:sp>
      </p:grpSp>
      <p:grpSp>
        <p:nvGrpSpPr>
          <p:cNvPr id="10" name="Group 10"/>
          <p:cNvGrpSpPr/>
          <p:nvPr/>
        </p:nvGrpSpPr>
        <p:grpSpPr>
          <a:xfrm>
            <a:off x="9439964" y="5229284"/>
            <a:ext cx="5174050" cy="496639"/>
            <a:chOff x="0" y="0"/>
            <a:chExt cx="1363378" cy="130866"/>
          </a:xfrm>
        </p:grpSpPr>
        <p:sp>
          <p:nvSpPr>
            <p:cNvPr id="11" name="Freeform 11"/>
            <p:cNvSpPr/>
            <p:nvPr/>
          </p:nvSpPr>
          <p:spPr>
            <a:xfrm>
              <a:off x="0" y="0"/>
              <a:ext cx="1363378" cy="130866"/>
            </a:xfrm>
            <a:custGeom>
              <a:avLst/>
              <a:gdLst/>
              <a:ahLst/>
              <a:cxnLst/>
              <a:rect l="l" t="t" r="r" b="b"/>
              <a:pathLst>
                <a:path w="1363378" h="130866">
                  <a:moveTo>
                    <a:pt x="0" y="0"/>
                  </a:moveTo>
                  <a:lnTo>
                    <a:pt x="1363378" y="0"/>
                  </a:lnTo>
                  <a:lnTo>
                    <a:pt x="1363378" y="130866"/>
                  </a:lnTo>
                  <a:lnTo>
                    <a:pt x="0" y="130866"/>
                  </a:lnTo>
                  <a:close/>
                </a:path>
              </a:pathLst>
            </a:custGeom>
            <a:solidFill>
              <a:srgbClr val="FFFFFF"/>
            </a:solidFill>
          </p:spPr>
          <p:txBody>
            <a:bodyPr/>
            <a:lstStyle/>
            <a:p>
              <a:endParaRPr lang="en-IN"/>
            </a:p>
          </p:txBody>
        </p:sp>
        <p:sp>
          <p:nvSpPr>
            <p:cNvPr id="12" name="TextBox 12"/>
            <p:cNvSpPr txBox="1"/>
            <p:nvPr/>
          </p:nvSpPr>
          <p:spPr>
            <a:xfrm>
              <a:off x="0" y="-66675"/>
              <a:ext cx="1363378" cy="197541"/>
            </a:xfrm>
            <a:prstGeom prst="rect">
              <a:avLst/>
            </a:prstGeom>
          </p:spPr>
          <p:txBody>
            <a:bodyPr lIns="71403" tIns="71403" rIns="71403" bIns="71403" rtlCol="0" anchor="ctr"/>
            <a:lstStyle/>
            <a:p>
              <a:pPr algn="ctr">
                <a:lnSpc>
                  <a:spcPts val="2558"/>
                </a:lnSpc>
              </a:pPr>
              <a:endParaRPr/>
            </a:p>
          </p:txBody>
        </p:sp>
      </p:grpSp>
      <p:grpSp>
        <p:nvGrpSpPr>
          <p:cNvPr id="13" name="Group 13"/>
          <p:cNvGrpSpPr/>
          <p:nvPr/>
        </p:nvGrpSpPr>
        <p:grpSpPr>
          <a:xfrm>
            <a:off x="9439964" y="5959329"/>
            <a:ext cx="5174050" cy="496639"/>
            <a:chOff x="0" y="0"/>
            <a:chExt cx="1363378" cy="130866"/>
          </a:xfrm>
        </p:grpSpPr>
        <p:sp>
          <p:nvSpPr>
            <p:cNvPr id="14" name="Freeform 14"/>
            <p:cNvSpPr/>
            <p:nvPr/>
          </p:nvSpPr>
          <p:spPr>
            <a:xfrm>
              <a:off x="0" y="0"/>
              <a:ext cx="1363378" cy="130866"/>
            </a:xfrm>
            <a:custGeom>
              <a:avLst/>
              <a:gdLst/>
              <a:ahLst/>
              <a:cxnLst/>
              <a:rect l="l" t="t" r="r" b="b"/>
              <a:pathLst>
                <a:path w="1363378" h="130866">
                  <a:moveTo>
                    <a:pt x="0" y="0"/>
                  </a:moveTo>
                  <a:lnTo>
                    <a:pt x="1363378" y="0"/>
                  </a:lnTo>
                  <a:lnTo>
                    <a:pt x="1363378" y="130866"/>
                  </a:lnTo>
                  <a:lnTo>
                    <a:pt x="0" y="130866"/>
                  </a:lnTo>
                  <a:close/>
                </a:path>
              </a:pathLst>
            </a:custGeom>
            <a:solidFill>
              <a:srgbClr val="FFFFFF"/>
            </a:solidFill>
          </p:spPr>
          <p:txBody>
            <a:bodyPr/>
            <a:lstStyle/>
            <a:p>
              <a:endParaRPr lang="en-IN"/>
            </a:p>
          </p:txBody>
        </p:sp>
        <p:sp>
          <p:nvSpPr>
            <p:cNvPr id="15" name="TextBox 15"/>
            <p:cNvSpPr txBox="1"/>
            <p:nvPr/>
          </p:nvSpPr>
          <p:spPr>
            <a:xfrm>
              <a:off x="0" y="-66675"/>
              <a:ext cx="1363378" cy="197541"/>
            </a:xfrm>
            <a:prstGeom prst="rect">
              <a:avLst/>
            </a:prstGeom>
          </p:spPr>
          <p:txBody>
            <a:bodyPr lIns="71403" tIns="71403" rIns="71403" bIns="71403" rtlCol="0" anchor="ctr"/>
            <a:lstStyle/>
            <a:p>
              <a:pPr algn="ctr">
                <a:lnSpc>
                  <a:spcPts val="2558"/>
                </a:lnSpc>
              </a:pPr>
              <a:endParaRPr/>
            </a:p>
          </p:txBody>
        </p:sp>
      </p:grpSp>
      <p:grpSp>
        <p:nvGrpSpPr>
          <p:cNvPr id="16" name="Group 16"/>
          <p:cNvGrpSpPr/>
          <p:nvPr/>
        </p:nvGrpSpPr>
        <p:grpSpPr>
          <a:xfrm>
            <a:off x="9439964" y="6683563"/>
            <a:ext cx="5174050" cy="496639"/>
            <a:chOff x="0" y="0"/>
            <a:chExt cx="1363378" cy="130866"/>
          </a:xfrm>
        </p:grpSpPr>
        <p:sp>
          <p:nvSpPr>
            <p:cNvPr id="17" name="Freeform 17"/>
            <p:cNvSpPr/>
            <p:nvPr/>
          </p:nvSpPr>
          <p:spPr>
            <a:xfrm>
              <a:off x="0" y="0"/>
              <a:ext cx="1363378" cy="130866"/>
            </a:xfrm>
            <a:custGeom>
              <a:avLst/>
              <a:gdLst/>
              <a:ahLst/>
              <a:cxnLst/>
              <a:rect l="l" t="t" r="r" b="b"/>
              <a:pathLst>
                <a:path w="1363378" h="130866">
                  <a:moveTo>
                    <a:pt x="0" y="0"/>
                  </a:moveTo>
                  <a:lnTo>
                    <a:pt x="1363378" y="0"/>
                  </a:lnTo>
                  <a:lnTo>
                    <a:pt x="1363378" y="130866"/>
                  </a:lnTo>
                  <a:lnTo>
                    <a:pt x="0" y="130866"/>
                  </a:lnTo>
                  <a:close/>
                </a:path>
              </a:pathLst>
            </a:custGeom>
            <a:solidFill>
              <a:srgbClr val="FFFFFF"/>
            </a:solidFill>
          </p:spPr>
          <p:txBody>
            <a:bodyPr/>
            <a:lstStyle/>
            <a:p>
              <a:endParaRPr lang="en-IN"/>
            </a:p>
          </p:txBody>
        </p:sp>
        <p:sp>
          <p:nvSpPr>
            <p:cNvPr id="18" name="TextBox 18"/>
            <p:cNvSpPr txBox="1"/>
            <p:nvPr/>
          </p:nvSpPr>
          <p:spPr>
            <a:xfrm>
              <a:off x="0" y="-66675"/>
              <a:ext cx="1363378" cy="197541"/>
            </a:xfrm>
            <a:prstGeom prst="rect">
              <a:avLst/>
            </a:prstGeom>
          </p:spPr>
          <p:txBody>
            <a:bodyPr lIns="71403" tIns="71403" rIns="71403" bIns="71403" rtlCol="0" anchor="ctr"/>
            <a:lstStyle/>
            <a:p>
              <a:pPr algn="ctr">
                <a:lnSpc>
                  <a:spcPts val="2558"/>
                </a:lnSpc>
              </a:pPr>
              <a:endParaRPr/>
            </a:p>
          </p:txBody>
        </p:sp>
      </p:grpSp>
      <p:grpSp>
        <p:nvGrpSpPr>
          <p:cNvPr id="19" name="Group 19"/>
          <p:cNvGrpSpPr/>
          <p:nvPr/>
        </p:nvGrpSpPr>
        <p:grpSpPr>
          <a:xfrm>
            <a:off x="13051987" y="7501514"/>
            <a:ext cx="1562027" cy="444154"/>
            <a:chOff x="0" y="0"/>
            <a:chExt cx="411599" cy="117036"/>
          </a:xfrm>
        </p:grpSpPr>
        <p:sp>
          <p:nvSpPr>
            <p:cNvPr id="20" name="Freeform 20"/>
            <p:cNvSpPr/>
            <p:nvPr/>
          </p:nvSpPr>
          <p:spPr>
            <a:xfrm>
              <a:off x="0" y="0"/>
              <a:ext cx="411599" cy="117036"/>
            </a:xfrm>
            <a:custGeom>
              <a:avLst/>
              <a:gdLst/>
              <a:ahLst/>
              <a:cxnLst/>
              <a:rect l="l" t="t" r="r" b="b"/>
              <a:pathLst>
                <a:path w="411599" h="117036">
                  <a:moveTo>
                    <a:pt x="0" y="0"/>
                  </a:moveTo>
                  <a:lnTo>
                    <a:pt x="411599" y="0"/>
                  </a:lnTo>
                  <a:lnTo>
                    <a:pt x="411599" y="117036"/>
                  </a:lnTo>
                  <a:lnTo>
                    <a:pt x="0" y="117036"/>
                  </a:lnTo>
                  <a:close/>
                </a:path>
              </a:pathLst>
            </a:custGeom>
            <a:solidFill>
              <a:srgbClr val="6A0B23"/>
            </a:solidFill>
          </p:spPr>
          <p:txBody>
            <a:bodyPr/>
            <a:lstStyle/>
            <a:p>
              <a:endParaRPr lang="en-IN"/>
            </a:p>
          </p:txBody>
        </p:sp>
        <p:sp>
          <p:nvSpPr>
            <p:cNvPr id="21" name="TextBox 21"/>
            <p:cNvSpPr txBox="1"/>
            <p:nvPr/>
          </p:nvSpPr>
          <p:spPr>
            <a:xfrm>
              <a:off x="0" y="-66675"/>
              <a:ext cx="411599" cy="183711"/>
            </a:xfrm>
            <a:prstGeom prst="rect">
              <a:avLst/>
            </a:prstGeom>
          </p:spPr>
          <p:txBody>
            <a:bodyPr lIns="71403" tIns="71403" rIns="71403" bIns="71403" rtlCol="0" anchor="ctr"/>
            <a:lstStyle/>
            <a:p>
              <a:pPr algn="ctr">
                <a:lnSpc>
                  <a:spcPts val="2558"/>
                </a:lnSpc>
              </a:pPr>
              <a:endParaRPr/>
            </a:p>
          </p:txBody>
        </p:sp>
      </p:grpSp>
      <p:sp>
        <p:nvSpPr>
          <p:cNvPr id="22" name="TextBox 22"/>
          <p:cNvSpPr txBox="1"/>
          <p:nvPr/>
        </p:nvSpPr>
        <p:spPr>
          <a:xfrm>
            <a:off x="9634639" y="6029994"/>
            <a:ext cx="2392350" cy="280321"/>
          </a:xfrm>
          <a:prstGeom prst="rect">
            <a:avLst/>
          </a:prstGeom>
        </p:spPr>
        <p:txBody>
          <a:bodyPr lIns="0" tIns="0" rIns="0" bIns="0" rtlCol="0" anchor="t">
            <a:spAutoFit/>
          </a:bodyPr>
          <a:lstStyle/>
          <a:p>
            <a:pPr algn="l">
              <a:lnSpc>
                <a:spcPts val="2358"/>
              </a:lnSpc>
            </a:pPr>
            <a:r>
              <a:rPr lang="en-US" sz="1684" b="1">
                <a:solidFill>
                  <a:srgbClr val="545454"/>
                </a:solidFill>
                <a:latin typeface="Open Sans Semi-Bold"/>
                <a:ea typeface="Open Sans Semi-Bold"/>
                <a:cs typeface="Open Sans Semi-Bold"/>
                <a:sym typeface="Open Sans Semi-Bold"/>
              </a:rPr>
              <a:t>Organization name </a:t>
            </a:r>
          </a:p>
        </p:txBody>
      </p:sp>
      <p:sp>
        <p:nvSpPr>
          <p:cNvPr id="23" name="TextBox 23"/>
          <p:cNvSpPr txBox="1"/>
          <p:nvPr/>
        </p:nvSpPr>
        <p:spPr>
          <a:xfrm>
            <a:off x="9439964" y="8381810"/>
            <a:ext cx="1066865" cy="180606"/>
          </a:xfrm>
          <a:prstGeom prst="rect">
            <a:avLst/>
          </a:prstGeom>
        </p:spPr>
        <p:txBody>
          <a:bodyPr lIns="0" tIns="0" rIns="0" bIns="0" rtlCol="0" anchor="t">
            <a:spAutoFit/>
          </a:bodyPr>
          <a:lstStyle/>
          <a:p>
            <a:pPr algn="l">
              <a:lnSpc>
                <a:spcPts val="1571"/>
              </a:lnSpc>
            </a:pPr>
            <a:r>
              <a:rPr lang="en-US" sz="1122" b="1">
                <a:solidFill>
                  <a:srgbClr val="545454"/>
                </a:solidFill>
                <a:latin typeface="Open Sans Semi-Bold"/>
                <a:ea typeface="Open Sans Semi-Bold"/>
                <a:cs typeface="Open Sans Semi-Bold"/>
                <a:sym typeface="Open Sans Semi-Bold"/>
              </a:rPr>
              <a:t>Remember me </a:t>
            </a:r>
          </a:p>
        </p:txBody>
      </p:sp>
      <p:sp>
        <p:nvSpPr>
          <p:cNvPr id="24" name="TextBox 24"/>
          <p:cNvSpPr txBox="1"/>
          <p:nvPr/>
        </p:nvSpPr>
        <p:spPr>
          <a:xfrm>
            <a:off x="13547149" y="8381810"/>
            <a:ext cx="1066865" cy="180606"/>
          </a:xfrm>
          <a:prstGeom prst="rect">
            <a:avLst/>
          </a:prstGeom>
        </p:spPr>
        <p:txBody>
          <a:bodyPr lIns="0" tIns="0" rIns="0" bIns="0" rtlCol="0" anchor="t">
            <a:spAutoFit/>
          </a:bodyPr>
          <a:lstStyle/>
          <a:p>
            <a:pPr algn="r">
              <a:lnSpc>
                <a:spcPts val="1571"/>
              </a:lnSpc>
            </a:pPr>
            <a:r>
              <a:rPr lang="en-US" sz="1122" b="1">
                <a:solidFill>
                  <a:srgbClr val="545454"/>
                </a:solidFill>
                <a:latin typeface="Open Sans Semi-Bold"/>
                <a:ea typeface="Open Sans Semi-Bold"/>
                <a:cs typeface="Open Sans Semi-Bold"/>
                <a:sym typeface="Open Sans Semi-Bold"/>
              </a:rPr>
              <a:t>Need Help?</a:t>
            </a:r>
          </a:p>
        </p:txBody>
      </p:sp>
      <p:sp>
        <p:nvSpPr>
          <p:cNvPr id="25" name="TextBox 25"/>
          <p:cNvSpPr txBox="1"/>
          <p:nvPr/>
        </p:nvSpPr>
        <p:spPr>
          <a:xfrm>
            <a:off x="9634639" y="5344308"/>
            <a:ext cx="2392350" cy="280321"/>
          </a:xfrm>
          <a:prstGeom prst="rect">
            <a:avLst/>
          </a:prstGeom>
        </p:spPr>
        <p:txBody>
          <a:bodyPr lIns="0" tIns="0" rIns="0" bIns="0" rtlCol="0" anchor="t">
            <a:spAutoFit/>
          </a:bodyPr>
          <a:lstStyle/>
          <a:p>
            <a:pPr algn="l">
              <a:lnSpc>
                <a:spcPts val="2358"/>
              </a:lnSpc>
            </a:pPr>
            <a:r>
              <a:rPr lang="en-US" sz="1684" b="1">
                <a:solidFill>
                  <a:srgbClr val="545454"/>
                </a:solidFill>
                <a:latin typeface="Open Sans Semi-Bold"/>
                <a:ea typeface="Open Sans Semi-Bold"/>
                <a:cs typeface="Open Sans Semi-Bold"/>
                <a:sym typeface="Open Sans Semi-Bold"/>
              </a:rPr>
              <a:t>Username</a:t>
            </a:r>
          </a:p>
        </p:txBody>
      </p:sp>
      <p:sp>
        <p:nvSpPr>
          <p:cNvPr id="26" name="TextBox 26"/>
          <p:cNvSpPr txBox="1"/>
          <p:nvPr/>
        </p:nvSpPr>
        <p:spPr>
          <a:xfrm>
            <a:off x="9634639" y="6759412"/>
            <a:ext cx="2392350" cy="280321"/>
          </a:xfrm>
          <a:prstGeom prst="rect">
            <a:avLst/>
          </a:prstGeom>
        </p:spPr>
        <p:txBody>
          <a:bodyPr lIns="0" tIns="0" rIns="0" bIns="0" rtlCol="0" anchor="t">
            <a:spAutoFit/>
          </a:bodyPr>
          <a:lstStyle/>
          <a:p>
            <a:pPr algn="l">
              <a:lnSpc>
                <a:spcPts val="2358"/>
              </a:lnSpc>
            </a:pPr>
            <a:r>
              <a:rPr lang="en-US" sz="1684" b="1">
                <a:solidFill>
                  <a:srgbClr val="545454"/>
                </a:solidFill>
                <a:latin typeface="Open Sans Semi-Bold"/>
                <a:ea typeface="Open Sans Semi-Bold"/>
                <a:cs typeface="Open Sans Semi-Bold"/>
                <a:sym typeface="Open Sans Semi-Bold"/>
              </a:rPr>
              <a:t>Password </a:t>
            </a:r>
          </a:p>
        </p:txBody>
      </p:sp>
      <p:sp>
        <p:nvSpPr>
          <p:cNvPr id="27" name="TextBox 27"/>
          <p:cNvSpPr txBox="1"/>
          <p:nvPr/>
        </p:nvSpPr>
        <p:spPr>
          <a:xfrm>
            <a:off x="13167096" y="7569143"/>
            <a:ext cx="1331809" cy="280321"/>
          </a:xfrm>
          <a:prstGeom prst="rect">
            <a:avLst/>
          </a:prstGeom>
        </p:spPr>
        <p:txBody>
          <a:bodyPr lIns="0" tIns="0" rIns="0" bIns="0" rtlCol="0" anchor="t">
            <a:spAutoFit/>
          </a:bodyPr>
          <a:lstStyle/>
          <a:p>
            <a:pPr algn="ctr">
              <a:lnSpc>
                <a:spcPts val="2358"/>
              </a:lnSpc>
            </a:pPr>
            <a:r>
              <a:rPr lang="en-US" sz="1684" b="1">
                <a:solidFill>
                  <a:srgbClr val="FFFFFF"/>
                </a:solidFill>
                <a:latin typeface="Open Sans Semi-Bold"/>
                <a:ea typeface="Open Sans Semi-Bold"/>
                <a:cs typeface="Open Sans Semi-Bold"/>
                <a:sym typeface="Open Sans Semi-Bold"/>
              </a:rPr>
              <a:t>Get Started </a:t>
            </a:r>
          </a:p>
        </p:txBody>
      </p:sp>
      <p:sp>
        <p:nvSpPr>
          <p:cNvPr id="28" name="TextBox 28"/>
          <p:cNvSpPr txBox="1"/>
          <p:nvPr/>
        </p:nvSpPr>
        <p:spPr>
          <a:xfrm>
            <a:off x="9439964" y="2555432"/>
            <a:ext cx="7768770" cy="745265"/>
          </a:xfrm>
          <a:prstGeom prst="rect">
            <a:avLst/>
          </a:prstGeom>
        </p:spPr>
        <p:txBody>
          <a:bodyPr lIns="0" tIns="0" rIns="0" bIns="0" rtlCol="0" anchor="t">
            <a:spAutoFit/>
          </a:bodyPr>
          <a:lstStyle/>
          <a:p>
            <a:pPr algn="l">
              <a:lnSpc>
                <a:spcPts val="5411"/>
              </a:lnSpc>
            </a:pPr>
            <a:r>
              <a:rPr lang="en-US" sz="4919" b="1">
                <a:solidFill>
                  <a:srgbClr val="6A0B23"/>
                </a:solidFill>
                <a:latin typeface="Poppins Semi-Bold"/>
                <a:ea typeface="Poppins Semi-Bold"/>
                <a:cs typeface="Poppins Semi-Bold"/>
                <a:sym typeface="Poppins Semi-Bold"/>
              </a:rPr>
              <a:t>GROW YOUR BUSINESS</a:t>
            </a:r>
          </a:p>
        </p:txBody>
      </p:sp>
      <p:sp>
        <p:nvSpPr>
          <p:cNvPr id="29" name="TextBox 29"/>
          <p:cNvSpPr txBox="1"/>
          <p:nvPr/>
        </p:nvSpPr>
        <p:spPr>
          <a:xfrm>
            <a:off x="9439964" y="3439676"/>
            <a:ext cx="6894452" cy="504361"/>
          </a:xfrm>
          <a:prstGeom prst="rect">
            <a:avLst/>
          </a:prstGeom>
        </p:spPr>
        <p:txBody>
          <a:bodyPr lIns="0" tIns="0" rIns="0" bIns="0" rtlCol="0" anchor="t">
            <a:spAutoFit/>
          </a:bodyPr>
          <a:lstStyle/>
          <a:p>
            <a:pPr algn="l">
              <a:lnSpc>
                <a:spcPts val="4129"/>
              </a:lnSpc>
            </a:pPr>
            <a:r>
              <a:rPr lang="en-US" sz="2949">
                <a:solidFill>
                  <a:srgbClr val="545454"/>
                </a:solidFill>
                <a:latin typeface="Open Sans"/>
                <a:ea typeface="Open Sans"/>
                <a:cs typeface="Open Sans"/>
                <a:sym typeface="Open Sans"/>
              </a:rPr>
              <a:t>Organisation Delvelopment Workshop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TextBox 2"/>
          <p:cNvSpPr txBox="1"/>
          <p:nvPr/>
        </p:nvSpPr>
        <p:spPr>
          <a:xfrm>
            <a:off x="6192125" y="4729030"/>
            <a:ext cx="5903751" cy="752740"/>
          </a:xfrm>
          <a:prstGeom prst="rect">
            <a:avLst/>
          </a:prstGeom>
        </p:spPr>
        <p:txBody>
          <a:bodyPr lIns="0" tIns="0" rIns="0" bIns="0" rtlCol="0" anchor="t">
            <a:spAutoFit/>
          </a:bodyPr>
          <a:lstStyle/>
          <a:p>
            <a:pPr algn="ctr">
              <a:lnSpc>
                <a:spcPts val="3148"/>
              </a:lnSpc>
            </a:pPr>
            <a:r>
              <a:rPr lang="en-US" sz="1967">
                <a:solidFill>
                  <a:srgbClr val="545454"/>
                </a:solidFill>
                <a:latin typeface="Open Sans"/>
                <a:ea typeface="Open Sans"/>
                <a:cs typeface="Open Sans"/>
                <a:sym typeface="Open Sans"/>
              </a:rPr>
              <a:t>Welcome [Name] to KNAV’s Grow Your Business: </a:t>
            </a:r>
            <a:r>
              <a:rPr lang="en-US" sz="1967" b="1">
                <a:solidFill>
                  <a:srgbClr val="6A0B23"/>
                </a:solidFill>
                <a:latin typeface="Open Sans Medium"/>
                <a:ea typeface="Open Sans Medium"/>
                <a:cs typeface="Open Sans Medium"/>
                <a:sym typeface="Open Sans Medium"/>
              </a:rPr>
              <a:t>Organization Development Workshop</a:t>
            </a:r>
          </a:p>
        </p:txBody>
      </p:sp>
      <p:sp>
        <p:nvSpPr>
          <p:cNvPr id="3" name="Freeform 3"/>
          <p:cNvSpPr/>
          <p:nvPr/>
        </p:nvSpPr>
        <p:spPr>
          <a:xfrm>
            <a:off x="16286999" y="705692"/>
            <a:ext cx="377655" cy="359245"/>
          </a:xfrm>
          <a:custGeom>
            <a:avLst/>
            <a:gdLst/>
            <a:ahLst/>
            <a:cxnLst/>
            <a:rect l="l" t="t" r="r" b="b"/>
            <a:pathLst>
              <a:path w="377655" h="359245">
                <a:moveTo>
                  <a:pt x="0" y="0"/>
                </a:moveTo>
                <a:lnTo>
                  <a:pt x="377655" y="0"/>
                </a:lnTo>
                <a:lnTo>
                  <a:pt x="377655" y="359244"/>
                </a:lnTo>
                <a:lnTo>
                  <a:pt x="0" y="3592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16849489" y="705692"/>
            <a:ext cx="359245" cy="359245"/>
          </a:xfrm>
          <a:custGeom>
            <a:avLst/>
            <a:gdLst/>
            <a:ahLst/>
            <a:cxnLst/>
            <a:rect l="l" t="t" r="r" b="b"/>
            <a:pathLst>
              <a:path w="359245" h="359245">
                <a:moveTo>
                  <a:pt x="0" y="0"/>
                </a:moveTo>
                <a:lnTo>
                  <a:pt x="359245" y="0"/>
                </a:lnTo>
                <a:lnTo>
                  <a:pt x="359245" y="359244"/>
                </a:lnTo>
                <a:lnTo>
                  <a:pt x="0" y="3592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TextBox 5"/>
          <p:cNvSpPr txBox="1"/>
          <p:nvPr/>
        </p:nvSpPr>
        <p:spPr>
          <a:xfrm>
            <a:off x="14637974" y="746525"/>
            <a:ext cx="1461592" cy="277578"/>
          </a:xfrm>
          <a:prstGeom prst="rect">
            <a:avLst/>
          </a:prstGeom>
        </p:spPr>
        <p:txBody>
          <a:bodyPr lIns="0" tIns="0" rIns="0" bIns="0" rtlCol="0" anchor="t">
            <a:spAutoFit/>
          </a:bodyPr>
          <a:lstStyle/>
          <a:p>
            <a:pPr marL="0" lvl="0" indent="0" algn="r">
              <a:lnSpc>
                <a:spcPts val="2009"/>
              </a:lnSpc>
              <a:spcBef>
                <a:spcPct val="0"/>
              </a:spcBef>
            </a:pPr>
            <a:r>
              <a:rPr lang="en-US" sz="1827">
                <a:solidFill>
                  <a:srgbClr val="6A0B23"/>
                </a:solidFill>
                <a:latin typeface="Poppins"/>
                <a:ea typeface="Poppins"/>
                <a:cs typeface="Poppins"/>
                <a:sym typeface="Poppins"/>
              </a:rPr>
              <a:t>Home</a:t>
            </a:r>
          </a:p>
        </p:txBody>
      </p:sp>
      <p:sp>
        <p:nvSpPr>
          <p:cNvPr id="6" name="Freeform 6"/>
          <p:cNvSpPr/>
          <p:nvPr/>
        </p:nvSpPr>
        <p:spPr>
          <a:xfrm>
            <a:off x="1028198" y="756740"/>
            <a:ext cx="383803" cy="257148"/>
          </a:xfrm>
          <a:custGeom>
            <a:avLst/>
            <a:gdLst/>
            <a:ahLst/>
            <a:cxnLst/>
            <a:rect l="l" t="t" r="r" b="b"/>
            <a:pathLst>
              <a:path w="383803" h="257148">
                <a:moveTo>
                  <a:pt x="0" y="0"/>
                </a:moveTo>
                <a:lnTo>
                  <a:pt x="383803" y="0"/>
                </a:lnTo>
                <a:lnTo>
                  <a:pt x="383803" y="257148"/>
                </a:lnTo>
                <a:lnTo>
                  <a:pt x="0" y="25714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3" name="Freeform 3"/>
          <p:cNvSpPr/>
          <p:nvPr/>
        </p:nvSpPr>
        <p:spPr>
          <a:xfrm>
            <a:off x="1412001" y="1717378"/>
            <a:ext cx="15437484" cy="6852243"/>
          </a:xfrm>
          <a:prstGeom prst="roundRect">
            <a:avLst>
              <a:gd name="adj" fmla="val 2501"/>
            </a:avLst>
          </a:prstGeom>
          <a:solidFill>
            <a:srgbClr val="FFFFFF"/>
          </a:solidFill>
        </p:spPr>
        <p:txBody>
          <a:bodyPr/>
          <a:lstStyle/>
          <a:p>
            <a:endParaRPr lang="en-IN"/>
          </a:p>
        </p:txBody>
      </p:sp>
      <p:sp>
        <p:nvSpPr>
          <p:cNvPr id="4" name="TextBox 4"/>
          <p:cNvSpPr txBox="1"/>
          <p:nvPr/>
        </p:nvSpPr>
        <p:spPr>
          <a:xfrm>
            <a:off x="1412001" y="1753526"/>
            <a:ext cx="15437488" cy="6816095"/>
          </a:xfrm>
          <a:prstGeom prst="rect">
            <a:avLst/>
          </a:prstGeom>
        </p:spPr>
        <p:txBody>
          <a:bodyPr lIns="71403" tIns="71403" rIns="71403" bIns="71403" rtlCol="0" anchor="ctr"/>
          <a:lstStyle/>
          <a:p>
            <a:pPr algn="ctr">
              <a:lnSpc>
                <a:spcPts val="2192"/>
              </a:lnSpc>
            </a:pPr>
            <a:endParaRPr/>
          </a:p>
        </p:txBody>
      </p:sp>
      <p:sp>
        <p:nvSpPr>
          <p:cNvPr id="5" name="TextBox 5"/>
          <p:cNvSpPr txBox="1"/>
          <p:nvPr/>
        </p:nvSpPr>
        <p:spPr>
          <a:xfrm>
            <a:off x="1904380" y="2255352"/>
            <a:ext cx="14382619" cy="4711065"/>
          </a:xfrm>
          <a:prstGeom prst="rect">
            <a:avLst/>
          </a:prstGeom>
        </p:spPr>
        <p:txBody>
          <a:bodyPr lIns="0" tIns="0" rIns="0" bIns="0" rtlCol="0" anchor="t">
            <a:spAutoFit/>
          </a:bodyPr>
          <a:lstStyle/>
          <a:p>
            <a:pPr algn="l">
              <a:lnSpc>
                <a:spcPts val="2340"/>
              </a:lnSpc>
            </a:pPr>
            <a:r>
              <a:rPr lang="en-US" sz="1800">
                <a:solidFill>
                  <a:srgbClr val="545454"/>
                </a:solidFill>
                <a:latin typeface="Open Sans"/>
                <a:ea typeface="Open Sans"/>
                <a:cs typeface="Open Sans"/>
                <a:sym typeface="Open Sans"/>
              </a:rPr>
              <a:t>KNAV is a more than two decades experienced firm of international accountants, tax advisors and business advisors, jointly headquartered in Mumbai (India) and Atlanta (USA). We are present in seven countries worldwide, namely India, Canada, Netherlands, Singapore, Philippines, the UK, and the US.</a:t>
            </a:r>
          </a:p>
          <a:p>
            <a:pPr algn="l">
              <a:lnSpc>
                <a:spcPts val="2340"/>
              </a:lnSpc>
            </a:pPr>
            <a:endParaRPr lang="en-US" sz="1800">
              <a:solidFill>
                <a:srgbClr val="545454"/>
              </a:solidFill>
              <a:latin typeface="Open Sans"/>
              <a:ea typeface="Open Sans"/>
              <a:cs typeface="Open Sans"/>
              <a:sym typeface="Open Sans"/>
            </a:endParaRPr>
          </a:p>
          <a:p>
            <a:pPr algn="l">
              <a:lnSpc>
                <a:spcPts val="2340"/>
              </a:lnSpc>
            </a:pPr>
            <a:r>
              <a:rPr lang="en-US" sz="1800">
                <a:solidFill>
                  <a:srgbClr val="545454"/>
                </a:solidFill>
                <a:latin typeface="Open Sans"/>
                <a:ea typeface="Open Sans"/>
                <a:cs typeface="Open Sans"/>
                <a:sym typeface="Open Sans"/>
              </a:rPr>
              <a:t>In the ever-changing business landscape, adaptability is crucial. KNAV’s Organization Development Workshop offers a collaborative platform for startups, mid-sized enterprises, and established firms. We help businesses align goals, engage stakeholders, and chart a unified course forward in today's resilient-focused environment.</a:t>
            </a:r>
          </a:p>
          <a:p>
            <a:pPr algn="l">
              <a:lnSpc>
                <a:spcPts val="2340"/>
              </a:lnSpc>
            </a:pPr>
            <a:endParaRPr lang="en-US" sz="1800">
              <a:solidFill>
                <a:srgbClr val="545454"/>
              </a:solidFill>
              <a:latin typeface="Open Sans"/>
              <a:ea typeface="Open Sans"/>
              <a:cs typeface="Open Sans"/>
              <a:sym typeface="Open Sans"/>
            </a:endParaRPr>
          </a:p>
          <a:p>
            <a:pPr algn="l">
              <a:lnSpc>
                <a:spcPts val="2340"/>
              </a:lnSpc>
            </a:pPr>
            <a:r>
              <a:rPr lang="en-US" sz="1800">
                <a:solidFill>
                  <a:srgbClr val="545454"/>
                </a:solidFill>
                <a:latin typeface="Open Sans"/>
                <a:ea typeface="Open Sans"/>
                <a:cs typeface="Open Sans"/>
                <a:sym typeface="Open Sans"/>
              </a:rPr>
              <a:t>KNAV’s Organization Development &amp; Business Planning Workshop is aimed at identifying business pain points and mapping a clear roadmap to the business vision. Guided by KNAV experts, participants shall analyze major business facets to uncover strengths, weaknesses, opportunities, and threats. Our common goal is to facilitate strategic exploration to unlock the business' full potential.</a:t>
            </a:r>
          </a:p>
          <a:p>
            <a:pPr algn="l">
              <a:lnSpc>
                <a:spcPts val="2340"/>
              </a:lnSpc>
            </a:pPr>
            <a:endParaRPr lang="en-US" sz="1800">
              <a:solidFill>
                <a:srgbClr val="545454"/>
              </a:solidFill>
              <a:latin typeface="Open Sans"/>
              <a:ea typeface="Open Sans"/>
              <a:cs typeface="Open Sans"/>
              <a:sym typeface="Open Sans"/>
            </a:endParaRPr>
          </a:p>
          <a:p>
            <a:pPr algn="l">
              <a:lnSpc>
                <a:spcPts val="2340"/>
              </a:lnSpc>
            </a:pPr>
            <a:r>
              <a:rPr lang="en-US" sz="1800">
                <a:solidFill>
                  <a:srgbClr val="545454"/>
                </a:solidFill>
                <a:latin typeface="Open Sans"/>
                <a:ea typeface="Open Sans"/>
                <a:cs typeface="Open Sans"/>
                <a:sym typeface="Open Sans"/>
              </a:rPr>
              <a:t>This collaborative workshop encourages active engagement and idea-sharing among management stakeholders, fostering a supportive environment where breakthroughs occur. Our proprietary application, "Grow Your Business," streamlines management inputs, generating tailored reports to highlight areas for improvement. By identifying key growth drivers and problem points, businesses emerge more aligned and aware, ready to take action.</a:t>
            </a:r>
          </a:p>
        </p:txBody>
      </p:sp>
      <p:grpSp>
        <p:nvGrpSpPr>
          <p:cNvPr id="6" name="Group 6"/>
          <p:cNvGrpSpPr/>
          <p:nvPr/>
        </p:nvGrpSpPr>
        <p:grpSpPr>
          <a:xfrm>
            <a:off x="16153302" y="9182100"/>
            <a:ext cx="696187" cy="492201"/>
            <a:chOff x="0" y="0"/>
            <a:chExt cx="928250" cy="656268"/>
          </a:xfrm>
        </p:grpSpPr>
        <p:sp>
          <p:nvSpPr>
            <p:cNvPr id="7" name="Freeform 7"/>
            <p:cNvSpPr/>
            <p:nvPr/>
          </p:nvSpPr>
          <p:spPr>
            <a:xfrm rot="-10800000">
              <a:off x="275561" y="0"/>
              <a:ext cx="652688" cy="656268"/>
            </a:xfrm>
            <a:custGeom>
              <a:avLst/>
              <a:gdLst/>
              <a:ahLst/>
              <a:cxnLst/>
              <a:rect l="l" t="t" r="r" b="b"/>
              <a:pathLst>
                <a:path w="652688" h="656268">
                  <a:moveTo>
                    <a:pt x="0" y="0"/>
                  </a:moveTo>
                  <a:lnTo>
                    <a:pt x="652689" y="0"/>
                  </a:lnTo>
                  <a:lnTo>
                    <a:pt x="652689" y="656268"/>
                  </a:lnTo>
                  <a:lnTo>
                    <a:pt x="0" y="6562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rot="-10800000">
              <a:off x="0" y="0"/>
              <a:ext cx="652688" cy="656268"/>
            </a:xfrm>
            <a:custGeom>
              <a:avLst/>
              <a:gdLst/>
              <a:ahLst/>
              <a:cxnLst/>
              <a:rect l="l" t="t" r="r" b="b"/>
              <a:pathLst>
                <a:path w="652688" h="656268">
                  <a:moveTo>
                    <a:pt x="0" y="0"/>
                  </a:moveTo>
                  <a:lnTo>
                    <a:pt x="652688" y="0"/>
                  </a:lnTo>
                  <a:lnTo>
                    <a:pt x="652688" y="656268"/>
                  </a:lnTo>
                  <a:lnTo>
                    <a:pt x="0" y="6562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sp>
        <p:nvSpPr>
          <p:cNvPr id="9" name="Freeform 9"/>
          <p:cNvSpPr/>
          <p:nvPr/>
        </p:nvSpPr>
        <p:spPr>
          <a:xfrm>
            <a:off x="16286999" y="705692"/>
            <a:ext cx="377655" cy="359245"/>
          </a:xfrm>
          <a:custGeom>
            <a:avLst/>
            <a:gdLst/>
            <a:ahLst/>
            <a:cxnLst/>
            <a:rect l="l" t="t" r="r" b="b"/>
            <a:pathLst>
              <a:path w="377655" h="359245">
                <a:moveTo>
                  <a:pt x="0" y="0"/>
                </a:moveTo>
                <a:lnTo>
                  <a:pt x="377655" y="0"/>
                </a:lnTo>
                <a:lnTo>
                  <a:pt x="377655" y="359244"/>
                </a:lnTo>
                <a:lnTo>
                  <a:pt x="0" y="3592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0" name="Freeform 10"/>
          <p:cNvSpPr/>
          <p:nvPr/>
        </p:nvSpPr>
        <p:spPr>
          <a:xfrm>
            <a:off x="16849489" y="705692"/>
            <a:ext cx="359245" cy="359245"/>
          </a:xfrm>
          <a:custGeom>
            <a:avLst/>
            <a:gdLst/>
            <a:ahLst/>
            <a:cxnLst/>
            <a:rect l="l" t="t" r="r" b="b"/>
            <a:pathLst>
              <a:path w="359245" h="359245">
                <a:moveTo>
                  <a:pt x="0" y="0"/>
                </a:moveTo>
                <a:lnTo>
                  <a:pt x="359245" y="0"/>
                </a:lnTo>
                <a:lnTo>
                  <a:pt x="359245" y="359244"/>
                </a:lnTo>
                <a:lnTo>
                  <a:pt x="0" y="359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1" name="Freeform 11"/>
          <p:cNvSpPr/>
          <p:nvPr/>
        </p:nvSpPr>
        <p:spPr>
          <a:xfrm>
            <a:off x="1028198" y="756740"/>
            <a:ext cx="383803" cy="257148"/>
          </a:xfrm>
          <a:custGeom>
            <a:avLst/>
            <a:gdLst/>
            <a:ahLst/>
            <a:cxnLst/>
            <a:rect l="l" t="t" r="r" b="b"/>
            <a:pathLst>
              <a:path w="383803" h="257148">
                <a:moveTo>
                  <a:pt x="0" y="0"/>
                </a:moveTo>
                <a:lnTo>
                  <a:pt x="383803" y="0"/>
                </a:lnTo>
                <a:lnTo>
                  <a:pt x="383803" y="257148"/>
                </a:lnTo>
                <a:lnTo>
                  <a:pt x="0" y="25714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12" name="TextBox 12"/>
          <p:cNvSpPr txBox="1"/>
          <p:nvPr/>
        </p:nvSpPr>
        <p:spPr>
          <a:xfrm>
            <a:off x="15512236" y="9260977"/>
            <a:ext cx="803242" cy="315397"/>
          </a:xfrm>
          <a:prstGeom prst="rect">
            <a:avLst/>
          </a:prstGeom>
        </p:spPr>
        <p:txBody>
          <a:bodyPr lIns="0" tIns="0" rIns="0" bIns="0" rtlCol="0" anchor="t">
            <a:spAutoFit/>
          </a:bodyPr>
          <a:lstStyle/>
          <a:p>
            <a:pPr algn="l">
              <a:lnSpc>
                <a:spcPts val="2555"/>
              </a:lnSpc>
            </a:pPr>
            <a:r>
              <a:rPr lang="en-US" sz="1965" b="1" dirty="0">
                <a:solidFill>
                  <a:srgbClr val="6A0B23"/>
                </a:solidFill>
                <a:latin typeface="Open Sans Semi-Bold"/>
                <a:ea typeface="Open Sans Semi-Bold"/>
                <a:cs typeface="Open Sans Semi-Bold"/>
                <a:sym typeface="Open Sans Semi-Bold"/>
              </a:rPr>
              <a:t>Next</a:t>
            </a:r>
          </a:p>
        </p:txBody>
      </p:sp>
      <p:sp>
        <p:nvSpPr>
          <p:cNvPr id="13" name="TextBox 13"/>
          <p:cNvSpPr txBox="1"/>
          <p:nvPr/>
        </p:nvSpPr>
        <p:spPr>
          <a:xfrm>
            <a:off x="14637974" y="746525"/>
            <a:ext cx="1461592" cy="277578"/>
          </a:xfrm>
          <a:prstGeom prst="rect">
            <a:avLst/>
          </a:prstGeom>
        </p:spPr>
        <p:txBody>
          <a:bodyPr lIns="0" tIns="0" rIns="0" bIns="0" rtlCol="0" anchor="t">
            <a:spAutoFit/>
          </a:bodyPr>
          <a:lstStyle/>
          <a:p>
            <a:pPr marL="0" lvl="0" indent="0" algn="r">
              <a:lnSpc>
                <a:spcPts val="2009"/>
              </a:lnSpc>
              <a:spcBef>
                <a:spcPct val="0"/>
              </a:spcBef>
            </a:pPr>
            <a:r>
              <a:rPr lang="en-US" sz="1827">
                <a:solidFill>
                  <a:srgbClr val="6A0B23"/>
                </a:solidFill>
                <a:latin typeface="Poppins"/>
                <a:ea typeface="Poppins"/>
                <a:cs typeface="Poppins"/>
                <a:sym typeface="Poppins"/>
              </a:rPr>
              <a:t>Home</a:t>
            </a:r>
          </a:p>
        </p:txBody>
      </p:sp>
      <p:sp>
        <p:nvSpPr>
          <p:cNvPr id="14" name="TextBox 14"/>
          <p:cNvSpPr txBox="1"/>
          <p:nvPr/>
        </p:nvSpPr>
        <p:spPr>
          <a:xfrm>
            <a:off x="1716948" y="641945"/>
            <a:ext cx="3328130" cy="477213"/>
          </a:xfrm>
          <a:prstGeom prst="rect">
            <a:avLst/>
          </a:prstGeom>
        </p:spPr>
        <p:txBody>
          <a:bodyPr lIns="0" tIns="0" rIns="0" bIns="0" rtlCol="0" anchor="t">
            <a:spAutoFit/>
          </a:bodyPr>
          <a:lstStyle/>
          <a:p>
            <a:pPr marL="0" lvl="0" indent="0" algn="l">
              <a:lnSpc>
                <a:spcPts val="3401"/>
              </a:lnSpc>
              <a:spcBef>
                <a:spcPct val="0"/>
              </a:spcBef>
            </a:pPr>
            <a:r>
              <a:rPr lang="en-US" sz="3092" b="1" u="none" strike="noStrike">
                <a:solidFill>
                  <a:srgbClr val="6A0B23"/>
                </a:solidFill>
                <a:latin typeface="Poppins Semi-Bold"/>
                <a:ea typeface="Poppins Semi-Bold"/>
                <a:cs typeface="Poppins Semi-Bold"/>
                <a:sym typeface="Poppins Semi-Bold"/>
              </a:rPr>
              <a:t>ABOUT US</a:t>
            </a:r>
          </a:p>
        </p:txBody>
      </p:sp>
      <p:sp>
        <p:nvSpPr>
          <p:cNvPr id="15" name="TextBox 15"/>
          <p:cNvSpPr txBox="1"/>
          <p:nvPr/>
        </p:nvSpPr>
        <p:spPr>
          <a:xfrm>
            <a:off x="1716948" y="9318001"/>
            <a:ext cx="9225262" cy="228821"/>
          </a:xfrm>
          <a:prstGeom prst="rect">
            <a:avLst/>
          </a:prstGeom>
        </p:spPr>
        <p:txBody>
          <a:bodyPr lIns="0" tIns="0" rIns="0" bIns="0" rtlCol="0" anchor="t">
            <a:spAutoFit/>
          </a:bodyPr>
          <a:lstStyle/>
          <a:p>
            <a:pPr algn="l">
              <a:lnSpc>
                <a:spcPts val="1824"/>
              </a:lnSpc>
            </a:pPr>
            <a:r>
              <a:rPr lang="en-US" sz="1403" i="1">
                <a:solidFill>
                  <a:srgbClr val="000000"/>
                </a:solidFill>
                <a:latin typeface="Open Sans Italics"/>
                <a:ea typeface="Open Sans Italics"/>
                <a:cs typeface="Open Sans Italics"/>
                <a:sym typeface="Open Sans Italics"/>
              </a:rPr>
              <a:t>Grow Your Business: organization Development Workshop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3" name="Freeform 3"/>
          <p:cNvSpPr/>
          <p:nvPr/>
        </p:nvSpPr>
        <p:spPr>
          <a:xfrm>
            <a:off x="1371600" y="2626607"/>
            <a:ext cx="15468600" cy="5682727"/>
          </a:xfrm>
          <a:prstGeom prst="roundRect">
            <a:avLst>
              <a:gd name="adj" fmla="val 2803"/>
            </a:avLst>
          </a:prstGeom>
          <a:solidFill>
            <a:srgbClr val="FFFFFF"/>
          </a:solidFill>
        </p:spPr>
        <p:txBody>
          <a:bodyPr/>
          <a:lstStyle/>
          <a:p>
            <a:endParaRPr lang="en-IN"/>
          </a:p>
        </p:txBody>
      </p:sp>
      <p:sp>
        <p:nvSpPr>
          <p:cNvPr id="4" name="TextBox 4"/>
          <p:cNvSpPr txBox="1"/>
          <p:nvPr/>
        </p:nvSpPr>
        <p:spPr>
          <a:xfrm>
            <a:off x="1028198" y="2662755"/>
            <a:ext cx="16180536" cy="5646579"/>
          </a:xfrm>
          <a:prstGeom prst="rect">
            <a:avLst/>
          </a:prstGeom>
        </p:spPr>
        <p:txBody>
          <a:bodyPr lIns="71403" tIns="71403" rIns="71403" bIns="71403" rtlCol="0" anchor="ctr"/>
          <a:lstStyle/>
          <a:p>
            <a:pPr algn="ctr">
              <a:lnSpc>
                <a:spcPts val="2192"/>
              </a:lnSpc>
            </a:pPr>
            <a:endParaRPr/>
          </a:p>
        </p:txBody>
      </p:sp>
      <p:grpSp>
        <p:nvGrpSpPr>
          <p:cNvPr id="5" name="Group 5"/>
          <p:cNvGrpSpPr/>
          <p:nvPr/>
        </p:nvGrpSpPr>
        <p:grpSpPr>
          <a:xfrm>
            <a:off x="2453870" y="3365830"/>
            <a:ext cx="4697413" cy="328769"/>
            <a:chOff x="0" y="0"/>
            <a:chExt cx="6263217" cy="438359"/>
          </a:xfrm>
        </p:grpSpPr>
        <p:sp>
          <p:nvSpPr>
            <p:cNvPr id="6" name="Freeform 6"/>
            <p:cNvSpPr/>
            <p:nvPr/>
          </p:nvSpPr>
          <p:spPr>
            <a:xfrm>
              <a:off x="0" y="0"/>
              <a:ext cx="438359" cy="438359"/>
            </a:xfrm>
            <a:custGeom>
              <a:avLst/>
              <a:gdLst/>
              <a:ahLst/>
              <a:cxnLst/>
              <a:rect l="l" t="t" r="r" b="b"/>
              <a:pathLst>
                <a:path w="438359" h="438359">
                  <a:moveTo>
                    <a:pt x="0" y="0"/>
                  </a:moveTo>
                  <a:lnTo>
                    <a:pt x="438359" y="0"/>
                  </a:lnTo>
                  <a:lnTo>
                    <a:pt x="438359" y="438359"/>
                  </a:lnTo>
                  <a:lnTo>
                    <a:pt x="0" y="4383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TextBox 7"/>
            <p:cNvSpPr txBox="1"/>
            <p:nvPr/>
          </p:nvSpPr>
          <p:spPr>
            <a:xfrm>
              <a:off x="781803" y="50198"/>
              <a:ext cx="5481414" cy="347488"/>
            </a:xfrm>
            <a:prstGeom prst="rect">
              <a:avLst/>
            </a:prstGeom>
          </p:spPr>
          <p:txBody>
            <a:bodyPr lIns="0" tIns="0" rIns="0" bIns="0" rtlCol="0" anchor="t">
              <a:spAutoFit/>
            </a:bodyPr>
            <a:lstStyle/>
            <a:p>
              <a:pPr algn="l">
                <a:lnSpc>
                  <a:spcPts val="2192"/>
                </a:lnSpc>
              </a:pPr>
              <a:r>
                <a:rPr lang="en-US" sz="1827" b="1">
                  <a:solidFill>
                    <a:srgbClr val="545454"/>
                  </a:solidFill>
                  <a:latin typeface="Open Sans Semi-Bold"/>
                  <a:ea typeface="Open Sans Semi-Bold"/>
                  <a:cs typeface="Open Sans Semi-Bold"/>
                  <a:sym typeface="Open Sans Semi-Bold"/>
                </a:rPr>
                <a:t>Vision And Mission Statement</a:t>
              </a:r>
            </a:p>
          </p:txBody>
        </p:sp>
      </p:grpSp>
      <p:grpSp>
        <p:nvGrpSpPr>
          <p:cNvPr id="8" name="Group 8"/>
          <p:cNvGrpSpPr/>
          <p:nvPr/>
        </p:nvGrpSpPr>
        <p:grpSpPr>
          <a:xfrm>
            <a:off x="2453870" y="4441354"/>
            <a:ext cx="4697413" cy="328769"/>
            <a:chOff x="0" y="0"/>
            <a:chExt cx="6263217" cy="438359"/>
          </a:xfrm>
        </p:grpSpPr>
        <p:sp>
          <p:nvSpPr>
            <p:cNvPr id="9" name="Freeform 9"/>
            <p:cNvSpPr/>
            <p:nvPr/>
          </p:nvSpPr>
          <p:spPr>
            <a:xfrm>
              <a:off x="0" y="0"/>
              <a:ext cx="438359" cy="438359"/>
            </a:xfrm>
            <a:custGeom>
              <a:avLst/>
              <a:gdLst/>
              <a:ahLst/>
              <a:cxnLst/>
              <a:rect l="l" t="t" r="r" b="b"/>
              <a:pathLst>
                <a:path w="438359" h="438359">
                  <a:moveTo>
                    <a:pt x="0" y="0"/>
                  </a:moveTo>
                  <a:lnTo>
                    <a:pt x="438359" y="0"/>
                  </a:lnTo>
                  <a:lnTo>
                    <a:pt x="438359" y="438359"/>
                  </a:lnTo>
                  <a:lnTo>
                    <a:pt x="0" y="4383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TextBox 10"/>
            <p:cNvSpPr txBox="1"/>
            <p:nvPr/>
          </p:nvSpPr>
          <p:spPr>
            <a:xfrm>
              <a:off x="781803" y="50198"/>
              <a:ext cx="5481414" cy="347488"/>
            </a:xfrm>
            <a:prstGeom prst="rect">
              <a:avLst/>
            </a:prstGeom>
          </p:spPr>
          <p:txBody>
            <a:bodyPr lIns="0" tIns="0" rIns="0" bIns="0" rtlCol="0" anchor="t">
              <a:spAutoFit/>
            </a:bodyPr>
            <a:lstStyle/>
            <a:p>
              <a:pPr algn="l">
                <a:lnSpc>
                  <a:spcPts val="2192"/>
                </a:lnSpc>
              </a:pPr>
              <a:r>
                <a:rPr lang="en-US" sz="1827" b="1">
                  <a:solidFill>
                    <a:srgbClr val="545454"/>
                  </a:solidFill>
                  <a:latin typeface="Open Sans Semi-Bold"/>
                  <a:ea typeface="Open Sans Semi-Bold"/>
                  <a:cs typeface="Open Sans Semi-Bold"/>
                  <a:sym typeface="Open Sans Semi-Bold"/>
                </a:rPr>
                <a:t>Questionnaire</a:t>
              </a:r>
            </a:p>
          </p:txBody>
        </p:sp>
      </p:grpSp>
      <p:grpSp>
        <p:nvGrpSpPr>
          <p:cNvPr id="11" name="Group 11"/>
          <p:cNvGrpSpPr/>
          <p:nvPr/>
        </p:nvGrpSpPr>
        <p:grpSpPr>
          <a:xfrm>
            <a:off x="2453870" y="5516877"/>
            <a:ext cx="4697413" cy="328769"/>
            <a:chOff x="0" y="0"/>
            <a:chExt cx="6263217" cy="438359"/>
          </a:xfrm>
        </p:grpSpPr>
        <p:sp>
          <p:nvSpPr>
            <p:cNvPr id="12" name="Freeform 12"/>
            <p:cNvSpPr/>
            <p:nvPr/>
          </p:nvSpPr>
          <p:spPr>
            <a:xfrm>
              <a:off x="0" y="0"/>
              <a:ext cx="438359" cy="438359"/>
            </a:xfrm>
            <a:custGeom>
              <a:avLst/>
              <a:gdLst/>
              <a:ahLst/>
              <a:cxnLst/>
              <a:rect l="l" t="t" r="r" b="b"/>
              <a:pathLst>
                <a:path w="438359" h="438359">
                  <a:moveTo>
                    <a:pt x="0" y="0"/>
                  </a:moveTo>
                  <a:lnTo>
                    <a:pt x="438359" y="0"/>
                  </a:lnTo>
                  <a:lnTo>
                    <a:pt x="438359" y="438359"/>
                  </a:lnTo>
                  <a:lnTo>
                    <a:pt x="0" y="4383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3" name="TextBox 13"/>
            <p:cNvSpPr txBox="1"/>
            <p:nvPr/>
          </p:nvSpPr>
          <p:spPr>
            <a:xfrm>
              <a:off x="781803" y="50198"/>
              <a:ext cx="5481414" cy="347488"/>
            </a:xfrm>
            <a:prstGeom prst="rect">
              <a:avLst/>
            </a:prstGeom>
          </p:spPr>
          <p:txBody>
            <a:bodyPr lIns="0" tIns="0" rIns="0" bIns="0" rtlCol="0" anchor="t">
              <a:spAutoFit/>
            </a:bodyPr>
            <a:lstStyle/>
            <a:p>
              <a:pPr algn="l">
                <a:lnSpc>
                  <a:spcPts val="2192"/>
                </a:lnSpc>
              </a:pPr>
              <a:r>
                <a:rPr lang="en-US" sz="1827" b="1">
                  <a:solidFill>
                    <a:srgbClr val="545454"/>
                  </a:solidFill>
                  <a:latin typeface="Open Sans Semi-Bold"/>
                  <a:ea typeface="Open Sans Semi-Bold"/>
                  <a:cs typeface="Open Sans Semi-Bold"/>
                  <a:sym typeface="Open Sans Semi-Bold"/>
                </a:rPr>
                <a:t>List of Actionables</a:t>
              </a:r>
            </a:p>
          </p:txBody>
        </p:sp>
      </p:grpSp>
      <p:grpSp>
        <p:nvGrpSpPr>
          <p:cNvPr id="14" name="Group 14"/>
          <p:cNvGrpSpPr/>
          <p:nvPr/>
        </p:nvGrpSpPr>
        <p:grpSpPr>
          <a:xfrm>
            <a:off x="2453870" y="6592401"/>
            <a:ext cx="4697413" cy="328769"/>
            <a:chOff x="0" y="0"/>
            <a:chExt cx="6263217" cy="438359"/>
          </a:xfrm>
        </p:grpSpPr>
        <p:sp>
          <p:nvSpPr>
            <p:cNvPr id="15" name="Freeform 15"/>
            <p:cNvSpPr/>
            <p:nvPr/>
          </p:nvSpPr>
          <p:spPr>
            <a:xfrm>
              <a:off x="0" y="0"/>
              <a:ext cx="438359" cy="438359"/>
            </a:xfrm>
            <a:custGeom>
              <a:avLst/>
              <a:gdLst/>
              <a:ahLst/>
              <a:cxnLst/>
              <a:rect l="l" t="t" r="r" b="b"/>
              <a:pathLst>
                <a:path w="438359" h="438359">
                  <a:moveTo>
                    <a:pt x="0" y="0"/>
                  </a:moveTo>
                  <a:lnTo>
                    <a:pt x="438359" y="0"/>
                  </a:lnTo>
                  <a:lnTo>
                    <a:pt x="438359" y="438359"/>
                  </a:lnTo>
                  <a:lnTo>
                    <a:pt x="0" y="4383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TextBox 16"/>
            <p:cNvSpPr txBox="1"/>
            <p:nvPr/>
          </p:nvSpPr>
          <p:spPr>
            <a:xfrm>
              <a:off x="781803" y="50198"/>
              <a:ext cx="5481414" cy="347488"/>
            </a:xfrm>
            <a:prstGeom prst="rect">
              <a:avLst/>
            </a:prstGeom>
          </p:spPr>
          <p:txBody>
            <a:bodyPr lIns="0" tIns="0" rIns="0" bIns="0" rtlCol="0" anchor="t">
              <a:spAutoFit/>
            </a:bodyPr>
            <a:lstStyle/>
            <a:p>
              <a:pPr algn="l">
                <a:lnSpc>
                  <a:spcPts val="2192"/>
                </a:lnSpc>
              </a:pPr>
              <a:r>
                <a:rPr lang="en-US" sz="1827" b="1">
                  <a:solidFill>
                    <a:srgbClr val="545454"/>
                  </a:solidFill>
                  <a:latin typeface="Open Sans Semi-Bold"/>
                  <a:ea typeface="Open Sans Semi-Bold"/>
                  <a:cs typeface="Open Sans Semi-Bold"/>
                  <a:sym typeface="Open Sans Semi-Bold"/>
                </a:rPr>
                <a:t>Workshop Feedback</a:t>
              </a:r>
            </a:p>
          </p:txBody>
        </p:sp>
      </p:grpSp>
      <p:sp>
        <p:nvSpPr>
          <p:cNvPr id="17" name="Freeform 17"/>
          <p:cNvSpPr/>
          <p:nvPr/>
        </p:nvSpPr>
        <p:spPr>
          <a:xfrm>
            <a:off x="16286999" y="705692"/>
            <a:ext cx="377655" cy="359245"/>
          </a:xfrm>
          <a:custGeom>
            <a:avLst/>
            <a:gdLst/>
            <a:ahLst/>
            <a:cxnLst/>
            <a:rect l="l" t="t" r="r" b="b"/>
            <a:pathLst>
              <a:path w="377655" h="359245">
                <a:moveTo>
                  <a:pt x="0" y="0"/>
                </a:moveTo>
                <a:lnTo>
                  <a:pt x="377655" y="0"/>
                </a:lnTo>
                <a:lnTo>
                  <a:pt x="377655" y="359244"/>
                </a:lnTo>
                <a:lnTo>
                  <a:pt x="0" y="3592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8" name="Freeform 18"/>
          <p:cNvSpPr/>
          <p:nvPr/>
        </p:nvSpPr>
        <p:spPr>
          <a:xfrm>
            <a:off x="16849489" y="705692"/>
            <a:ext cx="359245" cy="359245"/>
          </a:xfrm>
          <a:custGeom>
            <a:avLst/>
            <a:gdLst/>
            <a:ahLst/>
            <a:cxnLst/>
            <a:rect l="l" t="t" r="r" b="b"/>
            <a:pathLst>
              <a:path w="359245" h="359245">
                <a:moveTo>
                  <a:pt x="0" y="0"/>
                </a:moveTo>
                <a:lnTo>
                  <a:pt x="359245" y="0"/>
                </a:lnTo>
                <a:lnTo>
                  <a:pt x="359245" y="359244"/>
                </a:lnTo>
                <a:lnTo>
                  <a:pt x="0" y="359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9" name="TextBox 19"/>
          <p:cNvSpPr txBox="1"/>
          <p:nvPr/>
        </p:nvSpPr>
        <p:spPr>
          <a:xfrm>
            <a:off x="13738882" y="746525"/>
            <a:ext cx="1461592" cy="277578"/>
          </a:xfrm>
          <a:prstGeom prst="rect">
            <a:avLst/>
          </a:prstGeom>
        </p:spPr>
        <p:txBody>
          <a:bodyPr lIns="0" tIns="0" rIns="0" bIns="0" rtlCol="0" anchor="t">
            <a:spAutoFit/>
          </a:bodyPr>
          <a:lstStyle/>
          <a:p>
            <a:pPr marL="0" lvl="0" indent="0" algn="r">
              <a:lnSpc>
                <a:spcPts val="2009"/>
              </a:lnSpc>
              <a:spcBef>
                <a:spcPct val="0"/>
              </a:spcBef>
            </a:pPr>
            <a:r>
              <a:rPr lang="en-US" sz="1827" b="1">
                <a:solidFill>
                  <a:srgbClr val="6A0B23"/>
                </a:solidFill>
                <a:latin typeface="Poppins Bold"/>
                <a:ea typeface="Poppins Bold"/>
                <a:cs typeface="Poppins Bold"/>
                <a:sym typeface="Poppins Bold"/>
              </a:rPr>
              <a:t>Logout</a:t>
            </a:r>
          </a:p>
        </p:txBody>
      </p:sp>
      <p:sp>
        <p:nvSpPr>
          <p:cNvPr id="20" name="TextBox 20"/>
          <p:cNvSpPr txBox="1"/>
          <p:nvPr/>
        </p:nvSpPr>
        <p:spPr>
          <a:xfrm>
            <a:off x="1716948" y="641945"/>
            <a:ext cx="3328130" cy="477213"/>
          </a:xfrm>
          <a:prstGeom prst="rect">
            <a:avLst/>
          </a:prstGeom>
        </p:spPr>
        <p:txBody>
          <a:bodyPr lIns="0" tIns="0" rIns="0" bIns="0" rtlCol="0" anchor="t">
            <a:spAutoFit/>
          </a:bodyPr>
          <a:lstStyle/>
          <a:p>
            <a:pPr marL="0" lvl="0" indent="0" algn="l">
              <a:lnSpc>
                <a:spcPts val="3401"/>
              </a:lnSpc>
              <a:spcBef>
                <a:spcPct val="0"/>
              </a:spcBef>
            </a:pPr>
            <a:r>
              <a:rPr lang="en-US" sz="3092" b="1">
                <a:solidFill>
                  <a:srgbClr val="6A0B23"/>
                </a:solidFill>
                <a:latin typeface="Poppins Semi-Bold"/>
                <a:ea typeface="Poppins Semi-Bold"/>
                <a:cs typeface="Poppins Semi-Bold"/>
                <a:sym typeface="Poppins Semi-Bold"/>
              </a:rPr>
              <a:t>[Name]</a:t>
            </a:r>
          </a:p>
        </p:txBody>
      </p:sp>
      <p:sp>
        <p:nvSpPr>
          <p:cNvPr id="21" name="TextBox 21"/>
          <p:cNvSpPr txBox="1"/>
          <p:nvPr/>
        </p:nvSpPr>
        <p:spPr>
          <a:xfrm>
            <a:off x="14637974" y="746525"/>
            <a:ext cx="1461592" cy="277578"/>
          </a:xfrm>
          <a:prstGeom prst="rect">
            <a:avLst/>
          </a:prstGeom>
        </p:spPr>
        <p:txBody>
          <a:bodyPr lIns="0" tIns="0" rIns="0" bIns="0" rtlCol="0" anchor="t">
            <a:spAutoFit/>
          </a:bodyPr>
          <a:lstStyle/>
          <a:p>
            <a:pPr marL="0" lvl="0" indent="0" algn="r">
              <a:lnSpc>
                <a:spcPts val="2009"/>
              </a:lnSpc>
              <a:spcBef>
                <a:spcPct val="0"/>
              </a:spcBef>
            </a:pPr>
            <a:r>
              <a:rPr lang="en-US" sz="1827">
                <a:solidFill>
                  <a:srgbClr val="6A0B23"/>
                </a:solidFill>
                <a:latin typeface="Poppins"/>
                <a:ea typeface="Poppins"/>
                <a:cs typeface="Poppins"/>
                <a:sym typeface="Poppins"/>
              </a:rPr>
              <a:t>Home</a:t>
            </a:r>
          </a:p>
        </p:txBody>
      </p:sp>
      <p:sp>
        <p:nvSpPr>
          <p:cNvPr id="22" name="Freeform 22"/>
          <p:cNvSpPr/>
          <p:nvPr/>
        </p:nvSpPr>
        <p:spPr>
          <a:xfrm>
            <a:off x="1028198" y="756740"/>
            <a:ext cx="383803" cy="257148"/>
          </a:xfrm>
          <a:custGeom>
            <a:avLst/>
            <a:gdLst/>
            <a:ahLst/>
            <a:cxnLst/>
            <a:rect l="l" t="t" r="r" b="b"/>
            <a:pathLst>
              <a:path w="383803" h="257148">
                <a:moveTo>
                  <a:pt x="0" y="0"/>
                </a:moveTo>
                <a:lnTo>
                  <a:pt x="383803" y="0"/>
                </a:lnTo>
                <a:lnTo>
                  <a:pt x="383803" y="257148"/>
                </a:lnTo>
                <a:lnTo>
                  <a:pt x="0" y="25714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23" name="AutoShape 23"/>
          <p:cNvSpPr/>
          <p:nvPr/>
        </p:nvSpPr>
        <p:spPr>
          <a:xfrm>
            <a:off x="2938245" y="4067977"/>
            <a:ext cx="4383244" cy="0"/>
          </a:xfrm>
          <a:prstGeom prst="line">
            <a:avLst/>
          </a:prstGeom>
          <a:ln w="9525" cap="flat">
            <a:solidFill>
              <a:srgbClr val="D9D9D9"/>
            </a:solidFill>
            <a:prstDash val="solid"/>
            <a:headEnd type="none" w="sm" len="sm"/>
            <a:tailEnd type="none" w="sm" len="sm"/>
          </a:ln>
        </p:spPr>
        <p:txBody>
          <a:bodyPr/>
          <a:lstStyle/>
          <a:p>
            <a:endParaRPr lang="en-IN"/>
          </a:p>
        </p:txBody>
      </p:sp>
      <p:sp>
        <p:nvSpPr>
          <p:cNvPr id="24" name="AutoShape 24"/>
          <p:cNvSpPr/>
          <p:nvPr/>
        </p:nvSpPr>
        <p:spPr>
          <a:xfrm>
            <a:off x="2938245" y="5143500"/>
            <a:ext cx="4383244" cy="0"/>
          </a:xfrm>
          <a:prstGeom prst="line">
            <a:avLst/>
          </a:prstGeom>
          <a:ln w="9525" cap="flat">
            <a:solidFill>
              <a:srgbClr val="D9D9D9"/>
            </a:solidFill>
            <a:prstDash val="solid"/>
            <a:headEnd type="none" w="sm" len="sm"/>
            <a:tailEnd type="none" w="sm" len="sm"/>
          </a:ln>
        </p:spPr>
        <p:txBody>
          <a:bodyPr/>
          <a:lstStyle/>
          <a:p>
            <a:endParaRPr lang="en-IN"/>
          </a:p>
        </p:txBody>
      </p:sp>
      <p:sp>
        <p:nvSpPr>
          <p:cNvPr id="25" name="AutoShape 25"/>
          <p:cNvSpPr/>
          <p:nvPr/>
        </p:nvSpPr>
        <p:spPr>
          <a:xfrm>
            <a:off x="2938245" y="6213816"/>
            <a:ext cx="4383244" cy="0"/>
          </a:xfrm>
          <a:prstGeom prst="line">
            <a:avLst/>
          </a:prstGeom>
          <a:ln w="9525" cap="flat">
            <a:solidFill>
              <a:srgbClr val="D9D9D9"/>
            </a:solidFill>
            <a:prstDash val="solid"/>
            <a:headEnd type="none" w="sm" len="sm"/>
            <a:tailEnd type="none" w="sm" len="sm"/>
          </a:ln>
        </p:spPr>
        <p:txBody>
          <a:bodyPr/>
          <a:lstStyle/>
          <a:p>
            <a:endParaRPr lang="en-IN"/>
          </a:p>
        </p:txBody>
      </p:sp>
      <p:sp>
        <p:nvSpPr>
          <p:cNvPr id="26" name="TextBox 26"/>
          <p:cNvSpPr txBox="1"/>
          <p:nvPr/>
        </p:nvSpPr>
        <p:spPr>
          <a:xfrm>
            <a:off x="1716948" y="9318001"/>
            <a:ext cx="9225262" cy="228821"/>
          </a:xfrm>
          <a:prstGeom prst="rect">
            <a:avLst/>
          </a:prstGeom>
        </p:spPr>
        <p:txBody>
          <a:bodyPr lIns="0" tIns="0" rIns="0" bIns="0" rtlCol="0" anchor="t">
            <a:spAutoFit/>
          </a:bodyPr>
          <a:lstStyle/>
          <a:p>
            <a:pPr algn="l">
              <a:lnSpc>
                <a:spcPts val="1824"/>
              </a:lnSpc>
            </a:pPr>
            <a:r>
              <a:rPr lang="en-US" sz="1403" i="1">
                <a:solidFill>
                  <a:srgbClr val="000000"/>
                </a:solidFill>
                <a:latin typeface="Open Sans Italics"/>
                <a:ea typeface="Open Sans Italics"/>
                <a:cs typeface="Open Sans Italics"/>
                <a:sym typeface="Open Sans Italics"/>
              </a:rPr>
              <a:t>Grow Your Business: organization Development Workshop</a:t>
            </a:r>
          </a:p>
        </p:txBody>
      </p:sp>
      <p:sp>
        <p:nvSpPr>
          <p:cNvPr id="27" name="TextBox 27"/>
          <p:cNvSpPr txBox="1"/>
          <p:nvPr/>
        </p:nvSpPr>
        <p:spPr>
          <a:xfrm>
            <a:off x="1716948" y="1591088"/>
            <a:ext cx="2902986" cy="252581"/>
          </a:xfrm>
          <a:prstGeom prst="rect">
            <a:avLst/>
          </a:prstGeom>
        </p:spPr>
        <p:txBody>
          <a:bodyPr lIns="0" tIns="0" rIns="0" bIns="0" rtlCol="0" anchor="t">
            <a:spAutoFit/>
          </a:bodyPr>
          <a:lstStyle/>
          <a:p>
            <a:pPr marL="0" lvl="0" indent="0" algn="l">
              <a:lnSpc>
                <a:spcPts val="1902"/>
              </a:lnSpc>
              <a:spcBef>
                <a:spcPct val="0"/>
              </a:spcBef>
            </a:pPr>
            <a:r>
              <a:rPr lang="en-US" sz="1729" b="1" u="none" strike="noStrike">
                <a:solidFill>
                  <a:srgbClr val="6A0B23"/>
                </a:solidFill>
                <a:latin typeface="Poppins Semi-Bold"/>
                <a:ea typeface="Poppins Semi-Bold"/>
                <a:cs typeface="Poppins Semi-Bold"/>
                <a:sym typeface="Poppins Semi-Bold"/>
              </a:rPr>
              <a:t>[Organization Name]</a:t>
            </a:r>
          </a:p>
        </p:txBody>
      </p:sp>
      <p:sp>
        <p:nvSpPr>
          <p:cNvPr id="28" name="TextBox 28"/>
          <p:cNvSpPr txBox="1"/>
          <p:nvPr/>
        </p:nvSpPr>
        <p:spPr>
          <a:xfrm>
            <a:off x="5282754" y="1591088"/>
            <a:ext cx="1868528" cy="252581"/>
          </a:xfrm>
          <a:prstGeom prst="rect">
            <a:avLst/>
          </a:prstGeom>
        </p:spPr>
        <p:txBody>
          <a:bodyPr lIns="0" tIns="0" rIns="0" bIns="0" rtlCol="0" anchor="t">
            <a:spAutoFit/>
          </a:bodyPr>
          <a:lstStyle/>
          <a:p>
            <a:pPr marL="0" lvl="0" indent="0" algn="l">
              <a:lnSpc>
                <a:spcPts val="1902"/>
              </a:lnSpc>
              <a:spcBef>
                <a:spcPct val="0"/>
              </a:spcBef>
            </a:pPr>
            <a:r>
              <a:rPr lang="en-US" sz="1729" b="1">
                <a:solidFill>
                  <a:srgbClr val="6A0B23"/>
                </a:solidFill>
                <a:latin typeface="Poppins Semi-Bold"/>
                <a:ea typeface="Poppins Semi-Bold"/>
                <a:cs typeface="Poppins Semi-Bold"/>
                <a:sym typeface="Poppins Semi-Bold"/>
              </a:rPr>
              <a:t>KNAV BAS OD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grpSp>
        <p:nvGrpSpPr>
          <p:cNvPr id="46" name="Group 45">
            <a:extLst>
              <a:ext uri="{FF2B5EF4-FFF2-40B4-BE49-F238E27FC236}">
                <a16:creationId xmlns:a16="http://schemas.microsoft.com/office/drawing/2014/main" id="{27530837-4D85-8D54-CEC6-11D44E3EF0D0}"/>
              </a:ext>
            </a:extLst>
          </p:cNvPr>
          <p:cNvGrpSpPr/>
          <p:nvPr/>
        </p:nvGrpSpPr>
        <p:grpSpPr>
          <a:xfrm>
            <a:off x="1716948" y="2781300"/>
            <a:ext cx="14845846" cy="4818519"/>
            <a:chOff x="1716948" y="2781300"/>
            <a:chExt cx="14845846" cy="4818519"/>
          </a:xfrm>
        </p:grpSpPr>
        <p:grpSp>
          <p:nvGrpSpPr>
            <p:cNvPr id="2" name="Group 2"/>
            <p:cNvGrpSpPr/>
            <p:nvPr/>
          </p:nvGrpSpPr>
          <p:grpSpPr>
            <a:xfrm>
              <a:off x="1716948" y="5373299"/>
              <a:ext cx="4718760" cy="2226520"/>
              <a:chOff x="0" y="0"/>
              <a:chExt cx="1243408" cy="586695"/>
            </a:xfrm>
          </p:grpSpPr>
          <p:sp>
            <p:nvSpPr>
              <p:cNvPr id="3" name="Freeform 3"/>
              <p:cNvSpPr/>
              <p:nvPr/>
            </p:nvSpPr>
            <p:spPr>
              <a:xfrm>
                <a:off x="0" y="0"/>
                <a:ext cx="1243408" cy="586695"/>
              </a:xfrm>
              <a:custGeom>
                <a:avLst/>
                <a:gdLst/>
                <a:ahLst/>
                <a:cxnLst/>
                <a:rect l="l" t="t" r="r" b="b"/>
                <a:pathLst>
                  <a:path w="1243408" h="586695">
                    <a:moveTo>
                      <a:pt x="0" y="0"/>
                    </a:moveTo>
                    <a:lnTo>
                      <a:pt x="1243408" y="0"/>
                    </a:lnTo>
                    <a:lnTo>
                      <a:pt x="1243408" y="586695"/>
                    </a:lnTo>
                    <a:lnTo>
                      <a:pt x="0" y="586695"/>
                    </a:lnTo>
                    <a:close/>
                  </a:path>
                </a:pathLst>
              </a:custGeom>
              <a:solidFill>
                <a:srgbClr val="FFFFFF"/>
              </a:solidFill>
            </p:spPr>
            <p:txBody>
              <a:bodyPr/>
              <a:lstStyle/>
              <a:p>
                <a:endParaRPr lang="en-IN"/>
              </a:p>
            </p:txBody>
          </p:sp>
          <p:sp>
            <p:nvSpPr>
              <p:cNvPr id="4" name="TextBox 4"/>
              <p:cNvSpPr txBox="1"/>
              <p:nvPr/>
            </p:nvSpPr>
            <p:spPr>
              <a:xfrm>
                <a:off x="0" y="9525"/>
                <a:ext cx="1243408" cy="577170"/>
              </a:xfrm>
              <a:prstGeom prst="rect">
                <a:avLst/>
              </a:prstGeom>
            </p:spPr>
            <p:txBody>
              <a:bodyPr lIns="71403" tIns="71403" rIns="71403" bIns="71403" rtlCol="0" anchor="ctr"/>
              <a:lstStyle/>
              <a:p>
                <a:pPr algn="ctr">
                  <a:lnSpc>
                    <a:spcPts val="2192"/>
                  </a:lnSpc>
                </a:pPr>
                <a:endParaRPr/>
              </a:p>
            </p:txBody>
          </p:sp>
        </p:grpSp>
        <p:grpSp>
          <p:nvGrpSpPr>
            <p:cNvPr id="5" name="Group 5"/>
            <p:cNvGrpSpPr/>
            <p:nvPr/>
          </p:nvGrpSpPr>
          <p:grpSpPr>
            <a:xfrm>
              <a:off x="6780491" y="2781300"/>
              <a:ext cx="4718760" cy="2226520"/>
              <a:chOff x="0" y="0"/>
              <a:chExt cx="1243408" cy="586695"/>
            </a:xfrm>
          </p:grpSpPr>
          <p:sp>
            <p:nvSpPr>
              <p:cNvPr id="6" name="Freeform 6"/>
              <p:cNvSpPr/>
              <p:nvPr/>
            </p:nvSpPr>
            <p:spPr>
              <a:xfrm>
                <a:off x="0" y="0"/>
                <a:ext cx="1243408" cy="586695"/>
              </a:xfrm>
              <a:custGeom>
                <a:avLst/>
                <a:gdLst/>
                <a:ahLst/>
                <a:cxnLst/>
                <a:rect l="l" t="t" r="r" b="b"/>
                <a:pathLst>
                  <a:path w="1243408" h="586695">
                    <a:moveTo>
                      <a:pt x="0" y="0"/>
                    </a:moveTo>
                    <a:lnTo>
                      <a:pt x="1243408" y="0"/>
                    </a:lnTo>
                    <a:lnTo>
                      <a:pt x="1243408" y="586695"/>
                    </a:lnTo>
                    <a:lnTo>
                      <a:pt x="0" y="586695"/>
                    </a:lnTo>
                    <a:close/>
                  </a:path>
                </a:pathLst>
              </a:custGeom>
              <a:solidFill>
                <a:srgbClr val="FFFFFF"/>
              </a:solidFill>
            </p:spPr>
            <p:txBody>
              <a:bodyPr/>
              <a:lstStyle/>
              <a:p>
                <a:endParaRPr lang="en-IN"/>
              </a:p>
            </p:txBody>
          </p:sp>
          <p:sp>
            <p:nvSpPr>
              <p:cNvPr id="7" name="TextBox 7"/>
              <p:cNvSpPr txBox="1"/>
              <p:nvPr/>
            </p:nvSpPr>
            <p:spPr>
              <a:xfrm>
                <a:off x="0" y="9525"/>
                <a:ext cx="1243408" cy="577170"/>
              </a:xfrm>
              <a:prstGeom prst="rect">
                <a:avLst/>
              </a:prstGeom>
            </p:spPr>
            <p:txBody>
              <a:bodyPr lIns="71403" tIns="71403" rIns="71403" bIns="71403" rtlCol="0" anchor="ctr"/>
              <a:lstStyle/>
              <a:p>
                <a:pPr algn="ctr">
                  <a:lnSpc>
                    <a:spcPts val="2192"/>
                  </a:lnSpc>
                </a:pPr>
                <a:endParaRPr/>
              </a:p>
            </p:txBody>
          </p:sp>
        </p:grpSp>
        <p:grpSp>
          <p:nvGrpSpPr>
            <p:cNvPr id="8" name="Group 8"/>
            <p:cNvGrpSpPr/>
            <p:nvPr/>
          </p:nvGrpSpPr>
          <p:grpSpPr>
            <a:xfrm>
              <a:off x="6767505" y="5373299"/>
              <a:ext cx="4718760" cy="2226520"/>
              <a:chOff x="0" y="0"/>
              <a:chExt cx="1243408" cy="586695"/>
            </a:xfrm>
          </p:grpSpPr>
          <p:sp>
            <p:nvSpPr>
              <p:cNvPr id="9" name="Freeform 9"/>
              <p:cNvSpPr/>
              <p:nvPr/>
            </p:nvSpPr>
            <p:spPr>
              <a:xfrm>
                <a:off x="0" y="0"/>
                <a:ext cx="1243408" cy="586695"/>
              </a:xfrm>
              <a:custGeom>
                <a:avLst/>
                <a:gdLst/>
                <a:ahLst/>
                <a:cxnLst/>
                <a:rect l="l" t="t" r="r" b="b"/>
                <a:pathLst>
                  <a:path w="1243408" h="586695">
                    <a:moveTo>
                      <a:pt x="0" y="0"/>
                    </a:moveTo>
                    <a:lnTo>
                      <a:pt x="1243408" y="0"/>
                    </a:lnTo>
                    <a:lnTo>
                      <a:pt x="1243408" y="586695"/>
                    </a:lnTo>
                    <a:lnTo>
                      <a:pt x="0" y="586695"/>
                    </a:lnTo>
                    <a:close/>
                  </a:path>
                </a:pathLst>
              </a:custGeom>
              <a:solidFill>
                <a:srgbClr val="FFFFFF"/>
              </a:solidFill>
            </p:spPr>
            <p:txBody>
              <a:bodyPr/>
              <a:lstStyle/>
              <a:p>
                <a:endParaRPr lang="en-IN"/>
              </a:p>
            </p:txBody>
          </p:sp>
          <p:sp>
            <p:nvSpPr>
              <p:cNvPr id="10" name="TextBox 10"/>
              <p:cNvSpPr txBox="1"/>
              <p:nvPr/>
            </p:nvSpPr>
            <p:spPr>
              <a:xfrm>
                <a:off x="0" y="9525"/>
                <a:ext cx="1243408" cy="577170"/>
              </a:xfrm>
              <a:prstGeom prst="rect">
                <a:avLst/>
              </a:prstGeom>
            </p:spPr>
            <p:txBody>
              <a:bodyPr lIns="71403" tIns="71403" rIns="71403" bIns="71403" rtlCol="0" anchor="ctr"/>
              <a:lstStyle/>
              <a:p>
                <a:pPr algn="ctr">
                  <a:lnSpc>
                    <a:spcPts val="2192"/>
                  </a:lnSpc>
                </a:pPr>
                <a:endParaRPr/>
              </a:p>
            </p:txBody>
          </p:sp>
        </p:grpSp>
        <p:grpSp>
          <p:nvGrpSpPr>
            <p:cNvPr id="11" name="Group 11"/>
            <p:cNvGrpSpPr/>
            <p:nvPr/>
          </p:nvGrpSpPr>
          <p:grpSpPr>
            <a:xfrm>
              <a:off x="11844034" y="2781300"/>
              <a:ext cx="4718760" cy="2226520"/>
              <a:chOff x="0" y="0"/>
              <a:chExt cx="1243408" cy="586695"/>
            </a:xfrm>
          </p:grpSpPr>
          <p:sp>
            <p:nvSpPr>
              <p:cNvPr id="12" name="Freeform 12"/>
              <p:cNvSpPr/>
              <p:nvPr/>
            </p:nvSpPr>
            <p:spPr>
              <a:xfrm>
                <a:off x="0" y="0"/>
                <a:ext cx="1243408" cy="586695"/>
              </a:xfrm>
              <a:custGeom>
                <a:avLst/>
                <a:gdLst/>
                <a:ahLst/>
                <a:cxnLst/>
                <a:rect l="l" t="t" r="r" b="b"/>
                <a:pathLst>
                  <a:path w="1243408" h="586695">
                    <a:moveTo>
                      <a:pt x="0" y="0"/>
                    </a:moveTo>
                    <a:lnTo>
                      <a:pt x="1243408" y="0"/>
                    </a:lnTo>
                    <a:lnTo>
                      <a:pt x="1243408" y="586695"/>
                    </a:lnTo>
                    <a:lnTo>
                      <a:pt x="0" y="586695"/>
                    </a:lnTo>
                    <a:close/>
                  </a:path>
                </a:pathLst>
              </a:custGeom>
              <a:solidFill>
                <a:srgbClr val="FFFFFF"/>
              </a:solidFill>
            </p:spPr>
            <p:txBody>
              <a:bodyPr/>
              <a:lstStyle/>
              <a:p>
                <a:endParaRPr lang="en-IN"/>
              </a:p>
            </p:txBody>
          </p:sp>
          <p:sp>
            <p:nvSpPr>
              <p:cNvPr id="13" name="TextBox 13"/>
              <p:cNvSpPr txBox="1"/>
              <p:nvPr/>
            </p:nvSpPr>
            <p:spPr>
              <a:xfrm>
                <a:off x="0" y="9525"/>
                <a:ext cx="1243408" cy="577170"/>
              </a:xfrm>
              <a:prstGeom prst="rect">
                <a:avLst/>
              </a:prstGeom>
            </p:spPr>
            <p:txBody>
              <a:bodyPr lIns="71403" tIns="71403" rIns="71403" bIns="71403" rtlCol="0" anchor="ctr"/>
              <a:lstStyle/>
              <a:p>
                <a:pPr algn="ctr">
                  <a:lnSpc>
                    <a:spcPts val="2192"/>
                  </a:lnSpc>
                </a:pPr>
                <a:endParaRPr/>
              </a:p>
            </p:txBody>
          </p:sp>
        </p:grpSp>
        <p:grpSp>
          <p:nvGrpSpPr>
            <p:cNvPr id="14" name="Group 14"/>
            <p:cNvGrpSpPr/>
            <p:nvPr/>
          </p:nvGrpSpPr>
          <p:grpSpPr>
            <a:xfrm>
              <a:off x="1716948" y="2781300"/>
              <a:ext cx="4718760" cy="2226520"/>
              <a:chOff x="0" y="0"/>
              <a:chExt cx="6291680" cy="2968694"/>
            </a:xfrm>
          </p:grpSpPr>
          <p:grpSp>
            <p:nvGrpSpPr>
              <p:cNvPr id="15" name="Group 15"/>
              <p:cNvGrpSpPr/>
              <p:nvPr/>
            </p:nvGrpSpPr>
            <p:grpSpPr>
              <a:xfrm>
                <a:off x="0" y="0"/>
                <a:ext cx="6291680" cy="2968694"/>
                <a:chOff x="0" y="0"/>
                <a:chExt cx="1243408" cy="586695"/>
              </a:xfrm>
            </p:grpSpPr>
            <p:sp>
              <p:nvSpPr>
                <p:cNvPr id="16" name="Freeform 16"/>
                <p:cNvSpPr/>
                <p:nvPr/>
              </p:nvSpPr>
              <p:spPr>
                <a:xfrm>
                  <a:off x="0" y="0"/>
                  <a:ext cx="1243408" cy="586695"/>
                </a:xfrm>
                <a:custGeom>
                  <a:avLst/>
                  <a:gdLst/>
                  <a:ahLst/>
                  <a:cxnLst/>
                  <a:rect l="l" t="t" r="r" b="b"/>
                  <a:pathLst>
                    <a:path w="1243408" h="586695">
                      <a:moveTo>
                        <a:pt x="0" y="0"/>
                      </a:moveTo>
                      <a:lnTo>
                        <a:pt x="1243408" y="0"/>
                      </a:lnTo>
                      <a:lnTo>
                        <a:pt x="1243408" y="586695"/>
                      </a:lnTo>
                      <a:lnTo>
                        <a:pt x="0" y="586695"/>
                      </a:lnTo>
                      <a:close/>
                    </a:path>
                  </a:pathLst>
                </a:custGeom>
                <a:solidFill>
                  <a:srgbClr val="FFFFFF"/>
                </a:solidFill>
              </p:spPr>
              <p:txBody>
                <a:bodyPr/>
                <a:lstStyle/>
                <a:p>
                  <a:endParaRPr lang="en-IN"/>
                </a:p>
              </p:txBody>
            </p:sp>
            <p:sp>
              <p:nvSpPr>
                <p:cNvPr id="17" name="TextBox 17"/>
                <p:cNvSpPr txBox="1"/>
                <p:nvPr/>
              </p:nvSpPr>
              <p:spPr>
                <a:xfrm>
                  <a:off x="0" y="9525"/>
                  <a:ext cx="1243408" cy="577170"/>
                </a:xfrm>
                <a:prstGeom prst="rect">
                  <a:avLst/>
                </a:prstGeom>
              </p:spPr>
              <p:txBody>
                <a:bodyPr lIns="50800" tIns="50800" rIns="50800" bIns="50800" rtlCol="0" anchor="ctr"/>
                <a:lstStyle/>
                <a:p>
                  <a:pPr algn="ctr">
                    <a:lnSpc>
                      <a:spcPts val="2192"/>
                    </a:lnSpc>
                  </a:pPr>
                  <a:endParaRPr/>
                </a:p>
              </p:txBody>
            </p:sp>
          </p:grpSp>
          <p:sp>
            <p:nvSpPr>
              <p:cNvPr id="18" name="Freeform 18"/>
              <p:cNvSpPr/>
              <p:nvPr/>
            </p:nvSpPr>
            <p:spPr>
              <a:xfrm>
                <a:off x="341600" y="449993"/>
                <a:ext cx="782731" cy="782731"/>
              </a:xfrm>
              <a:custGeom>
                <a:avLst/>
                <a:gdLst/>
                <a:ahLst/>
                <a:cxnLst/>
                <a:rect l="l" t="t" r="r" b="b"/>
                <a:pathLst>
                  <a:path w="782731" h="782731">
                    <a:moveTo>
                      <a:pt x="0" y="0"/>
                    </a:moveTo>
                    <a:lnTo>
                      <a:pt x="782731" y="0"/>
                    </a:lnTo>
                    <a:lnTo>
                      <a:pt x="782731" y="782731"/>
                    </a:lnTo>
                    <a:lnTo>
                      <a:pt x="0" y="7827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9" name="TextBox 19"/>
              <p:cNvSpPr txBox="1"/>
              <p:nvPr/>
            </p:nvSpPr>
            <p:spPr>
              <a:xfrm>
                <a:off x="1385781" y="459518"/>
                <a:ext cx="4564299" cy="704501"/>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Pre-Organization Development Workshop</a:t>
                </a:r>
              </a:p>
            </p:txBody>
          </p:sp>
          <p:sp>
            <p:nvSpPr>
              <p:cNvPr id="20" name="TextBox 20"/>
              <p:cNvSpPr txBox="1"/>
              <p:nvPr/>
            </p:nvSpPr>
            <p:spPr>
              <a:xfrm>
                <a:off x="1385781" y="1348154"/>
                <a:ext cx="4564299" cy="1156727"/>
              </a:xfrm>
              <a:prstGeom prst="rect">
                <a:avLst/>
              </a:prstGeom>
            </p:spPr>
            <p:txBody>
              <a:bodyPr lIns="0" tIns="0" rIns="0" bIns="0" rtlCol="0" anchor="t">
                <a:spAutoFit/>
              </a:bodyPr>
              <a:lstStyle/>
              <a:p>
                <a:pPr algn="l">
                  <a:lnSpc>
                    <a:spcPts val="2375"/>
                  </a:lnSpc>
                </a:pPr>
                <a:r>
                  <a:rPr lang="en-US" sz="1827" dirty="0">
                    <a:solidFill>
                      <a:srgbClr val="545454"/>
                    </a:solidFill>
                    <a:latin typeface="Open Sans"/>
                    <a:ea typeface="Open Sans"/>
                    <a:cs typeface="Open Sans"/>
                    <a:sym typeface="Open Sans"/>
                  </a:rPr>
                  <a:t>Setting context before the Organization Development Workshop.</a:t>
                </a:r>
              </a:p>
            </p:txBody>
          </p:sp>
        </p:grpSp>
        <p:grpSp>
          <p:nvGrpSpPr>
            <p:cNvPr id="21" name="Group 21"/>
            <p:cNvGrpSpPr/>
            <p:nvPr/>
          </p:nvGrpSpPr>
          <p:grpSpPr>
            <a:xfrm>
              <a:off x="1973148" y="5654719"/>
              <a:ext cx="4206361" cy="1690457"/>
              <a:chOff x="0" y="0"/>
              <a:chExt cx="5608481" cy="2253943"/>
            </a:xfrm>
          </p:grpSpPr>
          <p:sp>
            <p:nvSpPr>
              <p:cNvPr id="22" name="Freeform 22"/>
              <p:cNvSpPr/>
              <p:nvPr/>
            </p:nvSpPr>
            <p:spPr>
              <a:xfrm>
                <a:off x="0" y="0"/>
                <a:ext cx="782731" cy="782731"/>
              </a:xfrm>
              <a:custGeom>
                <a:avLst/>
                <a:gdLst/>
                <a:ahLst/>
                <a:cxnLst/>
                <a:rect l="l" t="t" r="r" b="b"/>
                <a:pathLst>
                  <a:path w="782731" h="782731">
                    <a:moveTo>
                      <a:pt x="0" y="0"/>
                    </a:moveTo>
                    <a:lnTo>
                      <a:pt x="782731" y="0"/>
                    </a:lnTo>
                    <a:lnTo>
                      <a:pt x="782731" y="782731"/>
                    </a:lnTo>
                    <a:lnTo>
                      <a:pt x="0" y="7827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3" name="TextBox 23"/>
              <p:cNvSpPr txBox="1"/>
              <p:nvPr/>
            </p:nvSpPr>
            <p:spPr>
              <a:xfrm>
                <a:off x="1044182" y="9525"/>
                <a:ext cx="4564299" cy="347488"/>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Actionables </a:t>
                </a:r>
              </a:p>
            </p:txBody>
          </p:sp>
          <p:sp>
            <p:nvSpPr>
              <p:cNvPr id="24" name="TextBox 24"/>
              <p:cNvSpPr txBox="1"/>
              <p:nvPr/>
            </p:nvSpPr>
            <p:spPr>
              <a:xfrm>
                <a:off x="1044182" y="704501"/>
                <a:ext cx="4564299" cy="1549441"/>
              </a:xfrm>
              <a:prstGeom prst="rect">
                <a:avLst/>
              </a:prstGeom>
            </p:spPr>
            <p:txBody>
              <a:bodyPr lIns="0" tIns="0" rIns="0" bIns="0" rtlCol="0" anchor="t">
                <a:spAutoFit/>
              </a:bodyPr>
              <a:lstStyle/>
              <a:p>
                <a:pPr algn="l">
                  <a:lnSpc>
                    <a:spcPts val="2375"/>
                  </a:lnSpc>
                </a:pPr>
                <a:r>
                  <a:rPr lang="en-US" sz="1827" dirty="0">
                    <a:solidFill>
                      <a:srgbClr val="545454"/>
                    </a:solidFill>
                    <a:latin typeface="Open Sans"/>
                    <a:ea typeface="Open Sans"/>
                    <a:cs typeface="Open Sans"/>
                    <a:sym typeface="Open Sans"/>
                  </a:rPr>
                  <a:t>Track key priorities &amp; takeaways from the Organization Development Workshop.</a:t>
                </a:r>
              </a:p>
            </p:txBody>
          </p:sp>
        </p:grpSp>
        <p:grpSp>
          <p:nvGrpSpPr>
            <p:cNvPr id="25" name="Group 25"/>
            <p:cNvGrpSpPr/>
            <p:nvPr/>
          </p:nvGrpSpPr>
          <p:grpSpPr>
            <a:xfrm>
              <a:off x="7023704" y="3118795"/>
              <a:ext cx="4206361" cy="1101385"/>
              <a:chOff x="0" y="0"/>
              <a:chExt cx="5608481" cy="1468514"/>
            </a:xfrm>
          </p:grpSpPr>
          <p:sp>
            <p:nvSpPr>
              <p:cNvPr id="26" name="Freeform 26"/>
              <p:cNvSpPr/>
              <p:nvPr/>
            </p:nvSpPr>
            <p:spPr>
              <a:xfrm>
                <a:off x="0" y="0"/>
                <a:ext cx="782731" cy="782731"/>
              </a:xfrm>
              <a:custGeom>
                <a:avLst/>
                <a:gdLst/>
                <a:ahLst/>
                <a:cxnLst/>
                <a:rect l="l" t="t" r="r" b="b"/>
                <a:pathLst>
                  <a:path w="782731" h="782731">
                    <a:moveTo>
                      <a:pt x="0" y="0"/>
                    </a:moveTo>
                    <a:lnTo>
                      <a:pt x="782731" y="0"/>
                    </a:lnTo>
                    <a:lnTo>
                      <a:pt x="782731" y="782731"/>
                    </a:lnTo>
                    <a:lnTo>
                      <a:pt x="0" y="7827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7" name="TextBox 27"/>
              <p:cNvSpPr txBox="1"/>
              <p:nvPr/>
            </p:nvSpPr>
            <p:spPr>
              <a:xfrm>
                <a:off x="1044182" y="9525"/>
                <a:ext cx="4564299" cy="347488"/>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Vision &amp; Mission</a:t>
                </a:r>
              </a:p>
            </p:txBody>
          </p:sp>
          <p:sp>
            <p:nvSpPr>
              <p:cNvPr id="28" name="TextBox 28"/>
              <p:cNvSpPr txBox="1"/>
              <p:nvPr/>
            </p:nvSpPr>
            <p:spPr>
              <a:xfrm>
                <a:off x="1044182" y="704501"/>
                <a:ext cx="4564299" cy="764012"/>
              </a:xfrm>
              <a:prstGeom prst="rect">
                <a:avLst/>
              </a:prstGeom>
            </p:spPr>
            <p:txBody>
              <a:bodyPr lIns="0" tIns="0" rIns="0" bIns="0" rtlCol="0" anchor="t">
                <a:spAutoFit/>
              </a:bodyPr>
              <a:lstStyle/>
              <a:p>
                <a:pPr algn="l">
                  <a:lnSpc>
                    <a:spcPts val="2375"/>
                  </a:lnSpc>
                </a:pPr>
                <a:r>
                  <a:rPr lang="en-US" sz="1827">
                    <a:solidFill>
                      <a:srgbClr val="545454"/>
                    </a:solidFill>
                    <a:latin typeface="Open Sans"/>
                    <a:ea typeface="Open Sans"/>
                    <a:cs typeface="Open Sans"/>
                    <a:sym typeface="Open Sans"/>
                  </a:rPr>
                  <a:t>Aligning goals, purpose, and aspirations for the business.</a:t>
                </a:r>
              </a:p>
            </p:txBody>
          </p:sp>
        </p:grpSp>
        <p:grpSp>
          <p:nvGrpSpPr>
            <p:cNvPr id="29" name="Group 29"/>
            <p:cNvGrpSpPr/>
            <p:nvPr/>
          </p:nvGrpSpPr>
          <p:grpSpPr>
            <a:xfrm>
              <a:off x="7023704" y="5654719"/>
              <a:ext cx="4206361" cy="1395921"/>
              <a:chOff x="0" y="0"/>
              <a:chExt cx="5608481" cy="1861228"/>
            </a:xfrm>
          </p:grpSpPr>
          <p:sp>
            <p:nvSpPr>
              <p:cNvPr id="30" name="Freeform 30"/>
              <p:cNvSpPr/>
              <p:nvPr/>
            </p:nvSpPr>
            <p:spPr>
              <a:xfrm>
                <a:off x="0" y="0"/>
                <a:ext cx="782731" cy="782731"/>
              </a:xfrm>
              <a:custGeom>
                <a:avLst/>
                <a:gdLst/>
                <a:ahLst/>
                <a:cxnLst/>
                <a:rect l="l" t="t" r="r" b="b"/>
                <a:pathLst>
                  <a:path w="782731" h="782731">
                    <a:moveTo>
                      <a:pt x="0" y="0"/>
                    </a:moveTo>
                    <a:lnTo>
                      <a:pt x="782731" y="0"/>
                    </a:lnTo>
                    <a:lnTo>
                      <a:pt x="782731" y="782731"/>
                    </a:lnTo>
                    <a:lnTo>
                      <a:pt x="0" y="7827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1" name="TextBox 31"/>
              <p:cNvSpPr txBox="1"/>
              <p:nvPr/>
            </p:nvSpPr>
            <p:spPr>
              <a:xfrm>
                <a:off x="1044182" y="9525"/>
                <a:ext cx="4564299" cy="347488"/>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Reports</a:t>
                </a:r>
              </a:p>
            </p:txBody>
          </p:sp>
          <p:sp>
            <p:nvSpPr>
              <p:cNvPr id="32" name="TextBox 32"/>
              <p:cNvSpPr txBox="1"/>
              <p:nvPr/>
            </p:nvSpPr>
            <p:spPr>
              <a:xfrm>
                <a:off x="1044182" y="704501"/>
                <a:ext cx="4564299" cy="1156727"/>
              </a:xfrm>
              <a:prstGeom prst="rect">
                <a:avLst/>
              </a:prstGeom>
            </p:spPr>
            <p:txBody>
              <a:bodyPr lIns="0" tIns="0" rIns="0" bIns="0" rtlCol="0" anchor="t">
                <a:spAutoFit/>
              </a:bodyPr>
              <a:lstStyle/>
              <a:p>
                <a:pPr algn="l">
                  <a:lnSpc>
                    <a:spcPts val="2375"/>
                  </a:lnSpc>
                </a:pPr>
                <a:r>
                  <a:rPr lang="en-US" sz="1827">
                    <a:solidFill>
                      <a:srgbClr val="545454"/>
                    </a:solidFill>
                    <a:latin typeface="Open Sans"/>
                    <a:ea typeface="Open Sans"/>
                    <a:cs typeface="Open Sans"/>
                    <a:sym typeface="Open Sans"/>
                  </a:rPr>
                  <a:t>Summary of key insights, participant reflections &amp; actionables. </a:t>
                </a:r>
              </a:p>
            </p:txBody>
          </p:sp>
        </p:grpSp>
        <p:grpSp>
          <p:nvGrpSpPr>
            <p:cNvPr id="33" name="Group 33"/>
            <p:cNvGrpSpPr/>
            <p:nvPr/>
          </p:nvGrpSpPr>
          <p:grpSpPr>
            <a:xfrm>
              <a:off x="12100234" y="3118795"/>
              <a:ext cx="4206361" cy="1395921"/>
              <a:chOff x="0" y="0"/>
              <a:chExt cx="5608481" cy="1861228"/>
            </a:xfrm>
          </p:grpSpPr>
          <p:sp>
            <p:nvSpPr>
              <p:cNvPr id="34" name="Freeform 34"/>
              <p:cNvSpPr/>
              <p:nvPr/>
            </p:nvSpPr>
            <p:spPr>
              <a:xfrm>
                <a:off x="0" y="0"/>
                <a:ext cx="782731" cy="782731"/>
              </a:xfrm>
              <a:custGeom>
                <a:avLst/>
                <a:gdLst/>
                <a:ahLst/>
                <a:cxnLst/>
                <a:rect l="l" t="t" r="r" b="b"/>
                <a:pathLst>
                  <a:path w="782731" h="782731">
                    <a:moveTo>
                      <a:pt x="0" y="0"/>
                    </a:moveTo>
                    <a:lnTo>
                      <a:pt x="782731" y="0"/>
                    </a:lnTo>
                    <a:lnTo>
                      <a:pt x="782731" y="782731"/>
                    </a:lnTo>
                    <a:lnTo>
                      <a:pt x="0" y="7827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5" name="TextBox 35"/>
              <p:cNvSpPr txBox="1"/>
              <p:nvPr/>
            </p:nvSpPr>
            <p:spPr>
              <a:xfrm>
                <a:off x="1044182" y="9525"/>
                <a:ext cx="4564299" cy="347488"/>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Unlock Value</a:t>
                </a:r>
              </a:p>
            </p:txBody>
          </p:sp>
          <p:sp>
            <p:nvSpPr>
              <p:cNvPr id="36" name="TextBox 36"/>
              <p:cNvSpPr txBox="1"/>
              <p:nvPr/>
            </p:nvSpPr>
            <p:spPr>
              <a:xfrm>
                <a:off x="1044182" y="704501"/>
                <a:ext cx="4564299" cy="1156727"/>
              </a:xfrm>
              <a:prstGeom prst="rect">
                <a:avLst/>
              </a:prstGeom>
            </p:spPr>
            <p:txBody>
              <a:bodyPr lIns="0" tIns="0" rIns="0" bIns="0" rtlCol="0" anchor="t">
                <a:spAutoFit/>
              </a:bodyPr>
              <a:lstStyle/>
              <a:p>
                <a:pPr algn="l">
                  <a:lnSpc>
                    <a:spcPts val="2375"/>
                  </a:lnSpc>
                </a:pPr>
                <a:r>
                  <a:rPr lang="en-US" sz="1827">
                    <a:solidFill>
                      <a:srgbClr val="545454"/>
                    </a:solidFill>
                    <a:latin typeface="Open Sans"/>
                    <a:ea typeface="Open Sans"/>
                    <a:cs typeface="Open Sans"/>
                    <a:sym typeface="Open Sans"/>
                  </a:rPr>
                  <a:t>Foundational insights on the business model, operational efficiency and strategic outlook.</a:t>
                </a:r>
              </a:p>
            </p:txBody>
          </p:sp>
        </p:grpSp>
      </p:grpSp>
      <p:sp>
        <p:nvSpPr>
          <p:cNvPr id="37" name="Freeform 37"/>
          <p:cNvSpPr/>
          <p:nvPr/>
        </p:nvSpPr>
        <p:spPr>
          <a:xfrm>
            <a:off x="16286999" y="705692"/>
            <a:ext cx="377655" cy="359245"/>
          </a:xfrm>
          <a:custGeom>
            <a:avLst/>
            <a:gdLst/>
            <a:ahLst/>
            <a:cxnLst/>
            <a:rect l="l" t="t" r="r" b="b"/>
            <a:pathLst>
              <a:path w="377655" h="359245">
                <a:moveTo>
                  <a:pt x="0" y="0"/>
                </a:moveTo>
                <a:lnTo>
                  <a:pt x="377655" y="0"/>
                </a:lnTo>
                <a:lnTo>
                  <a:pt x="377655" y="359244"/>
                </a:lnTo>
                <a:lnTo>
                  <a:pt x="0" y="3592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38" name="Freeform 38"/>
          <p:cNvSpPr/>
          <p:nvPr/>
        </p:nvSpPr>
        <p:spPr>
          <a:xfrm>
            <a:off x="16849489" y="705692"/>
            <a:ext cx="359245" cy="359245"/>
          </a:xfrm>
          <a:custGeom>
            <a:avLst/>
            <a:gdLst/>
            <a:ahLst/>
            <a:cxnLst/>
            <a:rect l="l" t="t" r="r" b="b"/>
            <a:pathLst>
              <a:path w="359245" h="359245">
                <a:moveTo>
                  <a:pt x="0" y="0"/>
                </a:moveTo>
                <a:lnTo>
                  <a:pt x="359245" y="0"/>
                </a:lnTo>
                <a:lnTo>
                  <a:pt x="359245" y="359244"/>
                </a:lnTo>
                <a:lnTo>
                  <a:pt x="0" y="359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39" name="TextBox 39"/>
          <p:cNvSpPr txBox="1"/>
          <p:nvPr/>
        </p:nvSpPr>
        <p:spPr>
          <a:xfrm>
            <a:off x="13738882" y="746525"/>
            <a:ext cx="1461592" cy="277578"/>
          </a:xfrm>
          <a:prstGeom prst="rect">
            <a:avLst/>
          </a:prstGeom>
        </p:spPr>
        <p:txBody>
          <a:bodyPr lIns="0" tIns="0" rIns="0" bIns="0" rtlCol="0" anchor="t">
            <a:spAutoFit/>
          </a:bodyPr>
          <a:lstStyle/>
          <a:p>
            <a:pPr marL="0" lvl="0" indent="0" algn="r">
              <a:lnSpc>
                <a:spcPts val="2009"/>
              </a:lnSpc>
              <a:spcBef>
                <a:spcPct val="0"/>
              </a:spcBef>
            </a:pPr>
            <a:r>
              <a:rPr lang="en-US" sz="1827" b="1">
                <a:solidFill>
                  <a:srgbClr val="6A0B23"/>
                </a:solidFill>
                <a:latin typeface="Poppins Bold"/>
                <a:ea typeface="Poppins Bold"/>
                <a:cs typeface="Poppins Bold"/>
                <a:sym typeface="Poppins Bold"/>
              </a:rPr>
              <a:t>Logout</a:t>
            </a:r>
          </a:p>
        </p:txBody>
      </p:sp>
      <p:sp>
        <p:nvSpPr>
          <p:cNvPr id="40" name="TextBox 40"/>
          <p:cNvSpPr txBox="1"/>
          <p:nvPr/>
        </p:nvSpPr>
        <p:spPr>
          <a:xfrm>
            <a:off x="1716948" y="641945"/>
            <a:ext cx="3328130" cy="477213"/>
          </a:xfrm>
          <a:prstGeom prst="rect">
            <a:avLst/>
          </a:prstGeom>
        </p:spPr>
        <p:txBody>
          <a:bodyPr lIns="0" tIns="0" rIns="0" bIns="0" rtlCol="0" anchor="t">
            <a:spAutoFit/>
          </a:bodyPr>
          <a:lstStyle/>
          <a:p>
            <a:pPr marL="0" lvl="0" indent="0" algn="l">
              <a:lnSpc>
                <a:spcPts val="3401"/>
              </a:lnSpc>
              <a:spcBef>
                <a:spcPct val="0"/>
              </a:spcBef>
            </a:pPr>
            <a:r>
              <a:rPr lang="en-US" sz="3092" b="1">
                <a:solidFill>
                  <a:srgbClr val="6A0B23"/>
                </a:solidFill>
                <a:latin typeface="Poppins Semi-Bold"/>
                <a:ea typeface="Poppins Semi-Bold"/>
                <a:cs typeface="Poppins Semi-Bold"/>
                <a:sym typeface="Poppins Semi-Bold"/>
              </a:rPr>
              <a:t>[Name]</a:t>
            </a:r>
          </a:p>
        </p:txBody>
      </p:sp>
      <p:sp>
        <p:nvSpPr>
          <p:cNvPr id="41" name="TextBox 41"/>
          <p:cNvSpPr txBox="1"/>
          <p:nvPr/>
        </p:nvSpPr>
        <p:spPr>
          <a:xfrm>
            <a:off x="14637974" y="746525"/>
            <a:ext cx="1461592" cy="277578"/>
          </a:xfrm>
          <a:prstGeom prst="rect">
            <a:avLst/>
          </a:prstGeom>
        </p:spPr>
        <p:txBody>
          <a:bodyPr lIns="0" tIns="0" rIns="0" bIns="0" rtlCol="0" anchor="t">
            <a:spAutoFit/>
          </a:bodyPr>
          <a:lstStyle/>
          <a:p>
            <a:pPr marL="0" lvl="0" indent="0" algn="r">
              <a:lnSpc>
                <a:spcPts val="2009"/>
              </a:lnSpc>
              <a:spcBef>
                <a:spcPct val="0"/>
              </a:spcBef>
            </a:pPr>
            <a:r>
              <a:rPr lang="en-US" sz="1827">
                <a:solidFill>
                  <a:srgbClr val="6A0B23"/>
                </a:solidFill>
                <a:latin typeface="Poppins"/>
                <a:ea typeface="Poppins"/>
                <a:cs typeface="Poppins"/>
                <a:sym typeface="Poppins"/>
              </a:rPr>
              <a:t>Home</a:t>
            </a:r>
          </a:p>
        </p:txBody>
      </p:sp>
      <p:sp>
        <p:nvSpPr>
          <p:cNvPr id="42" name="Freeform 42"/>
          <p:cNvSpPr/>
          <p:nvPr/>
        </p:nvSpPr>
        <p:spPr>
          <a:xfrm>
            <a:off x="1028198" y="756740"/>
            <a:ext cx="383803" cy="257148"/>
          </a:xfrm>
          <a:custGeom>
            <a:avLst/>
            <a:gdLst/>
            <a:ahLst/>
            <a:cxnLst/>
            <a:rect l="l" t="t" r="r" b="b"/>
            <a:pathLst>
              <a:path w="383803" h="257148">
                <a:moveTo>
                  <a:pt x="0" y="0"/>
                </a:moveTo>
                <a:lnTo>
                  <a:pt x="383803" y="0"/>
                </a:lnTo>
                <a:lnTo>
                  <a:pt x="383803" y="257148"/>
                </a:lnTo>
                <a:lnTo>
                  <a:pt x="0" y="25714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43" name="TextBox 43"/>
          <p:cNvSpPr txBox="1"/>
          <p:nvPr/>
        </p:nvSpPr>
        <p:spPr>
          <a:xfrm>
            <a:off x="1716948" y="9318001"/>
            <a:ext cx="9225262" cy="228821"/>
          </a:xfrm>
          <a:prstGeom prst="rect">
            <a:avLst/>
          </a:prstGeom>
        </p:spPr>
        <p:txBody>
          <a:bodyPr lIns="0" tIns="0" rIns="0" bIns="0" rtlCol="0" anchor="t">
            <a:spAutoFit/>
          </a:bodyPr>
          <a:lstStyle/>
          <a:p>
            <a:pPr algn="l">
              <a:lnSpc>
                <a:spcPts val="1824"/>
              </a:lnSpc>
            </a:pPr>
            <a:r>
              <a:rPr lang="en-US" sz="1403" i="1">
                <a:solidFill>
                  <a:srgbClr val="000000"/>
                </a:solidFill>
                <a:latin typeface="Open Sans Italics"/>
                <a:ea typeface="Open Sans Italics"/>
                <a:cs typeface="Open Sans Italics"/>
                <a:sym typeface="Open Sans Italics"/>
              </a:rPr>
              <a:t>Grow Your Business: organization Development Workshop</a:t>
            </a:r>
          </a:p>
        </p:txBody>
      </p:sp>
      <p:sp>
        <p:nvSpPr>
          <p:cNvPr id="44" name="TextBox 44"/>
          <p:cNvSpPr txBox="1"/>
          <p:nvPr/>
        </p:nvSpPr>
        <p:spPr>
          <a:xfrm>
            <a:off x="1716948" y="1591088"/>
            <a:ext cx="2902986" cy="252581"/>
          </a:xfrm>
          <a:prstGeom prst="rect">
            <a:avLst/>
          </a:prstGeom>
        </p:spPr>
        <p:txBody>
          <a:bodyPr lIns="0" tIns="0" rIns="0" bIns="0" rtlCol="0" anchor="t">
            <a:spAutoFit/>
          </a:bodyPr>
          <a:lstStyle/>
          <a:p>
            <a:pPr marL="0" lvl="0" indent="0" algn="l">
              <a:lnSpc>
                <a:spcPts val="1902"/>
              </a:lnSpc>
              <a:spcBef>
                <a:spcPct val="0"/>
              </a:spcBef>
            </a:pPr>
            <a:r>
              <a:rPr lang="en-US" sz="1729" b="1" u="none" strike="noStrike">
                <a:solidFill>
                  <a:srgbClr val="6A0B23"/>
                </a:solidFill>
                <a:latin typeface="Poppins Semi-Bold"/>
                <a:ea typeface="Poppins Semi-Bold"/>
                <a:cs typeface="Poppins Semi-Bold"/>
                <a:sym typeface="Poppins Semi-Bold"/>
              </a:rPr>
              <a:t>[Organization Name]</a:t>
            </a:r>
          </a:p>
        </p:txBody>
      </p:sp>
      <p:sp>
        <p:nvSpPr>
          <p:cNvPr id="45" name="TextBox 45"/>
          <p:cNvSpPr txBox="1"/>
          <p:nvPr/>
        </p:nvSpPr>
        <p:spPr>
          <a:xfrm>
            <a:off x="5282754" y="1591088"/>
            <a:ext cx="1868528" cy="252581"/>
          </a:xfrm>
          <a:prstGeom prst="rect">
            <a:avLst/>
          </a:prstGeom>
        </p:spPr>
        <p:txBody>
          <a:bodyPr lIns="0" tIns="0" rIns="0" bIns="0" rtlCol="0" anchor="t">
            <a:spAutoFit/>
          </a:bodyPr>
          <a:lstStyle/>
          <a:p>
            <a:pPr marL="0" lvl="0" indent="0" algn="l">
              <a:lnSpc>
                <a:spcPts val="1902"/>
              </a:lnSpc>
              <a:spcBef>
                <a:spcPct val="0"/>
              </a:spcBef>
            </a:pPr>
            <a:r>
              <a:rPr lang="en-US" sz="1729" b="1">
                <a:solidFill>
                  <a:srgbClr val="6A0B23"/>
                </a:solidFill>
                <a:latin typeface="Poppins Semi-Bold"/>
                <a:ea typeface="Poppins Semi-Bold"/>
                <a:cs typeface="Poppins Semi-Bold"/>
                <a:sym typeface="Poppins Semi-Bold"/>
              </a:rPr>
              <a:t>KNAV BAS OD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grpSp>
        <p:nvGrpSpPr>
          <p:cNvPr id="103" name="Group 102">
            <a:extLst>
              <a:ext uri="{FF2B5EF4-FFF2-40B4-BE49-F238E27FC236}">
                <a16:creationId xmlns:a16="http://schemas.microsoft.com/office/drawing/2014/main" id="{9DECCE06-5BFB-7F5F-7F92-8A98F87A9F58}"/>
              </a:ext>
            </a:extLst>
          </p:cNvPr>
          <p:cNvGrpSpPr/>
          <p:nvPr/>
        </p:nvGrpSpPr>
        <p:grpSpPr>
          <a:xfrm>
            <a:off x="1716948" y="2781300"/>
            <a:ext cx="14845846" cy="4818519"/>
            <a:chOff x="1716948" y="2781300"/>
            <a:chExt cx="14845846" cy="4818519"/>
          </a:xfrm>
        </p:grpSpPr>
        <p:grpSp>
          <p:nvGrpSpPr>
            <p:cNvPr id="104" name="Group 2">
              <a:extLst>
                <a:ext uri="{FF2B5EF4-FFF2-40B4-BE49-F238E27FC236}">
                  <a16:creationId xmlns:a16="http://schemas.microsoft.com/office/drawing/2014/main" id="{73135DAC-3C27-87F1-E3BE-AC0F3207994C}"/>
                </a:ext>
              </a:extLst>
            </p:cNvPr>
            <p:cNvGrpSpPr/>
            <p:nvPr/>
          </p:nvGrpSpPr>
          <p:grpSpPr>
            <a:xfrm>
              <a:off x="1716948" y="5373299"/>
              <a:ext cx="4718760" cy="2226520"/>
              <a:chOff x="0" y="0"/>
              <a:chExt cx="1243408" cy="586695"/>
            </a:xfrm>
          </p:grpSpPr>
          <p:sp>
            <p:nvSpPr>
              <p:cNvPr id="137" name="Freeform 3">
                <a:extLst>
                  <a:ext uri="{FF2B5EF4-FFF2-40B4-BE49-F238E27FC236}">
                    <a16:creationId xmlns:a16="http://schemas.microsoft.com/office/drawing/2014/main" id="{B6051CC9-D80E-8958-F9B8-3F8E84E3D16B}"/>
                  </a:ext>
                </a:extLst>
              </p:cNvPr>
              <p:cNvSpPr/>
              <p:nvPr/>
            </p:nvSpPr>
            <p:spPr>
              <a:xfrm>
                <a:off x="0" y="0"/>
                <a:ext cx="1243408" cy="586695"/>
              </a:xfrm>
              <a:custGeom>
                <a:avLst/>
                <a:gdLst/>
                <a:ahLst/>
                <a:cxnLst/>
                <a:rect l="l" t="t" r="r" b="b"/>
                <a:pathLst>
                  <a:path w="1243408" h="586695">
                    <a:moveTo>
                      <a:pt x="0" y="0"/>
                    </a:moveTo>
                    <a:lnTo>
                      <a:pt x="1243408" y="0"/>
                    </a:lnTo>
                    <a:lnTo>
                      <a:pt x="1243408" y="586695"/>
                    </a:lnTo>
                    <a:lnTo>
                      <a:pt x="0" y="586695"/>
                    </a:lnTo>
                    <a:close/>
                  </a:path>
                </a:pathLst>
              </a:custGeom>
              <a:solidFill>
                <a:srgbClr val="FFFFFF"/>
              </a:solidFill>
            </p:spPr>
            <p:txBody>
              <a:bodyPr/>
              <a:lstStyle/>
              <a:p>
                <a:endParaRPr lang="en-IN"/>
              </a:p>
            </p:txBody>
          </p:sp>
          <p:sp>
            <p:nvSpPr>
              <p:cNvPr id="138" name="TextBox 4">
                <a:extLst>
                  <a:ext uri="{FF2B5EF4-FFF2-40B4-BE49-F238E27FC236}">
                    <a16:creationId xmlns:a16="http://schemas.microsoft.com/office/drawing/2014/main" id="{8AF54A4C-63E3-C231-91D3-9F5E967F065B}"/>
                  </a:ext>
                </a:extLst>
              </p:cNvPr>
              <p:cNvSpPr txBox="1"/>
              <p:nvPr/>
            </p:nvSpPr>
            <p:spPr>
              <a:xfrm>
                <a:off x="0" y="9525"/>
                <a:ext cx="1243408" cy="577170"/>
              </a:xfrm>
              <a:prstGeom prst="rect">
                <a:avLst/>
              </a:prstGeom>
            </p:spPr>
            <p:txBody>
              <a:bodyPr lIns="71403" tIns="71403" rIns="71403" bIns="71403" rtlCol="0" anchor="ctr"/>
              <a:lstStyle/>
              <a:p>
                <a:pPr algn="ctr">
                  <a:lnSpc>
                    <a:spcPts val="2192"/>
                  </a:lnSpc>
                </a:pPr>
                <a:endParaRPr/>
              </a:p>
            </p:txBody>
          </p:sp>
        </p:grpSp>
        <p:grpSp>
          <p:nvGrpSpPr>
            <p:cNvPr id="105" name="Group 5">
              <a:extLst>
                <a:ext uri="{FF2B5EF4-FFF2-40B4-BE49-F238E27FC236}">
                  <a16:creationId xmlns:a16="http://schemas.microsoft.com/office/drawing/2014/main" id="{94F6F237-7B49-3501-0700-79DBA103C3B4}"/>
                </a:ext>
              </a:extLst>
            </p:cNvPr>
            <p:cNvGrpSpPr/>
            <p:nvPr/>
          </p:nvGrpSpPr>
          <p:grpSpPr>
            <a:xfrm>
              <a:off x="6780491" y="2781300"/>
              <a:ext cx="4718760" cy="2226520"/>
              <a:chOff x="0" y="0"/>
              <a:chExt cx="1243408" cy="586695"/>
            </a:xfrm>
          </p:grpSpPr>
          <p:sp>
            <p:nvSpPr>
              <p:cNvPr id="135" name="Freeform 6">
                <a:extLst>
                  <a:ext uri="{FF2B5EF4-FFF2-40B4-BE49-F238E27FC236}">
                    <a16:creationId xmlns:a16="http://schemas.microsoft.com/office/drawing/2014/main" id="{D57227B0-E51D-C16D-47AA-A6FBF7124FE0}"/>
                  </a:ext>
                </a:extLst>
              </p:cNvPr>
              <p:cNvSpPr/>
              <p:nvPr/>
            </p:nvSpPr>
            <p:spPr>
              <a:xfrm>
                <a:off x="0" y="0"/>
                <a:ext cx="1243408" cy="586695"/>
              </a:xfrm>
              <a:custGeom>
                <a:avLst/>
                <a:gdLst/>
                <a:ahLst/>
                <a:cxnLst/>
                <a:rect l="l" t="t" r="r" b="b"/>
                <a:pathLst>
                  <a:path w="1243408" h="586695">
                    <a:moveTo>
                      <a:pt x="0" y="0"/>
                    </a:moveTo>
                    <a:lnTo>
                      <a:pt x="1243408" y="0"/>
                    </a:lnTo>
                    <a:lnTo>
                      <a:pt x="1243408" y="586695"/>
                    </a:lnTo>
                    <a:lnTo>
                      <a:pt x="0" y="586695"/>
                    </a:lnTo>
                    <a:close/>
                  </a:path>
                </a:pathLst>
              </a:custGeom>
              <a:solidFill>
                <a:srgbClr val="FFFFFF"/>
              </a:solidFill>
            </p:spPr>
            <p:txBody>
              <a:bodyPr/>
              <a:lstStyle/>
              <a:p>
                <a:endParaRPr lang="en-IN"/>
              </a:p>
            </p:txBody>
          </p:sp>
          <p:sp>
            <p:nvSpPr>
              <p:cNvPr id="136" name="TextBox 7">
                <a:extLst>
                  <a:ext uri="{FF2B5EF4-FFF2-40B4-BE49-F238E27FC236}">
                    <a16:creationId xmlns:a16="http://schemas.microsoft.com/office/drawing/2014/main" id="{D29CAA6E-BAA6-5598-88EF-346A6A2974AC}"/>
                  </a:ext>
                </a:extLst>
              </p:cNvPr>
              <p:cNvSpPr txBox="1"/>
              <p:nvPr/>
            </p:nvSpPr>
            <p:spPr>
              <a:xfrm>
                <a:off x="0" y="9525"/>
                <a:ext cx="1243408" cy="577170"/>
              </a:xfrm>
              <a:prstGeom prst="rect">
                <a:avLst/>
              </a:prstGeom>
            </p:spPr>
            <p:txBody>
              <a:bodyPr lIns="71403" tIns="71403" rIns="71403" bIns="71403" rtlCol="0" anchor="ctr"/>
              <a:lstStyle/>
              <a:p>
                <a:pPr algn="ctr">
                  <a:lnSpc>
                    <a:spcPts val="2192"/>
                  </a:lnSpc>
                </a:pPr>
                <a:endParaRPr/>
              </a:p>
            </p:txBody>
          </p:sp>
        </p:grpSp>
        <p:grpSp>
          <p:nvGrpSpPr>
            <p:cNvPr id="106" name="Group 8">
              <a:extLst>
                <a:ext uri="{FF2B5EF4-FFF2-40B4-BE49-F238E27FC236}">
                  <a16:creationId xmlns:a16="http://schemas.microsoft.com/office/drawing/2014/main" id="{847149A0-B805-28FA-CFBC-964F2803B81B}"/>
                </a:ext>
              </a:extLst>
            </p:cNvPr>
            <p:cNvGrpSpPr/>
            <p:nvPr/>
          </p:nvGrpSpPr>
          <p:grpSpPr>
            <a:xfrm>
              <a:off x="6767505" y="5373299"/>
              <a:ext cx="4718760" cy="2226520"/>
              <a:chOff x="0" y="0"/>
              <a:chExt cx="1243408" cy="586695"/>
            </a:xfrm>
          </p:grpSpPr>
          <p:sp>
            <p:nvSpPr>
              <p:cNvPr id="133" name="Freeform 9">
                <a:extLst>
                  <a:ext uri="{FF2B5EF4-FFF2-40B4-BE49-F238E27FC236}">
                    <a16:creationId xmlns:a16="http://schemas.microsoft.com/office/drawing/2014/main" id="{96CE8BBB-28E3-AFAC-CD18-88975922AE39}"/>
                  </a:ext>
                </a:extLst>
              </p:cNvPr>
              <p:cNvSpPr/>
              <p:nvPr/>
            </p:nvSpPr>
            <p:spPr>
              <a:xfrm>
                <a:off x="0" y="0"/>
                <a:ext cx="1243408" cy="586695"/>
              </a:xfrm>
              <a:custGeom>
                <a:avLst/>
                <a:gdLst/>
                <a:ahLst/>
                <a:cxnLst/>
                <a:rect l="l" t="t" r="r" b="b"/>
                <a:pathLst>
                  <a:path w="1243408" h="586695">
                    <a:moveTo>
                      <a:pt x="0" y="0"/>
                    </a:moveTo>
                    <a:lnTo>
                      <a:pt x="1243408" y="0"/>
                    </a:lnTo>
                    <a:lnTo>
                      <a:pt x="1243408" y="586695"/>
                    </a:lnTo>
                    <a:lnTo>
                      <a:pt x="0" y="586695"/>
                    </a:lnTo>
                    <a:close/>
                  </a:path>
                </a:pathLst>
              </a:custGeom>
              <a:solidFill>
                <a:srgbClr val="FFFFFF"/>
              </a:solidFill>
            </p:spPr>
            <p:txBody>
              <a:bodyPr/>
              <a:lstStyle/>
              <a:p>
                <a:endParaRPr lang="en-IN"/>
              </a:p>
            </p:txBody>
          </p:sp>
          <p:sp>
            <p:nvSpPr>
              <p:cNvPr id="134" name="TextBox 10">
                <a:extLst>
                  <a:ext uri="{FF2B5EF4-FFF2-40B4-BE49-F238E27FC236}">
                    <a16:creationId xmlns:a16="http://schemas.microsoft.com/office/drawing/2014/main" id="{0D80044E-3B04-29E9-CDBB-FA87152BE672}"/>
                  </a:ext>
                </a:extLst>
              </p:cNvPr>
              <p:cNvSpPr txBox="1"/>
              <p:nvPr/>
            </p:nvSpPr>
            <p:spPr>
              <a:xfrm>
                <a:off x="0" y="9525"/>
                <a:ext cx="1243408" cy="577170"/>
              </a:xfrm>
              <a:prstGeom prst="rect">
                <a:avLst/>
              </a:prstGeom>
            </p:spPr>
            <p:txBody>
              <a:bodyPr lIns="71403" tIns="71403" rIns="71403" bIns="71403" rtlCol="0" anchor="ctr"/>
              <a:lstStyle/>
              <a:p>
                <a:pPr algn="ctr">
                  <a:lnSpc>
                    <a:spcPts val="2192"/>
                  </a:lnSpc>
                </a:pPr>
                <a:endParaRPr/>
              </a:p>
            </p:txBody>
          </p:sp>
        </p:grpSp>
        <p:grpSp>
          <p:nvGrpSpPr>
            <p:cNvPr id="107" name="Group 11">
              <a:extLst>
                <a:ext uri="{FF2B5EF4-FFF2-40B4-BE49-F238E27FC236}">
                  <a16:creationId xmlns:a16="http://schemas.microsoft.com/office/drawing/2014/main" id="{21225F4E-8CCC-2AE4-D525-66DFEFD99878}"/>
                </a:ext>
              </a:extLst>
            </p:cNvPr>
            <p:cNvGrpSpPr/>
            <p:nvPr/>
          </p:nvGrpSpPr>
          <p:grpSpPr>
            <a:xfrm>
              <a:off x="11844034" y="2781300"/>
              <a:ext cx="4718760" cy="2226520"/>
              <a:chOff x="0" y="0"/>
              <a:chExt cx="1243408" cy="586695"/>
            </a:xfrm>
          </p:grpSpPr>
          <p:sp>
            <p:nvSpPr>
              <p:cNvPr id="131" name="Freeform 12">
                <a:extLst>
                  <a:ext uri="{FF2B5EF4-FFF2-40B4-BE49-F238E27FC236}">
                    <a16:creationId xmlns:a16="http://schemas.microsoft.com/office/drawing/2014/main" id="{E6CA95A8-69E9-229B-B9AC-8CC32F9BC8F7}"/>
                  </a:ext>
                </a:extLst>
              </p:cNvPr>
              <p:cNvSpPr/>
              <p:nvPr/>
            </p:nvSpPr>
            <p:spPr>
              <a:xfrm>
                <a:off x="0" y="0"/>
                <a:ext cx="1243408" cy="586695"/>
              </a:xfrm>
              <a:custGeom>
                <a:avLst/>
                <a:gdLst/>
                <a:ahLst/>
                <a:cxnLst/>
                <a:rect l="l" t="t" r="r" b="b"/>
                <a:pathLst>
                  <a:path w="1243408" h="586695">
                    <a:moveTo>
                      <a:pt x="0" y="0"/>
                    </a:moveTo>
                    <a:lnTo>
                      <a:pt x="1243408" y="0"/>
                    </a:lnTo>
                    <a:lnTo>
                      <a:pt x="1243408" y="586695"/>
                    </a:lnTo>
                    <a:lnTo>
                      <a:pt x="0" y="586695"/>
                    </a:lnTo>
                    <a:close/>
                  </a:path>
                </a:pathLst>
              </a:custGeom>
              <a:solidFill>
                <a:srgbClr val="FFFFFF"/>
              </a:solidFill>
            </p:spPr>
            <p:txBody>
              <a:bodyPr/>
              <a:lstStyle/>
              <a:p>
                <a:endParaRPr lang="en-IN"/>
              </a:p>
            </p:txBody>
          </p:sp>
          <p:sp>
            <p:nvSpPr>
              <p:cNvPr id="132" name="TextBox 13">
                <a:extLst>
                  <a:ext uri="{FF2B5EF4-FFF2-40B4-BE49-F238E27FC236}">
                    <a16:creationId xmlns:a16="http://schemas.microsoft.com/office/drawing/2014/main" id="{7186A5D7-A5C2-A017-B013-B47B92604CE4}"/>
                  </a:ext>
                </a:extLst>
              </p:cNvPr>
              <p:cNvSpPr txBox="1"/>
              <p:nvPr/>
            </p:nvSpPr>
            <p:spPr>
              <a:xfrm>
                <a:off x="0" y="9525"/>
                <a:ext cx="1243408" cy="577170"/>
              </a:xfrm>
              <a:prstGeom prst="rect">
                <a:avLst/>
              </a:prstGeom>
            </p:spPr>
            <p:txBody>
              <a:bodyPr lIns="71403" tIns="71403" rIns="71403" bIns="71403" rtlCol="0" anchor="ctr"/>
              <a:lstStyle/>
              <a:p>
                <a:pPr algn="ctr">
                  <a:lnSpc>
                    <a:spcPts val="2192"/>
                  </a:lnSpc>
                </a:pPr>
                <a:endParaRPr/>
              </a:p>
            </p:txBody>
          </p:sp>
        </p:grpSp>
        <p:grpSp>
          <p:nvGrpSpPr>
            <p:cNvPr id="108" name="Group 14">
              <a:extLst>
                <a:ext uri="{FF2B5EF4-FFF2-40B4-BE49-F238E27FC236}">
                  <a16:creationId xmlns:a16="http://schemas.microsoft.com/office/drawing/2014/main" id="{E8DFD305-DAC5-64AC-68BE-6EA2B4991D3B}"/>
                </a:ext>
              </a:extLst>
            </p:cNvPr>
            <p:cNvGrpSpPr/>
            <p:nvPr/>
          </p:nvGrpSpPr>
          <p:grpSpPr>
            <a:xfrm>
              <a:off x="1716948" y="2781300"/>
              <a:ext cx="4718760" cy="2226520"/>
              <a:chOff x="0" y="0"/>
              <a:chExt cx="6291680" cy="2968694"/>
            </a:xfrm>
          </p:grpSpPr>
          <p:grpSp>
            <p:nvGrpSpPr>
              <p:cNvPr id="125" name="Group 15">
                <a:extLst>
                  <a:ext uri="{FF2B5EF4-FFF2-40B4-BE49-F238E27FC236}">
                    <a16:creationId xmlns:a16="http://schemas.microsoft.com/office/drawing/2014/main" id="{CE3A4DA5-861B-E7B9-298D-8A8BA62A8BF8}"/>
                  </a:ext>
                </a:extLst>
              </p:cNvPr>
              <p:cNvGrpSpPr/>
              <p:nvPr/>
            </p:nvGrpSpPr>
            <p:grpSpPr>
              <a:xfrm>
                <a:off x="0" y="0"/>
                <a:ext cx="6291680" cy="2968694"/>
                <a:chOff x="0" y="0"/>
                <a:chExt cx="1243408" cy="586695"/>
              </a:xfrm>
            </p:grpSpPr>
            <p:sp>
              <p:nvSpPr>
                <p:cNvPr id="129" name="Freeform 16">
                  <a:extLst>
                    <a:ext uri="{FF2B5EF4-FFF2-40B4-BE49-F238E27FC236}">
                      <a16:creationId xmlns:a16="http://schemas.microsoft.com/office/drawing/2014/main" id="{B2ED8C0E-4631-A53F-081F-55C3C2828206}"/>
                    </a:ext>
                  </a:extLst>
                </p:cNvPr>
                <p:cNvSpPr/>
                <p:nvPr/>
              </p:nvSpPr>
              <p:spPr>
                <a:xfrm>
                  <a:off x="0" y="0"/>
                  <a:ext cx="1243408" cy="586695"/>
                </a:xfrm>
                <a:custGeom>
                  <a:avLst/>
                  <a:gdLst/>
                  <a:ahLst/>
                  <a:cxnLst/>
                  <a:rect l="l" t="t" r="r" b="b"/>
                  <a:pathLst>
                    <a:path w="1243408" h="586695">
                      <a:moveTo>
                        <a:pt x="0" y="0"/>
                      </a:moveTo>
                      <a:lnTo>
                        <a:pt x="1243408" y="0"/>
                      </a:lnTo>
                      <a:lnTo>
                        <a:pt x="1243408" y="586695"/>
                      </a:lnTo>
                      <a:lnTo>
                        <a:pt x="0" y="586695"/>
                      </a:lnTo>
                      <a:close/>
                    </a:path>
                  </a:pathLst>
                </a:custGeom>
                <a:solidFill>
                  <a:srgbClr val="FFFFFF"/>
                </a:solidFill>
              </p:spPr>
              <p:txBody>
                <a:bodyPr/>
                <a:lstStyle/>
                <a:p>
                  <a:endParaRPr lang="en-IN"/>
                </a:p>
              </p:txBody>
            </p:sp>
            <p:sp>
              <p:nvSpPr>
                <p:cNvPr id="130" name="TextBox 17">
                  <a:extLst>
                    <a:ext uri="{FF2B5EF4-FFF2-40B4-BE49-F238E27FC236}">
                      <a16:creationId xmlns:a16="http://schemas.microsoft.com/office/drawing/2014/main" id="{A32BF4F7-B2A6-F3A0-24D9-4134B4E55EFE}"/>
                    </a:ext>
                  </a:extLst>
                </p:cNvPr>
                <p:cNvSpPr txBox="1"/>
                <p:nvPr/>
              </p:nvSpPr>
              <p:spPr>
                <a:xfrm>
                  <a:off x="0" y="9525"/>
                  <a:ext cx="1243408" cy="577170"/>
                </a:xfrm>
                <a:prstGeom prst="rect">
                  <a:avLst/>
                </a:prstGeom>
              </p:spPr>
              <p:txBody>
                <a:bodyPr lIns="50800" tIns="50800" rIns="50800" bIns="50800" rtlCol="0" anchor="ctr"/>
                <a:lstStyle/>
                <a:p>
                  <a:pPr algn="ctr">
                    <a:lnSpc>
                      <a:spcPts val="2192"/>
                    </a:lnSpc>
                  </a:pPr>
                  <a:endParaRPr/>
                </a:p>
              </p:txBody>
            </p:sp>
          </p:grpSp>
          <p:sp>
            <p:nvSpPr>
              <p:cNvPr id="126" name="Freeform 18">
                <a:extLst>
                  <a:ext uri="{FF2B5EF4-FFF2-40B4-BE49-F238E27FC236}">
                    <a16:creationId xmlns:a16="http://schemas.microsoft.com/office/drawing/2014/main" id="{4A71178E-8D3F-724A-EF9B-79DD0A997DA1}"/>
                  </a:ext>
                </a:extLst>
              </p:cNvPr>
              <p:cNvSpPr/>
              <p:nvPr/>
            </p:nvSpPr>
            <p:spPr>
              <a:xfrm>
                <a:off x="341600" y="449993"/>
                <a:ext cx="782731" cy="782731"/>
              </a:xfrm>
              <a:custGeom>
                <a:avLst/>
                <a:gdLst/>
                <a:ahLst/>
                <a:cxnLst/>
                <a:rect l="l" t="t" r="r" b="b"/>
                <a:pathLst>
                  <a:path w="782731" h="782731">
                    <a:moveTo>
                      <a:pt x="0" y="0"/>
                    </a:moveTo>
                    <a:lnTo>
                      <a:pt x="782731" y="0"/>
                    </a:lnTo>
                    <a:lnTo>
                      <a:pt x="782731" y="782731"/>
                    </a:lnTo>
                    <a:lnTo>
                      <a:pt x="0" y="7827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27" name="TextBox 19">
                <a:extLst>
                  <a:ext uri="{FF2B5EF4-FFF2-40B4-BE49-F238E27FC236}">
                    <a16:creationId xmlns:a16="http://schemas.microsoft.com/office/drawing/2014/main" id="{33D882CA-33F9-A5F7-A56B-1CB720DFD35D}"/>
                  </a:ext>
                </a:extLst>
              </p:cNvPr>
              <p:cNvSpPr txBox="1"/>
              <p:nvPr/>
            </p:nvSpPr>
            <p:spPr>
              <a:xfrm>
                <a:off x="1385781" y="459518"/>
                <a:ext cx="4564299" cy="704501"/>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Pre-Organization Development Workshop</a:t>
                </a:r>
              </a:p>
            </p:txBody>
          </p:sp>
          <p:sp>
            <p:nvSpPr>
              <p:cNvPr id="128" name="TextBox 20">
                <a:extLst>
                  <a:ext uri="{FF2B5EF4-FFF2-40B4-BE49-F238E27FC236}">
                    <a16:creationId xmlns:a16="http://schemas.microsoft.com/office/drawing/2014/main" id="{7D55528A-F356-2B9F-67A3-72E65ADFBACD}"/>
                  </a:ext>
                </a:extLst>
              </p:cNvPr>
              <p:cNvSpPr txBox="1"/>
              <p:nvPr/>
            </p:nvSpPr>
            <p:spPr>
              <a:xfrm>
                <a:off x="1385781" y="1348154"/>
                <a:ext cx="4564299" cy="1156727"/>
              </a:xfrm>
              <a:prstGeom prst="rect">
                <a:avLst/>
              </a:prstGeom>
            </p:spPr>
            <p:txBody>
              <a:bodyPr lIns="0" tIns="0" rIns="0" bIns="0" rtlCol="0" anchor="t">
                <a:spAutoFit/>
              </a:bodyPr>
              <a:lstStyle/>
              <a:p>
                <a:pPr algn="l">
                  <a:lnSpc>
                    <a:spcPts val="2375"/>
                  </a:lnSpc>
                </a:pPr>
                <a:r>
                  <a:rPr lang="en-US" sz="1827" dirty="0">
                    <a:solidFill>
                      <a:srgbClr val="545454"/>
                    </a:solidFill>
                    <a:latin typeface="Open Sans"/>
                    <a:ea typeface="Open Sans"/>
                    <a:cs typeface="Open Sans"/>
                    <a:sym typeface="Open Sans"/>
                  </a:rPr>
                  <a:t>Setting context before the Organization Development Workshop.</a:t>
                </a:r>
              </a:p>
            </p:txBody>
          </p:sp>
        </p:grpSp>
        <p:grpSp>
          <p:nvGrpSpPr>
            <p:cNvPr id="109" name="Group 21">
              <a:extLst>
                <a:ext uri="{FF2B5EF4-FFF2-40B4-BE49-F238E27FC236}">
                  <a16:creationId xmlns:a16="http://schemas.microsoft.com/office/drawing/2014/main" id="{D1C8FEB9-2411-6698-38ED-1F1151DA5295}"/>
                </a:ext>
              </a:extLst>
            </p:cNvPr>
            <p:cNvGrpSpPr/>
            <p:nvPr/>
          </p:nvGrpSpPr>
          <p:grpSpPr>
            <a:xfrm>
              <a:off x="1973148" y="5654719"/>
              <a:ext cx="4206361" cy="1690457"/>
              <a:chOff x="0" y="0"/>
              <a:chExt cx="5608481" cy="2253943"/>
            </a:xfrm>
          </p:grpSpPr>
          <p:sp>
            <p:nvSpPr>
              <p:cNvPr id="122" name="Freeform 22">
                <a:extLst>
                  <a:ext uri="{FF2B5EF4-FFF2-40B4-BE49-F238E27FC236}">
                    <a16:creationId xmlns:a16="http://schemas.microsoft.com/office/drawing/2014/main" id="{EBE9FF7A-B236-1A06-0F16-8DC13AD9C4FC}"/>
                  </a:ext>
                </a:extLst>
              </p:cNvPr>
              <p:cNvSpPr/>
              <p:nvPr/>
            </p:nvSpPr>
            <p:spPr>
              <a:xfrm>
                <a:off x="0" y="0"/>
                <a:ext cx="782731" cy="782731"/>
              </a:xfrm>
              <a:custGeom>
                <a:avLst/>
                <a:gdLst/>
                <a:ahLst/>
                <a:cxnLst/>
                <a:rect l="l" t="t" r="r" b="b"/>
                <a:pathLst>
                  <a:path w="782731" h="782731">
                    <a:moveTo>
                      <a:pt x="0" y="0"/>
                    </a:moveTo>
                    <a:lnTo>
                      <a:pt x="782731" y="0"/>
                    </a:lnTo>
                    <a:lnTo>
                      <a:pt x="782731" y="782731"/>
                    </a:lnTo>
                    <a:lnTo>
                      <a:pt x="0" y="7827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23" name="TextBox 23">
                <a:extLst>
                  <a:ext uri="{FF2B5EF4-FFF2-40B4-BE49-F238E27FC236}">
                    <a16:creationId xmlns:a16="http://schemas.microsoft.com/office/drawing/2014/main" id="{52794E1D-636B-B6A8-08F9-86B4AB6AB381}"/>
                  </a:ext>
                </a:extLst>
              </p:cNvPr>
              <p:cNvSpPr txBox="1"/>
              <p:nvPr/>
            </p:nvSpPr>
            <p:spPr>
              <a:xfrm>
                <a:off x="1044182" y="9525"/>
                <a:ext cx="4564299" cy="347488"/>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Actionables </a:t>
                </a:r>
              </a:p>
            </p:txBody>
          </p:sp>
          <p:sp>
            <p:nvSpPr>
              <p:cNvPr id="124" name="TextBox 24">
                <a:extLst>
                  <a:ext uri="{FF2B5EF4-FFF2-40B4-BE49-F238E27FC236}">
                    <a16:creationId xmlns:a16="http://schemas.microsoft.com/office/drawing/2014/main" id="{7889ABE0-7794-0107-5636-DEA0B31147B5}"/>
                  </a:ext>
                </a:extLst>
              </p:cNvPr>
              <p:cNvSpPr txBox="1"/>
              <p:nvPr/>
            </p:nvSpPr>
            <p:spPr>
              <a:xfrm>
                <a:off x="1044182" y="704501"/>
                <a:ext cx="4564299" cy="1549441"/>
              </a:xfrm>
              <a:prstGeom prst="rect">
                <a:avLst/>
              </a:prstGeom>
            </p:spPr>
            <p:txBody>
              <a:bodyPr lIns="0" tIns="0" rIns="0" bIns="0" rtlCol="0" anchor="t">
                <a:spAutoFit/>
              </a:bodyPr>
              <a:lstStyle/>
              <a:p>
                <a:pPr algn="l">
                  <a:lnSpc>
                    <a:spcPts val="2375"/>
                  </a:lnSpc>
                </a:pPr>
                <a:r>
                  <a:rPr lang="en-US" sz="1827">
                    <a:solidFill>
                      <a:srgbClr val="545454"/>
                    </a:solidFill>
                    <a:latin typeface="Open Sans"/>
                    <a:ea typeface="Open Sans"/>
                    <a:cs typeface="Open Sans"/>
                    <a:sym typeface="Open Sans"/>
                  </a:rPr>
                  <a:t>Track key priorities &amp; takeaways from the Organization Development Workshop.</a:t>
                </a:r>
              </a:p>
            </p:txBody>
          </p:sp>
        </p:grpSp>
        <p:grpSp>
          <p:nvGrpSpPr>
            <p:cNvPr id="110" name="Group 25">
              <a:extLst>
                <a:ext uri="{FF2B5EF4-FFF2-40B4-BE49-F238E27FC236}">
                  <a16:creationId xmlns:a16="http://schemas.microsoft.com/office/drawing/2014/main" id="{75466AEF-DFC9-43A0-8991-83FBA639BF23}"/>
                </a:ext>
              </a:extLst>
            </p:cNvPr>
            <p:cNvGrpSpPr/>
            <p:nvPr/>
          </p:nvGrpSpPr>
          <p:grpSpPr>
            <a:xfrm>
              <a:off x="7023704" y="3118795"/>
              <a:ext cx="4206361" cy="1101385"/>
              <a:chOff x="0" y="0"/>
              <a:chExt cx="5608481" cy="1468514"/>
            </a:xfrm>
          </p:grpSpPr>
          <p:sp>
            <p:nvSpPr>
              <p:cNvPr id="119" name="Freeform 26">
                <a:extLst>
                  <a:ext uri="{FF2B5EF4-FFF2-40B4-BE49-F238E27FC236}">
                    <a16:creationId xmlns:a16="http://schemas.microsoft.com/office/drawing/2014/main" id="{A8E17BE9-3C78-1BB7-03A5-ECAE52E7C4B3}"/>
                  </a:ext>
                </a:extLst>
              </p:cNvPr>
              <p:cNvSpPr/>
              <p:nvPr/>
            </p:nvSpPr>
            <p:spPr>
              <a:xfrm>
                <a:off x="0" y="0"/>
                <a:ext cx="782731" cy="782731"/>
              </a:xfrm>
              <a:custGeom>
                <a:avLst/>
                <a:gdLst/>
                <a:ahLst/>
                <a:cxnLst/>
                <a:rect l="l" t="t" r="r" b="b"/>
                <a:pathLst>
                  <a:path w="782731" h="782731">
                    <a:moveTo>
                      <a:pt x="0" y="0"/>
                    </a:moveTo>
                    <a:lnTo>
                      <a:pt x="782731" y="0"/>
                    </a:lnTo>
                    <a:lnTo>
                      <a:pt x="782731" y="782731"/>
                    </a:lnTo>
                    <a:lnTo>
                      <a:pt x="0" y="7827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20" name="TextBox 27">
                <a:extLst>
                  <a:ext uri="{FF2B5EF4-FFF2-40B4-BE49-F238E27FC236}">
                    <a16:creationId xmlns:a16="http://schemas.microsoft.com/office/drawing/2014/main" id="{01FB659D-83E6-1323-FB60-57D0E30DEE59}"/>
                  </a:ext>
                </a:extLst>
              </p:cNvPr>
              <p:cNvSpPr txBox="1"/>
              <p:nvPr/>
            </p:nvSpPr>
            <p:spPr>
              <a:xfrm>
                <a:off x="1044182" y="9525"/>
                <a:ext cx="4564299" cy="347488"/>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Vision &amp; Mission</a:t>
                </a:r>
              </a:p>
            </p:txBody>
          </p:sp>
          <p:sp>
            <p:nvSpPr>
              <p:cNvPr id="121" name="TextBox 28">
                <a:extLst>
                  <a:ext uri="{FF2B5EF4-FFF2-40B4-BE49-F238E27FC236}">
                    <a16:creationId xmlns:a16="http://schemas.microsoft.com/office/drawing/2014/main" id="{BCC7077F-B104-CCE0-4851-9850FB0A0A25}"/>
                  </a:ext>
                </a:extLst>
              </p:cNvPr>
              <p:cNvSpPr txBox="1"/>
              <p:nvPr/>
            </p:nvSpPr>
            <p:spPr>
              <a:xfrm>
                <a:off x="1044182" y="704501"/>
                <a:ext cx="4564299" cy="764012"/>
              </a:xfrm>
              <a:prstGeom prst="rect">
                <a:avLst/>
              </a:prstGeom>
            </p:spPr>
            <p:txBody>
              <a:bodyPr lIns="0" tIns="0" rIns="0" bIns="0" rtlCol="0" anchor="t">
                <a:spAutoFit/>
              </a:bodyPr>
              <a:lstStyle/>
              <a:p>
                <a:pPr algn="l">
                  <a:lnSpc>
                    <a:spcPts val="2375"/>
                  </a:lnSpc>
                </a:pPr>
                <a:r>
                  <a:rPr lang="en-US" sz="1827">
                    <a:solidFill>
                      <a:srgbClr val="545454"/>
                    </a:solidFill>
                    <a:latin typeface="Open Sans"/>
                    <a:ea typeface="Open Sans"/>
                    <a:cs typeface="Open Sans"/>
                    <a:sym typeface="Open Sans"/>
                  </a:rPr>
                  <a:t>Aligning goals, purpose, and aspirations for the business.</a:t>
                </a:r>
              </a:p>
            </p:txBody>
          </p:sp>
        </p:grpSp>
        <p:grpSp>
          <p:nvGrpSpPr>
            <p:cNvPr id="111" name="Group 29">
              <a:extLst>
                <a:ext uri="{FF2B5EF4-FFF2-40B4-BE49-F238E27FC236}">
                  <a16:creationId xmlns:a16="http://schemas.microsoft.com/office/drawing/2014/main" id="{56262BFD-9858-99AC-EE7C-DDC4A44F5FF2}"/>
                </a:ext>
              </a:extLst>
            </p:cNvPr>
            <p:cNvGrpSpPr/>
            <p:nvPr/>
          </p:nvGrpSpPr>
          <p:grpSpPr>
            <a:xfrm>
              <a:off x="7023704" y="5654719"/>
              <a:ext cx="4206361" cy="1395921"/>
              <a:chOff x="0" y="0"/>
              <a:chExt cx="5608481" cy="1861228"/>
            </a:xfrm>
          </p:grpSpPr>
          <p:sp>
            <p:nvSpPr>
              <p:cNvPr id="116" name="Freeform 30">
                <a:extLst>
                  <a:ext uri="{FF2B5EF4-FFF2-40B4-BE49-F238E27FC236}">
                    <a16:creationId xmlns:a16="http://schemas.microsoft.com/office/drawing/2014/main" id="{A6735CEA-8179-4075-FF51-302E21B7F922}"/>
                  </a:ext>
                </a:extLst>
              </p:cNvPr>
              <p:cNvSpPr/>
              <p:nvPr/>
            </p:nvSpPr>
            <p:spPr>
              <a:xfrm>
                <a:off x="0" y="0"/>
                <a:ext cx="782731" cy="782731"/>
              </a:xfrm>
              <a:custGeom>
                <a:avLst/>
                <a:gdLst/>
                <a:ahLst/>
                <a:cxnLst/>
                <a:rect l="l" t="t" r="r" b="b"/>
                <a:pathLst>
                  <a:path w="782731" h="782731">
                    <a:moveTo>
                      <a:pt x="0" y="0"/>
                    </a:moveTo>
                    <a:lnTo>
                      <a:pt x="782731" y="0"/>
                    </a:lnTo>
                    <a:lnTo>
                      <a:pt x="782731" y="782731"/>
                    </a:lnTo>
                    <a:lnTo>
                      <a:pt x="0" y="7827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17" name="TextBox 31">
                <a:extLst>
                  <a:ext uri="{FF2B5EF4-FFF2-40B4-BE49-F238E27FC236}">
                    <a16:creationId xmlns:a16="http://schemas.microsoft.com/office/drawing/2014/main" id="{CB935C4C-A3B8-7DAD-F0C2-0965ED99D65C}"/>
                  </a:ext>
                </a:extLst>
              </p:cNvPr>
              <p:cNvSpPr txBox="1"/>
              <p:nvPr/>
            </p:nvSpPr>
            <p:spPr>
              <a:xfrm>
                <a:off x="1044182" y="9525"/>
                <a:ext cx="4564299" cy="347488"/>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Reports</a:t>
                </a:r>
              </a:p>
            </p:txBody>
          </p:sp>
          <p:sp>
            <p:nvSpPr>
              <p:cNvPr id="118" name="TextBox 32">
                <a:extLst>
                  <a:ext uri="{FF2B5EF4-FFF2-40B4-BE49-F238E27FC236}">
                    <a16:creationId xmlns:a16="http://schemas.microsoft.com/office/drawing/2014/main" id="{8925BA1B-DE2B-437E-41C3-3F16C4303CAC}"/>
                  </a:ext>
                </a:extLst>
              </p:cNvPr>
              <p:cNvSpPr txBox="1"/>
              <p:nvPr/>
            </p:nvSpPr>
            <p:spPr>
              <a:xfrm>
                <a:off x="1044182" y="704501"/>
                <a:ext cx="4564299" cy="1156727"/>
              </a:xfrm>
              <a:prstGeom prst="rect">
                <a:avLst/>
              </a:prstGeom>
            </p:spPr>
            <p:txBody>
              <a:bodyPr lIns="0" tIns="0" rIns="0" bIns="0" rtlCol="0" anchor="t">
                <a:spAutoFit/>
              </a:bodyPr>
              <a:lstStyle/>
              <a:p>
                <a:pPr algn="l">
                  <a:lnSpc>
                    <a:spcPts val="2375"/>
                  </a:lnSpc>
                </a:pPr>
                <a:r>
                  <a:rPr lang="en-US" sz="1827">
                    <a:solidFill>
                      <a:srgbClr val="545454"/>
                    </a:solidFill>
                    <a:latin typeface="Open Sans"/>
                    <a:ea typeface="Open Sans"/>
                    <a:cs typeface="Open Sans"/>
                    <a:sym typeface="Open Sans"/>
                  </a:rPr>
                  <a:t>Summary of key insights, participant reflections &amp; actionables. </a:t>
                </a:r>
              </a:p>
            </p:txBody>
          </p:sp>
        </p:grpSp>
        <p:grpSp>
          <p:nvGrpSpPr>
            <p:cNvPr id="112" name="Group 33">
              <a:extLst>
                <a:ext uri="{FF2B5EF4-FFF2-40B4-BE49-F238E27FC236}">
                  <a16:creationId xmlns:a16="http://schemas.microsoft.com/office/drawing/2014/main" id="{92AF8693-D1EB-B76B-2F3A-282B5F012D63}"/>
                </a:ext>
              </a:extLst>
            </p:cNvPr>
            <p:cNvGrpSpPr/>
            <p:nvPr/>
          </p:nvGrpSpPr>
          <p:grpSpPr>
            <a:xfrm>
              <a:off x="12100234" y="3118795"/>
              <a:ext cx="4206361" cy="1395921"/>
              <a:chOff x="0" y="0"/>
              <a:chExt cx="5608481" cy="1861228"/>
            </a:xfrm>
          </p:grpSpPr>
          <p:sp>
            <p:nvSpPr>
              <p:cNvPr id="113" name="Freeform 34">
                <a:extLst>
                  <a:ext uri="{FF2B5EF4-FFF2-40B4-BE49-F238E27FC236}">
                    <a16:creationId xmlns:a16="http://schemas.microsoft.com/office/drawing/2014/main" id="{57545E74-38CE-C87F-4CD6-9284C9A9AB52}"/>
                  </a:ext>
                </a:extLst>
              </p:cNvPr>
              <p:cNvSpPr/>
              <p:nvPr/>
            </p:nvSpPr>
            <p:spPr>
              <a:xfrm>
                <a:off x="0" y="0"/>
                <a:ext cx="782731" cy="782731"/>
              </a:xfrm>
              <a:custGeom>
                <a:avLst/>
                <a:gdLst/>
                <a:ahLst/>
                <a:cxnLst/>
                <a:rect l="l" t="t" r="r" b="b"/>
                <a:pathLst>
                  <a:path w="782731" h="782731">
                    <a:moveTo>
                      <a:pt x="0" y="0"/>
                    </a:moveTo>
                    <a:lnTo>
                      <a:pt x="782731" y="0"/>
                    </a:lnTo>
                    <a:lnTo>
                      <a:pt x="782731" y="782731"/>
                    </a:lnTo>
                    <a:lnTo>
                      <a:pt x="0" y="7827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14" name="TextBox 35">
                <a:extLst>
                  <a:ext uri="{FF2B5EF4-FFF2-40B4-BE49-F238E27FC236}">
                    <a16:creationId xmlns:a16="http://schemas.microsoft.com/office/drawing/2014/main" id="{18BE8208-4AC0-FFF4-099D-BD343EE14343}"/>
                  </a:ext>
                </a:extLst>
              </p:cNvPr>
              <p:cNvSpPr txBox="1"/>
              <p:nvPr/>
            </p:nvSpPr>
            <p:spPr>
              <a:xfrm>
                <a:off x="1044182" y="9525"/>
                <a:ext cx="4564299" cy="347488"/>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Unlock Value</a:t>
                </a:r>
              </a:p>
            </p:txBody>
          </p:sp>
          <p:sp>
            <p:nvSpPr>
              <p:cNvPr id="115" name="TextBox 36">
                <a:extLst>
                  <a:ext uri="{FF2B5EF4-FFF2-40B4-BE49-F238E27FC236}">
                    <a16:creationId xmlns:a16="http://schemas.microsoft.com/office/drawing/2014/main" id="{CBE1DC97-F2ED-2AE1-FD8C-33A68BBCBDBC}"/>
                  </a:ext>
                </a:extLst>
              </p:cNvPr>
              <p:cNvSpPr txBox="1"/>
              <p:nvPr/>
            </p:nvSpPr>
            <p:spPr>
              <a:xfrm>
                <a:off x="1044182" y="704501"/>
                <a:ext cx="4564299" cy="1156727"/>
              </a:xfrm>
              <a:prstGeom prst="rect">
                <a:avLst/>
              </a:prstGeom>
            </p:spPr>
            <p:txBody>
              <a:bodyPr lIns="0" tIns="0" rIns="0" bIns="0" rtlCol="0" anchor="t">
                <a:spAutoFit/>
              </a:bodyPr>
              <a:lstStyle/>
              <a:p>
                <a:pPr algn="l">
                  <a:lnSpc>
                    <a:spcPts val="2375"/>
                  </a:lnSpc>
                </a:pPr>
                <a:r>
                  <a:rPr lang="en-US" sz="1827">
                    <a:solidFill>
                      <a:srgbClr val="545454"/>
                    </a:solidFill>
                    <a:latin typeface="Open Sans"/>
                    <a:ea typeface="Open Sans"/>
                    <a:cs typeface="Open Sans"/>
                    <a:sym typeface="Open Sans"/>
                  </a:rPr>
                  <a:t>Foundational insights on the business model, operational efficiency and strategic outlook.</a:t>
                </a:r>
              </a:p>
            </p:txBody>
          </p:sp>
        </p:grpSp>
      </p:grpSp>
      <p:sp>
        <p:nvSpPr>
          <p:cNvPr id="37" name="Freeform 37"/>
          <p:cNvSpPr/>
          <p:nvPr/>
        </p:nvSpPr>
        <p:spPr>
          <a:xfrm>
            <a:off x="16286999" y="705692"/>
            <a:ext cx="377655" cy="359245"/>
          </a:xfrm>
          <a:custGeom>
            <a:avLst/>
            <a:gdLst/>
            <a:ahLst/>
            <a:cxnLst/>
            <a:rect l="l" t="t" r="r" b="b"/>
            <a:pathLst>
              <a:path w="377655" h="359245">
                <a:moveTo>
                  <a:pt x="0" y="0"/>
                </a:moveTo>
                <a:lnTo>
                  <a:pt x="377655" y="0"/>
                </a:lnTo>
                <a:lnTo>
                  <a:pt x="377655" y="359244"/>
                </a:lnTo>
                <a:lnTo>
                  <a:pt x="0" y="3592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38" name="Freeform 38"/>
          <p:cNvSpPr/>
          <p:nvPr/>
        </p:nvSpPr>
        <p:spPr>
          <a:xfrm>
            <a:off x="16849489" y="705692"/>
            <a:ext cx="359245" cy="359245"/>
          </a:xfrm>
          <a:custGeom>
            <a:avLst/>
            <a:gdLst/>
            <a:ahLst/>
            <a:cxnLst/>
            <a:rect l="l" t="t" r="r" b="b"/>
            <a:pathLst>
              <a:path w="359245" h="359245">
                <a:moveTo>
                  <a:pt x="0" y="0"/>
                </a:moveTo>
                <a:lnTo>
                  <a:pt x="359245" y="0"/>
                </a:lnTo>
                <a:lnTo>
                  <a:pt x="359245" y="359244"/>
                </a:lnTo>
                <a:lnTo>
                  <a:pt x="0" y="359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39" name="TextBox 39"/>
          <p:cNvSpPr txBox="1"/>
          <p:nvPr/>
        </p:nvSpPr>
        <p:spPr>
          <a:xfrm>
            <a:off x="1716948" y="641945"/>
            <a:ext cx="3328130" cy="477213"/>
          </a:xfrm>
          <a:prstGeom prst="rect">
            <a:avLst/>
          </a:prstGeom>
        </p:spPr>
        <p:txBody>
          <a:bodyPr lIns="0" tIns="0" rIns="0" bIns="0" rtlCol="0" anchor="t">
            <a:spAutoFit/>
          </a:bodyPr>
          <a:lstStyle/>
          <a:p>
            <a:pPr marL="0" lvl="0" indent="0" algn="l">
              <a:lnSpc>
                <a:spcPts val="3401"/>
              </a:lnSpc>
              <a:spcBef>
                <a:spcPct val="0"/>
              </a:spcBef>
            </a:pPr>
            <a:r>
              <a:rPr lang="en-US" sz="3092" b="1">
                <a:solidFill>
                  <a:srgbClr val="6A0B23"/>
                </a:solidFill>
                <a:latin typeface="Poppins Semi-Bold"/>
                <a:ea typeface="Poppins Semi-Bold"/>
                <a:cs typeface="Poppins Semi-Bold"/>
                <a:sym typeface="Poppins Semi-Bold"/>
              </a:rPr>
              <a:t>[Name]</a:t>
            </a:r>
          </a:p>
        </p:txBody>
      </p:sp>
      <p:sp>
        <p:nvSpPr>
          <p:cNvPr id="40" name="Freeform 40"/>
          <p:cNvSpPr/>
          <p:nvPr/>
        </p:nvSpPr>
        <p:spPr>
          <a:xfrm>
            <a:off x="1028198" y="756740"/>
            <a:ext cx="383803" cy="257148"/>
          </a:xfrm>
          <a:custGeom>
            <a:avLst/>
            <a:gdLst/>
            <a:ahLst/>
            <a:cxnLst/>
            <a:rect l="l" t="t" r="r" b="b"/>
            <a:pathLst>
              <a:path w="383803" h="257148">
                <a:moveTo>
                  <a:pt x="0" y="0"/>
                </a:moveTo>
                <a:lnTo>
                  <a:pt x="383803" y="0"/>
                </a:lnTo>
                <a:lnTo>
                  <a:pt x="383803" y="257148"/>
                </a:lnTo>
                <a:lnTo>
                  <a:pt x="0" y="25714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41" name="TextBox 41"/>
          <p:cNvSpPr txBox="1"/>
          <p:nvPr/>
        </p:nvSpPr>
        <p:spPr>
          <a:xfrm>
            <a:off x="1716948" y="9318001"/>
            <a:ext cx="9225262" cy="228821"/>
          </a:xfrm>
          <a:prstGeom prst="rect">
            <a:avLst/>
          </a:prstGeom>
        </p:spPr>
        <p:txBody>
          <a:bodyPr lIns="0" tIns="0" rIns="0" bIns="0" rtlCol="0" anchor="t">
            <a:spAutoFit/>
          </a:bodyPr>
          <a:lstStyle/>
          <a:p>
            <a:pPr algn="l">
              <a:lnSpc>
                <a:spcPts val="1824"/>
              </a:lnSpc>
            </a:pPr>
            <a:r>
              <a:rPr lang="en-US" sz="1403" i="1">
                <a:solidFill>
                  <a:srgbClr val="000000"/>
                </a:solidFill>
                <a:latin typeface="Open Sans Italics"/>
                <a:ea typeface="Open Sans Italics"/>
                <a:cs typeface="Open Sans Italics"/>
                <a:sym typeface="Open Sans Italics"/>
              </a:rPr>
              <a:t>Grow Your Business: organization Development Workshop</a:t>
            </a:r>
          </a:p>
        </p:txBody>
      </p:sp>
      <p:sp>
        <p:nvSpPr>
          <p:cNvPr id="42" name="TextBox 42"/>
          <p:cNvSpPr txBox="1"/>
          <p:nvPr/>
        </p:nvSpPr>
        <p:spPr>
          <a:xfrm>
            <a:off x="1716948" y="1591088"/>
            <a:ext cx="2902986" cy="252581"/>
          </a:xfrm>
          <a:prstGeom prst="rect">
            <a:avLst/>
          </a:prstGeom>
        </p:spPr>
        <p:txBody>
          <a:bodyPr lIns="0" tIns="0" rIns="0" bIns="0" rtlCol="0" anchor="t">
            <a:spAutoFit/>
          </a:bodyPr>
          <a:lstStyle/>
          <a:p>
            <a:pPr marL="0" lvl="0" indent="0" algn="l">
              <a:lnSpc>
                <a:spcPts val="1902"/>
              </a:lnSpc>
              <a:spcBef>
                <a:spcPct val="0"/>
              </a:spcBef>
            </a:pPr>
            <a:r>
              <a:rPr lang="en-US" sz="1729" b="1" u="none" strike="noStrike">
                <a:solidFill>
                  <a:srgbClr val="6A0B23"/>
                </a:solidFill>
                <a:latin typeface="Poppins Semi-Bold"/>
                <a:ea typeface="Poppins Semi-Bold"/>
                <a:cs typeface="Poppins Semi-Bold"/>
                <a:sym typeface="Poppins Semi-Bold"/>
              </a:rPr>
              <a:t>[Organization Name]</a:t>
            </a:r>
          </a:p>
        </p:txBody>
      </p:sp>
      <p:sp>
        <p:nvSpPr>
          <p:cNvPr id="43" name="TextBox 43"/>
          <p:cNvSpPr txBox="1"/>
          <p:nvPr/>
        </p:nvSpPr>
        <p:spPr>
          <a:xfrm>
            <a:off x="5282754" y="1591088"/>
            <a:ext cx="1868528" cy="252581"/>
          </a:xfrm>
          <a:prstGeom prst="rect">
            <a:avLst/>
          </a:prstGeom>
        </p:spPr>
        <p:txBody>
          <a:bodyPr lIns="0" tIns="0" rIns="0" bIns="0" rtlCol="0" anchor="t">
            <a:spAutoFit/>
          </a:bodyPr>
          <a:lstStyle/>
          <a:p>
            <a:pPr marL="0" lvl="0" indent="0" algn="l">
              <a:lnSpc>
                <a:spcPts val="1902"/>
              </a:lnSpc>
              <a:spcBef>
                <a:spcPct val="0"/>
              </a:spcBef>
            </a:pPr>
            <a:r>
              <a:rPr lang="en-US" sz="1729" b="1">
                <a:solidFill>
                  <a:srgbClr val="6A0B23"/>
                </a:solidFill>
                <a:latin typeface="Poppins Semi-Bold"/>
                <a:ea typeface="Poppins Semi-Bold"/>
                <a:cs typeface="Poppins Semi-Bold"/>
                <a:sym typeface="Poppins Semi-Bold"/>
              </a:rPr>
              <a:t>KNAV BAS OD</a:t>
            </a:r>
          </a:p>
        </p:txBody>
      </p:sp>
      <p:grpSp>
        <p:nvGrpSpPr>
          <p:cNvPr id="44" name="Group 44"/>
          <p:cNvGrpSpPr/>
          <p:nvPr/>
        </p:nvGrpSpPr>
        <p:grpSpPr>
          <a:xfrm>
            <a:off x="0" y="2510"/>
            <a:ext cx="3717452" cy="10281980"/>
            <a:chOff x="0" y="0"/>
            <a:chExt cx="979560" cy="2709333"/>
          </a:xfrm>
        </p:grpSpPr>
        <p:sp>
          <p:nvSpPr>
            <p:cNvPr id="45" name="Freeform 45"/>
            <p:cNvSpPr/>
            <p:nvPr/>
          </p:nvSpPr>
          <p:spPr>
            <a:xfrm>
              <a:off x="0" y="0"/>
              <a:ext cx="979560" cy="2709333"/>
            </a:xfrm>
            <a:custGeom>
              <a:avLst/>
              <a:gdLst/>
              <a:ahLst/>
              <a:cxnLst/>
              <a:rect l="l" t="t" r="r" b="b"/>
              <a:pathLst>
                <a:path w="979560" h="2709333">
                  <a:moveTo>
                    <a:pt x="0" y="0"/>
                  </a:moveTo>
                  <a:lnTo>
                    <a:pt x="979560" y="0"/>
                  </a:lnTo>
                  <a:lnTo>
                    <a:pt x="979560" y="2709333"/>
                  </a:lnTo>
                  <a:lnTo>
                    <a:pt x="0" y="2709333"/>
                  </a:lnTo>
                  <a:close/>
                </a:path>
              </a:pathLst>
            </a:custGeom>
            <a:solidFill>
              <a:srgbClr val="FFFFFF">
                <a:alpha val="94902"/>
              </a:srgbClr>
            </a:solidFill>
          </p:spPr>
          <p:txBody>
            <a:bodyPr/>
            <a:lstStyle/>
            <a:p>
              <a:endParaRPr lang="en-IN"/>
            </a:p>
          </p:txBody>
        </p:sp>
        <p:sp>
          <p:nvSpPr>
            <p:cNvPr id="46" name="TextBox 46"/>
            <p:cNvSpPr txBox="1"/>
            <p:nvPr/>
          </p:nvSpPr>
          <p:spPr>
            <a:xfrm>
              <a:off x="0" y="9525"/>
              <a:ext cx="979560" cy="2699808"/>
            </a:xfrm>
            <a:prstGeom prst="rect">
              <a:avLst/>
            </a:prstGeom>
          </p:spPr>
          <p:txBody>
            <a:bodyPr lIns="71403" tIns="71403" rIns="71403" bIns="71403" rtlCol="0" anchor="ctr"/>
            <a:lstStyle/>
            <a:p>
              <a:pPr algn="ctr">
                <a:lnSpc>
                  <a:spcPts val="2192"/>
                </a:lnSpc>
              </a:pPr>
              <a:endParaRPr/>
            </a:p>
          </p:txBody>
        </p:sp>
      </p:grpSp>
      <p:sp>
        <p:nvSpPr>
          <p:cNvPr id="47" name="Freeform 47"/>
          <p:cNvSpPr/>
          <p:nvPr/>
        </p:nvSpPr>
        <p:spPr>
          <a:xfrm>
            <a:off x="1028198" y="756740"/>
            <a:ext cx="383803" cy="257148"/>
          </a:xfrm>
          <a:custGeom>
            <a:avLst/>
            <a:gdLst/>
            <a:ahLst/>
            <a:cxnLst/>
            <a:rect l="l" t="t" r="r" b="b"/>
            <a:pathLst>
              <a:path w="383803" h="257148">
                <a:moveTo>
                  <a:pt x="0" y="0"/>
                </a:moveTo>
                <a:lnTo>
                  <a:pt x="383803" y="0"/>
                </a:lnTo>
                <a:lnTo>
                  <a:pt x="383803" y="257148"/>
                </a:lnTo>
                <a:lnTo>
                  <a:pt x="0" y="25714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48" name="AutoShape 48"/>
          <p:cNvSpPr/>
          <p:nvPr/>
        </p:nvSpPr>
        <p:spPr>
          <a:xfrm>
            <a:off x="1157124" y="2399085"/>
            <a:ext cx="2065821" cy="0"/>
          </a:xfrm>
          <a:prstGeom prst="line">
            <a:avLst/>
          </a:prstGeom>
          <a:ln w="9525" cap="flat">
            <a:solidFill>
              <a:srgbClr val="D9D9D9"/>
            </a:solidFill>
            <a:prstDash val="solid"/>
            <a:headEnd type="none" w="sm" len="sm"/>
            <a:tailEnd type="none" w="sm" len="sm"/>
          </a:ln>
        </p:spPr>
        <p:txBody>
          <a:bodyPr/>
          <a:lstStyle/>
          <a:p>
            <a:endParaRPr lang="en-IN"/>
          </a:p>
        </p:txBody>
      </p:sp>
      <p:sp>
        <p:nvSpPr>
          <p:cNvPr id="49" name="AutoShape 49"/>
          <p:cNvSpPr/>
          <p:nvPr/>
        </p:nvSpPr>
        <p:spPr>
          <a:xfrm>
            <a:off x="1157124" y="3016182"/>
            <a:ext cx="2065821" cy="0"/>
          </a:xfrm>
          <a:prstGeom prst="line">
            <a:avLst/>
          </a:prstGeom>
          <a:ln w="9525" cap="flat">
            <a:solidFill>
              <a:srgbClr val="D9D9D9"/>
            </a:solidFill>
            <a:prstDash val="solid"/>
            <a:headEnd type="none" w="sm" len="sm"/>
            <a:tailEnd type="none" w="sm" len="sm"/>
          </a:ln>
        </p:spPr>
        <p:txBody>
          <a:bodyPr/>
          <a:lstStyle/>
          <a:p>
            <a:endParaRPr lang="en-IN"/>
          </a:p>
        </p:txBody>
      </p:sp>
      <p:grpSp>
        <p:nvGrpSpPr>
          <p:cNvPr id="50" name="Group 50"/>
          <p:cNvGrpSpPr/>
          <p:nvPr/>
        </p:nvGrpSpPr>
        <p:grpSpPr>
          <a:xfrm>
            <a:off x="833832" y="1940976"/>
            <a:ext cx="67420" cy="67420"/>
            <a:chOff x="0" y="0"/>
            <a:chExt cx="812800" cy="812800"/>
          </a:xfrm>
        </p:grpSpPr>
        <p:sp>
          <p:nvSpPr>
            <p:cNvPr id="51" name="Freeform 5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8A8A8"/>
            </a:solidFill>
          </p:spPr>
          <p:txBody>
            <a:bodyPr/>
            <a:lstStyle/>
            <a:p>
              <a:endParaRPr lang="en-IN"/>
            </a:p>
          </p:txBody>
        </p:sp>
        <p:sp>
          <p:nvSpPr>
            <p:cNvPr id="52" name="TextBox 52"/>
            <p:cNvSpPr txBox="1"/>
            <p:nvPr/>
          </p:nvSpPr>
          <p:spPr>
            <a:xfrm>
              <a:off x="76200" y="85725"/>
              <a:ext cx="660400" cy="650875"/>
            </a:xfrm>
            <a:prstGeom prst="rect">
              <a:avLst/>
            </a:prstGeom>
          </p:spPr>
          <p:txBody>
            <a:bodyPr lIns="71403" tIns="71403" rIns="71403" bIns="71403" rtlCol="0" anchor="ctr"/>
            <a:lstStyle/>
            <a:p>
              <a:pPr algn="ctr">
                <a:lnSpc>
                  <a:spcPts val="2192"/>
                </a:lnSpc>
              </a:pPr>
              <a:endParaRPr/>
            </a:p>
          </p:txBody>
        </p:sp>
      </p:grpSp>
      <p:grpSp>
        <p:nvGrpSpPr>
          <p:cNvPr id="53" name="Group 53"/>
          <p:cNvGrpSpPr/>
          <p:nvPr/>
        </p:nvGrpSpPr>
        <p:grpSpPr>
          <a:xfrm>
            <a:off x="833832" y="2627049"/>
            <a:ext cx="67420" cy="67420"/>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8A8A8"/>
            </a:solidFill>
          </p:spPr>
          <p:txBody>
            <a:bodyPr/>
            <a:lstStyle/>
            <a:p>
              <a:endParaRPr lang="en-IN"/>
            </a:p>
          </p:txBody>
        </p:sp>
        <p:sp>
          <p:nvSpPr>
            <p:cNvPr id="55" name="TextBox 55"/>
            <p:cNvSpPr txBox="1"/>
            <p:nvPr/>
          </p:nvSpPr>
          <p:spPr>
            <a:xfrm>
              <a:off x="76200" y="85725"/>
              <a:ext cx="660400" cy="650875"/>
            </a:xfrm>
            <a:prstGeom prst="rect">
              <a:avLst/>
            </a:prstGeom>
          </p:spPr>
          <p:txBody>
            <a:bodyPr lIns="71403" tIns="71403" rIns="71403" bIns="71403" rtlCol="0" anchor="ctr"/>
            <a:lstStyle/>
            <a:p>
              <a:pPr algn="ctr">
                <a:lnSpc>
                  <a:spcPts val="2192"/>
                </a:lnSpc>
              </a:pPr>
              <a:endParaRPr/>
            </a:p>
          </p:txBody>
        </p:sp>
      </p:grpSp>
      <p:grpSp>
        <p:nvGrpSpPr>
          <p:cNvPr id="56" name="Group 56"/>
          <p:cNvGrpSpPr/>
          <p:nvPr/>
        </p:nvGrpSpPr>
        <p:grpSpPr>
          <a:xfrm>
            <a:off x="833832" y="3341030"/>
            <a:ext cx="67420" cy="67420"/>
            <a:chOff x="0" y="0"/>
            <a:chExt cx="812800" cy="812800"/>
          </a:xfrm>
        </p:grpSpPr>
        <p:sp>
          <p:nvSpPr>
            <p:cNvPr id="57" name="Freeform 5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8A8A8"/>
            </a:solidFill>
          </p:spPr>
          <p:txBody>
            <a:bodyPr/>
            <a:lstStyle/>
            <a:p>
              <a:endParaRPr lang="en-IN"/>
            </a:p>
          </p:txBody>
        </p:sp>
        <p:sp>
          <p:nvSpPr>
            <p:cNvPr id="58" name="TextBox 58"/>
            <p:cNvSpPr txBox="1"/>
            <p:nvPr/>
          </p:nvSpPr>
          <p:spPr>
            <a:xfrm>
              <a:off x="76200" y="85725"/>
              <a:ext cx="660400" cy="650875"/>
            </a:xfrm>
            <a:prstGeom prst="rect">
              <a:avLst/>
            </a:prstGeom>
          </p:spPr>
          <p:txBody>
            <a:bodyPr lIns="71403" tIns="71403" rIns="71403" bIns="71403" rtlCol="0" anchor="ctr"/>
            <a:lstStyle/>
            <a:p>
              <a:pPr algn="ctr">
                <a:lnSpc>
                  <a:spcPts val="2192"/>
                </a:lnSpc>
              </a:pPr>
              <a:endParaRPr/>
            </a:p>
          </p:txBody>
        </p:sp>
      </p:grpSp>
      <p:sp>
        <p:nvSpPr>
          <p:cNvPr id="59" name="TextBox 59"/>
          <p:cNvSpPr txBox="1"/>
          <p:nvPr/>
        </p:nvSpPr>
        <p:spPr>
          <a:xfrm>
            <a:off x="13738882" y="746525"/>
            <a:ext cx="1461592" cy="277578"/>
          </a:xfrm>
          <a:prstGeom prst="rect">
            <a:avLst/>
          </a:prstGeom>
        </p:spPr>
        <p:txBody>
          <a:bodyPr lIns="0" tIns="0" rIns="0" bIns="0" rtlCol="0" anchor="t">
            <a:spAutoFit/>
          </a:bodyPr>
          <a:lstStyle/>
          <a:p>
            <a:pPr marL="0" lvl="0" indent="0" algn="r">
              <a:lnSpc>
                <a:spcPts val="2009"/>
              </a:lnSpc>
              <a:spcBef>
                <a:spcPct val="0"/>
              </a:spcBef>
            </a:pPr>
            <a:r>
              <a:rPr lang="en-US" sz="1827" b="1">
                <a:solidFill>
                  <a:srgbClr val="6A0B23"/>
                </a:solidFill>
                <a:latin typeface="Poppins Bold"/>
                <a:ea typeface="Poppins Bold"/>
                <a:cs typeface="Poppins Bold"/>
                <a:sym typeface="Poppins Bold"/>
              </a:rPr>
              <a:t>Logout</a:t>
            </a:r>
          </a:p>
        </p:txBody>
      </p:sp>
      <p:sp>
        <p:nvSpPr>
          <p:cNvPr id="60" name="TextBox 60"/>
          <p:cNvSpPr txBox="1"/>
          <p:nvPr/>
        </p:nvSpPr>
        <p:spPr>
          <a:xfrm>
            <a:off x="14637974" y="746525"/>
            <a:ext cx="1461592" cy="277578"/>
          </a:xfrm>
          <a:prstGeom prst="rect">
            <a:avLst/>
          </a:prstGeom>
        </p:spPr>
        <p:txBody>
          <a:bodyPr lIns="0" tIns="0" rIns="0" bIns="0" rtlCol="0" anchor="t">
            <a:spAutoFit/>
          </a:bodyPr>
          <a:lstStyle/>
          <a:p>
            <a:pPr marL="0" lvl="0" indent="0" algn="r">
              <a:lnSpc>
                <a:spcPts val="2009"/>
              </a:lnSpc>
              <a:spcBef>
                <a:spcPct val="0"/>
              </a:spcBef>
            </a:pPr>
            <a:r>
              <a:rPr lang="en-US" sz="1827">
                <a:solidFill>
                  <a:srgbClr val="6A0B23"/>
                </a:solidFill>
                <a:latin typeface="Poppins"/>
                <a:ea typeface="Poppins"/>
                <a:cs typeface="Poppins"/>
                <a:sym typeface="Poppins"/>
              </a:rPr>
              <a:t>Home</a:t>
            </a:r>
          </a:p>
        </p:txBody>
      </p:sp>
      <p:sp>
        <p:nvSpPr>
          <p:cNvPr id="61" name="TextBox 61"/>
          <p:cNvSpPr txBox="1"/>
          <p:nvPr/>
        </p:nvSpPr>
        <p:spPr>
          <a:xfrm>
            <a:off x="1157124" y="1866397"/>
            <a:ext cx="2352815" cy="258235"/>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Unlock Value</a:t>
            </a:r>
          </a:p>
        </p:txBody>
      </p:sp>
      <p:sp>
        <p:nvSpPr>
          <p:cNvPr id="62" name="TextBox 62"/>
          <p:cNvSpPr txBox="1"/>
          <p:nvPr/>
        </p:nvSpPr>
        <p:spPr>
          <a:xfrm>
            <a:off x="1157124" y="2552469"/>
            <a:ext cx="2352815" cy="258235"/>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Actionables</a:t>
            </a:r>
          </a:p>
        </p:txBody>
      </p:sp>
      <p:sp>
        <p:nvSpPr>
          <p:cNvPr id="63" name="TextBox 63"/>
          <p:cNvSpPr txBox="1"/>
          <p:nvPr/>
        </p:nvSpPr>
        <p:spPr>
          <a:xfrm>
            <a:off x="1157124" y="3238542"/>
            <a:ext cx="2352815" cy="258235"/>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Reports</a:t>
            </a:r>
          </a:p>
        </p:txBody>
      </p:sp>
      <p:grpSp>
        <p:nvGrpSpPr>
          <p:cNvPr id="64" name="Group 64"/>
          <p:cNvGrpSpPr/>
          <p:nvPr/>
        </p:nvGrpSpPr>
        <p:grpSpPr>
          <a:xfrm>
            <a:off x="1157124" y="8754504"/>
            <a:ext cx="2739237" cy="284494"/>
            <a:chOff x="0" y="0"/>
            <a:chExt cx="3652316" cy="379326"/>
          </a:xfrm>
        </p:grpSpPr>
        <p:sp>
          <p:nvSpPr>
            <p:cNvPr id="65" name="Freeform 65"/>
            <p:cNvSpPr/>
            <p:nvPr/>
          </p:nvSpPr>
          <p:spPr>
            <a:xfrm rot="-8100000">
              <a:off x="50279" y="86276"/>
              <a:ext cx="242770" cy="242770"/>
            </a:xfrm>
            <a:custGeom>
              <a:avLst/>
              <a:gdLst/>
              <a:ahLst/>
              <a:cxnLst/>
              <a:rect l="l" t="t" r="r" b="b"/>
              <a:pathLst>
                <a:path w="242770" h="242770">
                  <a:moveTo>
                    <a:pt x="0" y="0"/>
                  </a:moveTo>
                  <a:lnTo>
                    <a:pt x="242770" y="0"/>
                  </a:lnTo>
                  <a:lnTo>
                    <a:pt x="242770" y="242770"/>
                  </a:lnTo>
                  <a:lnTo>
                    <a:pt x="0" y="242770"/>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IN"/>
            </a:p>
          </p:txBody>
        </p:sp>
        <p:sp>
          <p:nvSpPr>
            <p:cNvPr id="66" name="TextBox 66"/>
            <p:cNvSpPr txBox="1"/>
            <p:nvPr/>
          </p:nvSpPr>
          <p:spPr>
            <a:xfrm>
              <a:off x="515229" y="9525"/>
              <a:ext cx="3137087" cy="347488"/>
            </a:xfrm>
            <a:prstGeom prst="rect">
              <a:avLst/>
            </a:prstGeom>
          </p:spPr>
          <p:txBody>
            <a:bodyPr lIns="0" tIns="0" rIns="0" bIns="0" rtlCol="0" anchor="t">
              <a:spAutoFit/>
            </a:bodyPr>
            <a:lstStyle/>
            <a:p>
              <a:pPr algn="l">
                <a:lnSpc>
                  <a:spcPts val="2192"/>
                </a:lnSpc>
              </a:pPr>
              <a:r>
                <a:rPr lang="en-US" sz="1827" b="1">
                  <a:solidFill>
                    <a:srgbClr val="000000"/>
                  </a:solidFill>
                  <a:latin typeface="Open Sans Semi-Bold"/>
                  <a:ea typeface="Open Sans Semi-Bold"/>
                  <a:cs typeface="Open Sans Semi-Bold"/>
                  <a:sym typeface="Open Sans Semi-Bold"/>
                </a:rPr>
                <a:t>Back</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grpSp>
        <p:nvGrpSpPr>
          <p:cNvPr id="138" name="Group 137">
            <a:extLst>
              <a:ext uri="{FF2B5EF4-FFF2-40B4-BE49-F238E27FC236}">
                <a16:creationId xmlns:a16="http://schemas.microsoft.com/office/drawing/2014/main" id="{A958A8DA-7935-E762-6E31-D96DAB596795}"/>
              </a:ext>
            </a:extLst>
          </p:cNvPr>
          <p:cNvGrpSpPr/>
          <p:nvPr/>
        </p:nvGrpSpPr>
        <p:grpSpPr>
          <a:xfrm>
            <a:off x="1716948" y="2781300"/>
            <a:ext cx="14845846" cy="4818519"/>
            <a:chOff x="1716948" y="2781300"/>
            <a:chExt cx="14845846" cy="4818519"/>
          </a:xfrm>
        </p:grpSpPr>
        <p:grpSp>
          <p:nvGrpSpPr>
            <p:cNvPr id="139" name="Group 2">
              <a:extLst>
                <a:ext uri="{FF2B5EF4-FFF2-40B4-BE49-F238E27FC236}">
                  <a16:creationId xmlns:a16="http://schemas.microsoft.com/office/drawing/2014/main" id="{564E679F-FBF7-BD0F-0B8D-72338DCB86D8}"/>
                </a:ext>
              </a:extLst>
            </p:cNvPr>
            <p:cNvGrpSpPr/>
            <p:nvPr/>
          </p:nvGrpSpPr>
          <p:grpSpPr>
            <a:xfrm>
              <a:off x="1716948" y="5373299"/>
              <a:ext cx="4718760" cy="2226520"/>
              <a:chOff x="0" y="0"/>
              <a:chExt cx="1243408" cy="586695"/>
            </a:xfrm>
          </p:grpSpPr>
          <p:sp>
            <p:nvSpPr>
              <p:cNvPr id="172" name="Freeform 3">
                <a:extLst>
                  <a:ext uri="{FF2B5EF4-FFF2-40B4-BE49-F238E27FC236}">
                    <a16:creationId xmlns:a16="http://schemas.microsoft.com/office/drawing/2014/main" id="{90136263-670F-AD10-FC05-408C0D3C2F46}"/>
                  </a:ext>
                </a:extLst>
              </p:cNvPr>
              <p:cNvSpPr/>
              <p:nvPr/>
            </p:nvSpPr>
            <p:spPr>
              <a:xfrm>
                <a:off x="0" y="0"/>
                <a:ext cx="1243408" cy="586695"/>
              </a:xfrm>
              <a:custGeom>
                <a:avLst/>
                <a:gdLst/>
                <a:ahLst/>
                <a:cxnLst/>
                <a:rect l="l" t="t" r="r" b="b"/>
                <a:pathLst>
                  <a:path w="1243408" h="586695">
                    <a:moveTo>
                      <a:pt x="0" y="0"/>
                    </a:moveTo>
                    <a:lnTo>
                      <a:pt x="1243408" y="0"/>
                    </a:lnTo>
                    <a:lnTo>
                      <a:pt x="1243408" y="586695"/>
                    </a:lnTo>
                    <a:lnTo>
                      <a:pt x="0" y="586695"/>
                    </a:lnTo>
                    <a:close/>
                  </a:path>
                </a:pathLst>
              </a:custGeom>
              <a:solidFill>
                <a:srgbClr val="FFFFFF"/>
              </a:solidFill>
            </p:spPr>
            <p:txBody>
              <a:bodyPr/>
              <a:lstStyle/>
              <a:p>
                <a:endParaRPr lang="en-IN"/>
              </a:p>
            </p:txBody>
          </p:sp>
          <p:sp>
            <p:nvSpPr>
              <p:cNvPr id="173" name="TextBox 4">
                <a:extLst>
                  <a:ext uri="{FF2B5EF4-FFF2-40B4-BE49-F238E27FC236}">
                    <a16:creationId xmlns:a16="http://schemas.microsoft.com/office/drawing/2014/main" id="{0F2EAC92-31E2-3FF8-AA4C-1F6D142132D2}"/>
                  </a:ext>
                </a:extLst>
              </p:cNvPr>
              <p:cNvSpPr txBox="1"/>
              <p:nvPr/>
            </p:nvSpPr>
            <p:spPr>
              <a:xfrm>
                <a:off x="0" y="9525"/>
                <a:ext cx="1243408" cy="577170"/>
              </a:xfrm>
              <a:prstGeom prst="rect">
                <a:avLst/>
              </a:prstGeom>
            </p:spPr>
            <p:txBody>
              <a:bodyPr lIns="71403" tIns="71403" rIns="71403" bIns="71403" rtlCol="0" anchor="ctr"/>
              <a:lstStyle/>
              <a:p>
                <a:pPr algn="ctr">
                  <a:lnSpc>
                    <a:spcPts val="2192"/>
                  </a:lnSpc>
                </a:pPr>
                <a:endParaRPr/>
              </a:p>
            </p:txBody>
          </p:sp>
        </p:grpSp>
        <p:grpSp>
          <p:nvGrpSpPr>
            <p:cNvPr id="140" name="Group 5">
              <a:extLst>
                <a:ext uri="{FF2B5EF4-FFF2-40B4-BE49-F238E27FC236}">
                  <a16:creationId xmlns:a16="http://schemas.microsoft.com/office/drawing/2014/main" id="{A669741D-1A2A-41E9-88B3-9C2C223743C8}"/>
                </a:ext>
              </a:extLst>
            </p:cNvPr>
            <p:cNvGrpSpPr/>
            <p:nvPr/>
          </p:nvGrpSpPr>
          <p:grpSpPr>
            <a:xfrm>
              <a:off x="6780491" y="2781300"/>
              <a:ext cx="4718760" cy="2226520"/>
              <a:chOff x="0" y="0"/>
              <a:chExt cx="1243408" cy="586695"/>
            </a:xfrm>
          </p:grpSpPr>
          <p:sp>
            <p:nvSpPr>
              <p:cNvPr id="170" name="Freeform 6">
                <a:extLst>
                  <a:ext uri="{FF2B5EF4-FFF2-40B4-BE49-F238E27FC236}">
                    <a16:creationId xmlns:a16="http://schemas.microsoft.com/office/drawing/2014/main" id="{58CAE205-4ABA-DC49-58F1-05F5D8FE4EB9}"/>
                  </a:ext>
                </a:extLst>
              </p:cNvPr>
              <p:cNvSpPr/>
              <p:nvPr/>
            </p:nvSpPr>
            <p:spPr>
              <a:xfrm>
                <a:off x="0" y="0"/>
                <a:ext cx="1243408" cy="586695"/>
              </a:xfrm>
              <a:custGeom>
                <a:avLst/>
                <a:gdLst/>
                <a:ahLst/>
                <a:cxnLst/>
                <a:rect l="l" t="t" r="r" b="b"/>
                <a:pathLst>
                  <a:path w="1243408" h="586695">
                    <a:moveTo>
                      <a:pt x="0" y="0"/>
                    </a:moveTo>
                    <a:lnTo>
                      <a:pt x="1243408" y="0"/>
                    </a:lnTo>
                    <a:lnTo>
                      <a:pt x="1243408" y="586695"/>
                    </a:lnTo>
                    <a:lnTo>
                      <a:pt x="0" y="586695"/>
                    </a:lnTo>
                    <a:close/>
                  </a:path>
                </a:pathLst>
              </a:custGeom>
              <a:solidFill>
                <a:srgbClr val="FFFFFF"/>
              </a:solidFill>
            </p:spPr>
            <p:txBody>
              <a:bodyPr/>
              <a:lstStyle/>
              <a:p>
                <a:endParaRPr lang="en-IN"/>
              </a:p>
            </p:txBody>
          </p:sp>
          <p:sp>
            <p:nvSpPr>
              <p:cNvPr id="171" name="TextBox 7">
                <a:extLst>
                  <a:ext uri="{FF2B5EF4-FFF2-40B4-BE49-F238E27FC236}">
                    <a16:creationId xmlns:a16="http://schemas.microsoft.com/office/drawing/2014/main" id="{5930DA85-3558-0310-319A-B4A025E414A2}"/>
                  </a:ext>
                </a:extLst>
              </p:cNvPr>
              <p:cNvSpPr txBox="1"/>
              <p:nvPr/>
            </p:nvSpPr>
            <p:spPr>
              <a:xfrm>
                <a:off x="0" y="9525"/>
                <a:ext cx="1243408" cy="577170"/>
              </a:xfrm>
              <a:prstGeom prst="rect">
                <a:avLst/>
              </a:prstGeom>
            </p:spPr>
            <p:txBody>
              <a:bodyPr lIns="71403" tIns="71403" rIns="71403" bIns="71403" rtlCol="0" anchor="ctr"/>
              <a:lstStyle/>
              <a:p>
                <a:pPr algn="ctr">
                  <a:lnSpc>
                    <a:spcPts val="2192"/>
                  </a:lnSpc>
                </a:pPr>
                <a:endParaRPr/>
              </a:p>
            </p:txBody>
          </p:sp>
        </p:grpSp>
        <p:grpSp>
          <p:nvGrpSpPr>
            <p:cNvPr id="141" name="Group 8">
              <a:extLst>
                <a:ext uri="{FF2B5EF4-FFF2-40B4-BE49-F238E27FC236}">
                  <a16:creationId xmlns:a16="http://schemas.microsoft.com/office/drawing/2014/main" id="{BB055EDE-323A-F53E-748A-A6B90976EC36}"/>
                </a:ext>
              </a:extLst>
            </p:cNvPr>
            <p:cNvGrpSpPr/>
            <p:nvPr/>
          </p:nvGrpSpPr>
          <p:grpSpPr>
            <a:xfrm>
              <a:off x="6767505" y="5373299"/>
              <a:ext cx="4718760" cy="2226520"/>
              <a:chOff x="0" y="0"/>
              <a:chExt cx="1243408" cy="586695"/>
            </a:xfrm>
          </p:grpSpPr>
          <p:sp>
            <p:nvSpPr>
              <p:cNvPr id="168" name="Freeform 9">
                <a:extLst>
                  <a:ext uri="{FF2B5EF4-FFF2-40B4-BE49-F238E27FC236}">
                    <a16:creationId xmlns:a16="http://schemas.microsoft.com/office/drawing/2014/main" id="{071A0522-09E2-AE3B-F0E9-E90E98359C70}"/>
                  </a:ext>
                </a:extLst>
              </p:cNvPr>
              <p:cNvSpPr/>
              <p:nvPr/>
            </p:nvSpPr>
            <p:spPr>
              <a:xfrm>
                <a:off x="0" y="0"/>
                <a:ext cx="1243408" cy="586695"/>
              </a:xfrm>
              <a:custGeom>
                <a:avLst/>
                <a:gdLst/>
                <a:ahLst/>
                <a:cxnLst/>
                <a:rect l="l" t="t" r="r" b="b"/>
                <a:pathLst>
                  <a:path w="1243408" h="586695">
                    <a:moveTo>
                      <a:pt x="0" y="0"/>
                    </a:moveTo>
                    <a:lnTo>
                      <a:pt x="1243408" y="0"/>
                    </a:lnTo>
                    <a:lnTo>
                      <a:pt x="1243408" y="586695"/>
                    </a:lnTo>
                    <a:lnTo>
                      <a:pt x="0" y="586695"/>
                    </a:lnTo>
                    <a:close/>
                  </a:path>
                </a:pathLst>
              </a:custGeom>
              <a:solidFill>
                <a:srgbClr val="FFFFFF"/>
              </a:solidFill>
            </p:spPr>
            <p:txBody>
              <a:bodyPr/>
              <a:lstStyle/>
              <a:p>
                <a:endParaRPr lang="en-IN"/>
              </a:p>
            </p:txBody>
          </p:sp>
          <p:sp>
            <p:nvSpPr>
              <p:cNvPr id="169" name="TextBox 10">
                <a:extLst>
                  <a:ext uri="{FF2B5EF4-FFF2-40B4-BE49-F238E27FC236}">
                    <a16:creationId xmlns:a16="http://schemas.microsoft.com/office/drawing/2014/main" id="{89612433-8C13-14F9-2DB4-B0FD3E634E22}"/>
                  </a:ext>
                </a:extLst>
              </p:cNvPr>
              <p:cNvSpPr txBox="1"/>
              <p:nvPr/>
            </p:nvSpPr>
            <p:spPr>
              <a:xfrm>
                <a:off x="0" y="9525"/>
                <a:ext cx="1243408" cy="577170"/>
              </a:xfrm>
              <a:prstGeom prst="rect">
                <a:avLst/>
              </a:prstGeom>
            </p:spPr>
            <p:txBody>
              <a:bodyPr lIns="71403" tIns="71403" rIns="71403" bIns="71403" rtlCol="0" anchor="ctr"/>
              <a:lstStyle/>
              <a:p>
                <a:pPr algn="ctr">
                  <a:lnSpc>
                    <a:spcPts val="2192"/>
                  </a:lnSpc>
                </a:pPr>
                <a:endParaRPr/>
              </a:p>
            </p:txBody>
          </p:sp>
        </p:grpSp>
        <p:grpSp>
          <p:nvGrpSpPr>
            <p:cNvPr id="142" name="Group 11">
              <a:extLst>
                <a:ext uri="{FF2B5EF4-FFF2-40B4-BE49-F238E27FC236}">
                  <a16:creationId xmlns:a16="http://schemas.microsoft.com/office/drawing/2014/main" id="{224AE4A8-0800-B063-57CE-D31A25015C97}"/>
                </a:ext>
              </a:extLst>
            </p:cNvPr>
            <p:cNvGrpSpPr/>
            <p:nvPr/>
          </p:nvGrpSpPr>
          <p:grpSpPr>
            <a:xfrm>
              <a:off x="11844034" y="2781300"/>
              <a:ext cx="4718760" cy="2226520"/>
              <a:chOff x="0" y="0"/>
              <a:chExt cx="1243408" cy="586695"/>
            </a:xfrm>
          </p:grpSpPr>
          <p:sp>
            <p:nvSpPr>
              <p:cNvPr id="166" name="Freeform 12">
                <a:extLst>
                  <a:ext uri="{FF2B5EF4-FFF2-40B4-BE49-F238E27FC236}">
                    <a16:creationId xmlns:a16="http://schemas.microsoft.com/office/drawing/2014/main" id="{57B7FD5B-C0A7-D012-162B-7932497FA616}"/>
                  </a:ext>
                </a:extLst>
              </p:cNvPr>
              <p:cNvSpPr/>
              <p:nvPr/>
            </p:nvSpPr>
            <p:spPr>
              <a:xfrm>
                <a:off x="0" y="0"/>
                <a:ext cx="1243408" cy="586695"/>
              </a:xfrm>
              <a:custGeom>
                <a:avLst/>
                <a:gdLst/>
                <a:ahLst/>
                <a:cxnLst/>
                <a:rect l="l" t="t" r="r" b="b"/>
                <a:pathLst>
                  <a:path w="1243408" h="586695">
                    <a:moveTo>
                      <a:pt x="0" y="0"/>
                    </a:moveTo>
                    <a:lnTo>
                      <a:pt x="1243408" y="0"/>
                    </a:lnTo>
                    <a:lnTo>
                      <a:pt x="1243408" y="586695"/>
                    </a:lnTo>
                    <a:lnTo>
                      <a:pt x="0" y="586695"/>
                    </a:lnTo>
                    <a:close/>
                  </a:path>
                </a:pathLst>
              </a:custGeom>
              <a:solidFill>
                <a:srgbClr val="FFFFFF"/>
              </a:solidFill>
            </p:spPr>
            <p:txBody>
              <a:bodyPr/>
              <a:lstStyle/>
              <a:p>
                <a:endParaRPr lang="en-IN"/>
              </a:p>
            </p:txBody>
          </p:sp>
          <p:sp>
            <p:nvSpPr>
              <p:cNvPr id="167" name="TextBox 13">
                <a:extLst>
                  <a:ext uri="{FF2B5EF4-FFF2-40B4-BE49-F238E27FC236}">
                    <a16:creationId xmlns:a16="http://schemas.microsoft.com/office/drawing/2014/main" id="{D09BA27A-55A1-E18A-E5E5-01E50BECBB08}"/>
                  </a:ext>
                </a:extLst>
              </p:cNvPr>
              <p:cNvSpPr txBox="1"/>
              <p:nvPr/>
            </p:nvSpPr>
            <p:spPr>
              <a:xfrm>
                <a:off x="0" y="9525"/>
                <a:ext cx="1243408" cy="577170"/>
              </a:xfrm>
              <a:prstGeom prst="rect">
                <a:avLst/>
              </a:prstGeom>
            </p:spPr>
            <p:txBody>
              <a:bodyPr lIns="71403" tIns="71403" rIns="71403" bIns="71403" rtlCol="0" anchor="ctr"/>
              <a:lstStyle/>
              <a:p>
                <a:pPr algn="ctr">
                  <a:lnSpc>
                    <a:spcPts val="2192"/>
                  </a:lnSpc>
                </a:pPr>
                <a:endParaRPr/>
              </a:p>
            </p:txBody>
          </p:sp>
        </p:grpSp>
        <p:grpSp>
          <p:nvGrpSpPr>
            <p:cNvPr id="143" name="Group 14">
              <a:extLst>
                <a:ext uri="{FF2B5EF4-FFF2-40B4-BE49-F238E27FC236}">
                  <a16:creationId xmlns:a16="http://schemas.microsoft.com/office/drawing/2014/main" id="{8399BAF0-7B47-51D5-A03A-DEFFAD35BF6E}"/>
                </a:ext>
              </a:extLst>
            </p:cNvPr>
            <p:cNvGrpSpPr/>
            <p:nvPr/>
          </p:nvGrpSpPr>
          <p:grpSpPr>
            <a:xfrm>
              <a:off x="1716948" y="2781300"/>
              <a:ext cx="4718760" cy="2226520"/>
              <a:chOff x="0" y="0"/>
              <a:chExt cx="6291680" cy="2968694"/>
            </a:xfrm>
          </p:grpSpPr>
          <p:grpSp>
            <p:nvGrpSpPr>
              <p:cNvPr id="160" name="Group 15">
                <a:extLst>
                  <a:ext uri="{FF2B5EF4-FFF2-40B4-BE49-F238E27FC236}">
                    <a16:creationId xmlns:a16="http://schemas.microsoft.com/office/drawing/2014/main" id="{3763383F-432D-237C-BD27-7DFAF673CCD7}"/>
                  </a:ext>
                </a:extLst>
              </p:cNvPr>
              <p:cNvGrpSpPr/>
              <p:nvPr/>
            </p:nvGrpSpPr>
            <p:grpSpPr>
              <a:xfrm>
                <a:off x="0" y="0"/>
                <a:ext cx="6291680" cy="2968694"/>
                <a:chOff x="0" y="0"/>
                <a:chExt cx="1243408" cy="586695"/>
              </a:xfrm>
            </p:grpSpPr>
            <p:sp>
              <p:nvSpPr>
                <p:cNvPr id="164" name="Freeform 16">
                  <a:extLst>
                    <a:ext uri="{FF2B5EF4-FFF2-40B4-BE49-F238E27FC236}">
                      <a16:creationId xmlns:a16="http://schemas.microsoft.com/office/drawing/2014/main" id="{8C66126B-7417-88C1-A83B-DD9DC513446F}"/>
                    </a:ext>
                  </a:extLst>
                </p:cNvPr>
                <p:cNvSpPr/>
                <p:nvPr/>
              </p:nvSpPr>
              <p:spPr>
                <a:xfrm>
                  <a:off x="0" y="0"/>
                  <a:ext cx="1243408" cy="586695"/>
                </a:xfrm>
                <a:custGeom>
                  <a:avLst/>
                  <a:gdLst/>
                  <a:ahLst/>
                  <a:cxnLst/>
                  <a:rect l="l" t="t" r="r" b="b"/>
                  <a:pathLst>
                    <a:path w="1243408" h="586695">
                      <a:moveTo>
                        <a:pt x="0" y="0"/>
                      </a:moveTo>
                      <a:lnTo>
                        <a:pt x="1243408" y="0"/>
                      </a:lnTo>
                      <a:lnTo>
                        <a:pt x="1243408" y="586695"/>
                      </a:lnTo>
                      <a:lnTo>
                        <a:pt x="0" y="586695"/>
                      </a:lnTo>
                      <a:close/>
                    </a:path>
                  </a:pathLst>
                </a:custGeom>
                <a:solidFill>
                  <a:srgbClr val="FFFFFF"/>
                </a:solidFill>
              </p:spPr>
              <p:txBody>
                <a:bodyPr/>
                <a:lstStyle/>
                <a:p>
                  <a:endParaRPr lang="en-IN"/>
                </a:p>
              </p:txBody>
            </p:sp>
            <p:sp>
              <p:nvSpPr>
                <p:cNvPr id="165" name="TextBox 17">
                  <a:extLst>
                    <a:ext uri="{FF2B5EF4-FFF2-40B4-BE49-F238E27FC236}">
                      <a16:creationId xmlns:a16="http://schemas.microsoft.com/office/drawing/2014/main" id="{A34837ED-2A79-098D-F055-326A7303346F}"/>
                    </a:ext>
                  </a:extLst>
                </p:cNvPr>
                <p:cNvSpPr txBox="1"/>
                <p:nvPr/>
              </p:nvSpPr>
              <p:spPr>
                <a:xfrm>
                  <a:off x="0" y="9525"/>
                  <a:ext cx="1243408" cy="577170"/>
                </a:xfrm>
                <a:prstGeom prst="rect">
                  <a:avLst/>
                </a:prstGeom>
              </p:spPr>
              <p:txBody>
                <a:bodyPr lIns="50800" tIns="50800" rIns="50800" bIns="50800" rtlCol="0" anchor="ctr"/>
                <a:lstStyle/>
                <a:p>
                  <a:pPr algn="ctr">
                    <a:lnSpc>
                      <a:spcPts val="2192"/>
                    </a:lnSpc>
                  </a:pPr>
                  <a:endParaRPr/>
                </a:p>
              </p:txBody>
            </p:sp>
          </p:grpSp>
          <p:sp>
            <p:nvSpPr>
              <p:cNvPr id="161" name="Freeform 18">
                <a:extLst>
                  <a:ext uri="{FF2B5EF4-FFF2-40B4-BE49-F238E27FC236}">
                    <a16:creationId xmlns:a16="http://schemas.microsoft.com/office/drawing/2014/main" id="{6C72CAB6-966E-7785-90F3-66AA4DB14A0B}"/>
                  </a:ext>
                </a:extLst>
              </p:cNvPr>
              <p:cNvSpPr/>
              <p:nvPr/>
            </p:nvSpPr>
            <p:spPr>
              <a:xfrm>
                <a:off x="341600" y="449993"/>
                <a:ext cx="782731" cy="782731"/>
              </a:xfrm>
              <a:custGeom>
                <a:avLst/>
                <a:gdLst/>
                <a:ahLst/>
                <a:cxnLst/>
                <a:rect l="l" t="t" r="r" b="b"/>
                <a:pathLst>
                  <a:path w="782731" h="782731">
                    <a:moveTo>
                      <a:pt x="0" y="0"/>
                    </a:moveTo>
                    <a:lnTo>
                      <a:pt x="782731" y="0"/>
                    </a:lnTo>
                    <a:lnTo>
                      <a:pt x="782731" y="782731"/>
                    </a:lnTo>
                    <a:lnTo>
                      <a:pt x="0" y="7827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2" name="TextBox 19">
                <a:extLst>
                  <a:ext uri="{FF2B5EF4-FFF2-40B4-BE49-F238E27FC236}">
                    <a16:creationId xmlns:a16="http://schemas.microsoft.com/office/drawing/2014/main" id="{25D73571-7B99-799D-A649-662D4E1545A7}"/>
                  </a:ext>
                </a:extLst>
              </p:cNvPr>
              <p:cNvSpPr txBox="1"/>
              <p:nvPr/>
            </p:nvSpPr>
            <p:spPr>
              <a:xfrm>
                <a:off x="1385781" y="459518"/>
                <a:ext cx="4564299" cy="704501"/>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Pre-Organization Development Workshop</a:t>
                </a:r>
              </a:p>
            </p:txBody>
          </p:sp>
          <p:sp>
            <p:nvSpPr>
              <p:cNvPr id="163" name="TextBox 20">
                <a:extLst>
                  <a:ext uri="{FF2B5EF4-FFF2-40B4-BE49-F238E27FC236}">
                    <a16:creationId xmlns:a16="http://schemas.microsoft.com/office/drawing/2014/main" id="{7757BCD5-4C69-EFBC-B750-D95EE41C670B}"/>
                  </a:ext>
                </a:extLst>
              </p:cNvPr>
              <p:cNvSpPr txBox="1"/>
              <p:nvPr/>
            </p:nvSpPr>
            <p:spPr>
              <a:xfrm>
                <a:off x="1385781" y="1348154"/>
                <a:ext cx="4564299" cy="1156727"/>
              </a:xfrm>
              <a:prstGeom prst="rect">
                <a:avLst/>
              </a:prstGeom>
            </p:spPr>
            <p:txBody>
              <a:bodyPr lIns="0" tIns="0" rIns="0" bIns="0" rtlCol="0" anchor="t">
                <a:spAutoFit/>
              </a:bodyPr>
              <a:lstStyle/>
              <a:p>
                <a:pPr algn="l">
                  <a:lnSpc>
                    <a:spcPts val="2375"/>
                  </a:lnSpc>
                </a:pPr>
                <a:r>
                  <a:rPr lang="en-US" sz="1827" dirty="0">
                    <a:solidFill>
                      <a:srgbClr val="545454"/>
                    </a:solidFill>
                    <a:latin typeface="Open Sans"/>
                    <a:ea typeface="Open Sans"/>
                    <a:cs typeface="Open Sans"/>
                    <a:sym typeface="Open Sans"/>
                  </a:rPr>
                  <a:t>Setting context before the Organization Development Workshop.</a:t>
                </a:r>
              </a:p>
            </p:txBody>
          </p:sp>
        </p:grpSp>
        <p:grpSp>
          <p:nvGrpSpPr>
            <p:cNvPr id="144" name="Group 21">
              <a:extLst>
                <a:ext uri="{FF2B5EF4-FFF2-40B4-BE49-F238E27FC236}">
                  <a16:creationId xmlns:a16="http://schemas.microsoft.com/office/drawing/2014/main" id="{7D0CCE9E-9839-823A-9C41-7FC8C74058F9}"/>
                </a:ext>
              </a:extLst>
            </p:cNvPr>
            <p:cNvGrpSpPr/>
            <p:nvPr/>
          </p:nvGrpSpPr>
          <p:grpSpPr>
            <a:xfrm>
              <a:off x="1973148" y="5654719"/>
              <a:ext cx="4206361" cy="1690457"/>
              <a:chOff x="0" y="0"/>
              <a:chExt cx="5608481" cy="2253943"/>
            </a:xfrm>
          </p:grpSpPr>
          <p:sp>
            <p:nvSpPr>
              <p:cNvPr id="157" name="Freeform 22">
                <a:extLst>
                  <a:ext uri="{FF2B5EF4-FFF2-40B4-BE49-F238E27FC236}">
                    <a16:creationId xmlns:a16="http://schemas.microsoft.com/office/drawing/2014/main" id="{91886178-31EA-1BC3-2F54-3070D363532E}"/>
                  </a:ext>
                </a:extLst>
              </p:cNvPr>
              <p:cNvSpPr/>
              <p:nvPr/>
            </p:nvSpPr>
            <p:spPr>
              <a:xfrm>
                <a:off x="0" y="0"/>
                <a:ext cx="782731" cy="782731"/>
              </a:xfrm>
              <a:custGeom>
                <a:avLst/>
                <a:gdLst/>
                <a:ahLst/>
                <a:cxnLst/>
                <a:rect l="l" t="t" r="r" b="b"/>
                <a:pathLst>
                  <a:path w="782731" h="782731">
                    <a:moveTo>
                      <a:pt x="0" y="0"/>
                    </a:moveTo>
                    <a:lnTo>
                      <a:pt x="782731" y="0"/>
                    </a:lnTo>
                    <a:lnTo>
                      <a:pt x="782731" y="782731"/>
                    </a:lnTo>
                    <a:lnTo>
                      <a:pt x="0" y="7827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58" name="TextBox 23">
                <a:extLst>
                  <a:ext uri="{FF2B5EF4-FFF2-40B4-BE49-F238E27FC236}">
                    <a16:creationId xmlns:a16="http://schemas.microsoft.com/office/drawing/2014/main" id="{07EA0A22-D4EA-571E-4B73-CD33ACC7959C}"/>
                  </a:ext>
                </a:extLst>
              </p:cNvPr>
              <p:cNvSpPr txBox="1"/>
              <p:nvPr/>
            </p:nvSpPr>
            <p:spPr>
              <a:xfrm>
                <a:off x="1044182" y="9525"/>
                <a:ext cx="4564299" cy="347488"/>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Actionables </a:t>
                </a:r>
              </a:p>
            </p:txBody>
          </p:sp>
          <p:sp>
            <p:nvSpPr>
              <p:cNvPr id="159" name="TextBox 24">
                <a:extLst>
                  <a:ext uri="{FF2B5EF4-FFF2-40B4-BE49-F238E27FC236}">
                    <a16:creationId xmlns:a16="http://schemas.microsoft.com/office/drawing/2014/main" id="{FBA42A52-8CF8-0212-F3D7-B270D2624DF7}"/>
                  </a:ext>
                </a:extLst>
              </p:cNvPr>
              <p:cNvSpPr txBox="1"/>
              <p:nvPr/>
            </p:nvSpPr>
            <p:spPr>
              <a:xfrm>
                <a:off x="1044182" y="704501"/>
                <a:ext cx="4564299" cy="1549441"/>
              </a:xfrm>
              <a:prstGeom prst="rect">
                <a:avLst/>
              </a:prstGeom>
            </p:spPr>
            <p:txBody>
              <a:bodyPr lIns="0" tIns="0" rIns="0" bIns="0" rtlCol="0" anchor="t">
                <a:spAutoFit/>
              </a:bodyPr>
              <a:lstStyle/>
              <a:p>
                <a:pPr algn="l">
                  <a:lnSpc>
                    <a:spcPts val="2375"/>
                  </a:lnSpc>
                </a:pPr>
                <a:r>
                  <a:rPr lang="en-US" sz="1827">
                    <a:solidFill>
                      <a:srgbClr val="545454"/>
                    </a:solidFill>
                    <a:latin typeface="Open Sans"/>
                    <a:ea typeface="Open Sans"/>
                    <a:cs typeface="Open Sans"/>
                    <a:sym typeface="Open Sans"/>
                  </a:rPr>
                  <a:t>Track key priorities &amp; takeaways from the Organization Development Workshop.</a:t>
                </a:r>
              </a:p>
            </p:txBody>
          </p:sp>
        </p:grpSp>
        <p:grpSp>
          <p:nvGrpSpPr>
            <p:cNvPr id="145" name="Group 25">
              <a:extLst>
                <a:ext uri="{FF2B5EF4-FFF2-40B4-BE49-F238E27FC236}">
                  <a16:creationId xmlns:a16="http://schemas.microsoft.com/office/drawing/2014/main" id="{C0FA731A-6A03-60D1-D466-44AB3182D9D3}"/>
                </a:ext>
              </a:extLst>
            </p:cNvPr>
            <p:cNvGrpSpPr/>
            <p:nvPr/>
          </p:nvGrpSpPr>
          <p:grpSpPr>
            <a:xfrm>
              <a:off x="7023704" y="3118795"/>
              <a:ext cx="4206361" cy="1101385"/>
              <a:chOff x="0" y="0"/>
              <a:chExt cx="5608481" cy="1468514"/>
            </a:xfrm>
          </p:grpSpPr>
          <p:sp>
            <p:nvSpPr>
              <p:cNvPr id="154" name="Freeform 26">
                <a:extLst>
                  <a:ext uri="{FF2B5EF4-FFF2-40B4-BE49-F238E27FC236}">
                    <a16:creationId xmlns:a16="http://schemas.microsoft.com/office/drawing/2014/main" id="{A2D29E7A-00C4-9978-5E5B-32AAE090F4EC}"/>
                  </a:ext>
                </a:extLst>
              </p:cNvPr>
              <p:cNvSpPr/>
              <p:nvPr/>
            </p:nvSpPr>
            <p:spPr>
              <a:xfrm>
                <a:off x="0" y="0"/>
                <a:ext cx="782731" cy="782731"/>
              </a:xfrm>
              <a:custGeom>
                <a:avLst/>
                <a:gdLst/>
                <a:ahLst/>
                <a:cxnLst/>
                <a:rect l="l" t="t" r="r" b="b"/>
                <a:pathLst>
                  <a:path w="782731" h="782731">
                    <a:moveTo>
                      <a:pt x="0" y="0"/>
                    </a:moveTo>
                    <a:lnTo>
                      <a:pt x="782731" y="0"/>
                    </a:lnTo>
                    <a:lnTo>
                      <a:pt x="782731" y="782731"/>
                    </a:lnTo>
                    <a:lnTo>
                      <a:pt x="0" y="7827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55" name="TextBox 27">
                <a:extLst>
                  <a:ext uri="{FF2B5EF4-FFF2-40B4-BE49-F238E27FC236}">
                    <a16:creationId xmlns:a16="http://schemas.microsoft.com/office/drawing/2014/main" id="{2C258DB0-5C37-3A20-C661-BD8D0F365F32}"/>
                  </a:ext>
                </a:extLst>
              </p:cNvPr>
              <p:cNvSpPr txBox="1"/>
              <p:nvPr/>
            </p:nvSpPr>
            <p:spPr>
              <a:xfrm>
                <a:off x="1044182" y="9525"/>
                <a:ext cx="4564299" cy="347488"/>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Vision &amp; Mission</a:t>
                </a:r>
              </a:p>
            </p:txBody>
          </p:sp>
          <p:sp>
            <p:nvSpPr>
              <p:cNvPr id="156" name="TextBox 28">
                <a:extLst>
                  <a:ext uri="{FF2B5EF4-FFF2-40B4-BE49-F238E27FC236}">
                    <a16:creationId xmlns:a16="http://schemas.microsoft.com/office/drawing/2014/main" id="{BDE28F10-7207-368C-78C4-A976854788DA}"/>
                  </a:ext>
                </a:extLst>
              </p:cNvPr>
              <p:cNvSpPr txBox="1"/>
              <p:nvPr/>
            </p:nvSpPr>
            <p:spPr>
              <a:xfrm>
                <a:off x="1044182" y="704501"/>
                <a:ext cx="4564299" cy="764012"/>
              </a:xfrm>
              <a:prstGeom prst="rect">
                <a:avLst/>
              </a:prstGeom>
            </p:spPr>
            <p:txBody>
              <a:bodyPr lIns="0" tIns="0" rIns="0" bIns="0" rtlCol="0" anchor="t">
                <a:spAutoFit/>
              </a:bodyPr>
              <a:lstStyle/>
              <a:p>
                <a:pPr algn="l">
                  <a:lnSpc>
                    <a:spcPts val="2375"/>
                  </a:lnSpc>
                </a:pPr>
                <a:r>
                  <a:rPr lang="en-US" sz="1827">
                    <a:solidFill>
                      <a:srgbClr val="545454"/>
                    </a:solidFill>
                    <a:latin typeface="Open Sans"/>
                    <a:ea typeface="Open Sans"/>
                    <a:cs typeface="Open Sans"/>
                    <a:sym typeface="Open Sans"/>
                  </a:rPr>
                  <a:t>Aligning goals, purpose, and aspirations for the business.</a:t>
                </a:r>
              </a:p>
            </p:txBody>
          </p:sp>
        </p:grpSp>
        <p:grpSp>
          <p:nvGrpSpPr>
            <p:cNvPr id="146" name="Group 29">
              <a:extLst>
                <a:ext uri="{FF2B5EF4-FFF2-40B4-BE49-F238E27FC236}">
                  <a16:creationId xmlns:a16="http://schemas.microsoft.com/office/drawing/2014/main" id="{8B8D9ADF-8314-AFBD-AB55-B8CE222669DE}"/>
                </a:ext>
              </a:extLst>
            </p:cNvPr>
            <p:cNvGrpSpPr/>
            <p:nvPr/>
          </p:nvGrpSpPr>
          <p:grpSpPr>
            <a:xfrm>
              <a:off x="7023704" y="5654719"/>
              <a:ext cx="4206361" cy="1395921"/>
              <a:chOff x="0" y="0"/>
              <a:chExt cx="5608481" cy="1861228"/>
            </a:xfrm>
          </p:grpSpPr>
          <p:sp>
            <p:nvSpPr>
              <p:cNvPr id="151" name="Freeform 30">
                <a:extLst>
                  <a:ext uri="{FF2B5EF4-FFF2-40B4-BE49-F238E27FC236}">
                    <a16:creationId xmlns:a16="http://schemas.microsoft.com/office/drawing/2014/main" id="{A3F5D351-15A9-0EFB-C5CF-0546B4506314}"/>
                  </a:ext>
                </a:extLst>
              </p:cNvPr>
              <p:cNvSpPr/>
              <p:nvPr/>
            </p:nvSpPr>
            <p:spPr>
              <a:xfrm>
                <a:off x="0" y="0"/>
                <a:ext cx="782731" cy="782731"/>
              </a:xfrm>
              <a:custGeom>
                <a:avLst/>
                <a:gdLst/>
                <a:ahLst/>
                <a:cxnLst/>
                <a:rect l="l" t="t" r="r" b="b"/>
                <a:pathLst>
                  <a:path w="782731" h="782731">
                    <a:moveTo>
                      <a:pt x="0" y="0"/>
                    </a:moveTo>
                    <a:lnTo>
                      <a:pt x="782731" y="0"/>
                    </a:lnTo>
                    <a:lnTo>
                      <a:pt x="782731" y="782731"/>
                    </a:lnTo>
                    <a:lnTo>
                      <a:pt x="0" y="7827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52" name="TextBox 31">
                <a:extLst>
                  <a:ext uri="{FF2B5EF4-FFF2-40B4-BE49-F238E27FC236}">
                    <a16:creationId xmlns:a16="http://schemas.microsoft.com/office/drawing/2014/main" id="{147560E6-2354-E1F9-5017-9944243859DA}"/>
                  </a:ext>
                </a:extLst>
              </p:cNvPr>
              <p:cNvSpPr txBox="1"/>
              <p:nvPr/>
            </p:nvSpPr>
            <p:spPr>
              <a:xfrm>
                <a:off x="1044182" y="9525"/>
                <a:ext cx="4564299" cy="347488"/>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Reports</a:t>
                </a:r>
              </a:p>
            </p:txBody>
          </p:sp>
          <p:sp>
            <p:nvSpPr>
              <p:cNvPr id="153" name="TextBox 32">
                <a:extLst>
                  <a:ext uri="{FF2B5EF4-FFF2-40B4-BE49-F238E27FC236}">
                    <a16:creationId xmlns:a16="http://schemas.microsoft.com/office/drawing/2014/main" id="{E2FCD3FB-8EF4-DF18-2150-8EF99AB902E5}"/>
                  </a:ext>
                </a:extLst>
              </p:cNvPr>
              <p:cNvSpPr txBox="1"/>
              <p:nvPr/>
            </p:nvSpPr>
            <p:spPr>
              <a:xfrm>
                <a:off x="1044182" y="704501"/>
                <a:ext cx="4564299" cy="1156727"/>
              </a:xfrm>
              <a:prstGeom prst="rect">
                <a:avLst/>
              </a:prstGeom>
            </p:spPr>
            <p:txBody>
              <a:bodyPr lIns="0" tIns="0" rIns="0" bIns="0" rtlCol="0" anchor="t">
                <a:spAutoFit/>
              </a:bodyPr>
              <a:lstStyle/>
              <a:p>
                <a:pPr algn="l">
                  <a:lnSpc>
                    <a:spcPts val="2375"/>
                  </a:lnSpc>
                </a:pPr>
                <a:r>
                  <a:rPr lang="en-US" sz="1827">
                    <a:solidFill>
                      <a:srgbClr val="545454"/>
                    </a:solidFill>
                    <a:latin typeface="Open Sans"/>
                    <a:ea typeface="Open Sans"/>
                    <a:cs typeface="Open Sans"/>
                    <a:sym typeface="Open Sans"/>
                  </a:rPr>
                  <a:t>Summary of key insights, participant reflections &amp; actionables. </a:t>
                </a:r>
              </a:p>
            </p:txBody>
          </p:sp>
        </p:grpSp>
        <p:grpSp>
          <p:nvGrpSpPr>
            <p:cNvPr id="147" name="Group 33">
              <a:extLst>
                <a:ext uri="{FF2B5EF4-FFF2-40B4-BE49-F238E27FC236}">
                  <a16:creationId xmlns:a16="http://schemas.microsoft.com/office/drawing/2014/main" id="{58ADEF10-1A67-B72F-0B21-CFC2C9E43C61}"/>
                </a:ext>
              </a:extLst>
            </p:cNvPr>
            <p:cNvGrpSpPr/>
            <p:nvPr/>
          </p:nvGrpSpPr>
          <p:grpSpPr>
            <a:xfrm>
              <a:off x="12100234" y="3118795"/>
              <a:ext cx="4206361" cy="1395921"/>
              <a:chOff x="0" y="0"/>
              <a:chExt cx="5608481" cy="1861228"/>
            </a:xfrm>
          </p:grpSpPr>
          <p:sp>
            <p:nvSpPr>
              <p:cNvPr id="148" name="Freeform 34">
                <a:extLst>
                  <a:ext uri="{FF2B5EF4-FFF2-40B4-BE49-F238E27FC236}">
                    <a16:creationId xmlns:a16="http://schemas.microsoft.com/office/drawing/2014/main" id="{BCB2A3FF-F0F5-1CAA-8D3C-1E03919ED602}"/>
                  </a:ext>
                </a:extLst>
              </p:cNvPr>
              <p:cNvSpPr/>
              <p:nvPr/>
            </p:nvSpPr>
            <p:spPr>
              <a:xfrm>
                <a:off x="0" y="0"/>
                <a:ext cx="782731" cy="782731"/>
              </a:xfrm>
              <a:custGeom>
                <a:avLst/>
                <a:gdLst/>
                <a:ahLst/>
                <a:cxnLst/>
                <a:rect l="l" t="t" r="r" b="b"/>
                <a:pathLst>
                  <a:path w="782731" h="782731">
                    <a:moveTo>
                      <a:pt x="0" y="0"/>
                    </a:moveTo>
                    <a:lnTo>
                      <a:pt x="782731" y="0"/>
                    </a:lnTo>
                    <a:lnTo>
                      <a:pt x="782731" y="782731"/>
                    </a:lnTo>
                    <a:lnTo>
                      <a:pt x="0" y="7827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49" name="TextBox 35">
                <a:extLst>
                  <a:ext uri="{FF2B5EF4-FFF2-40B4-BE49-F238E27FC236}">
                    <a16:creationId xmlns:a16="http://schemas.microsoft.com/office/drawing/2014/main" id="{43506B12-5A2A-4832-5812-11E46B630588}"/>
                  </a:ext>
                </a:extLst>
              </p:cNvPr>
              <p:cNvSpPr txBox="1"/>
              <p:nvPr/>
            </p:nvSpPr>
            <p:spPr>
              <a:xfrm>
                <a:off x="1044182" y="9525"/>
                <a:ext cx="4564299" cy="347488"/>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Unlock Value</a:t>
                </a:r>
              </a:p>
            </p:txBody>
          </p:sp>
          <p:sp>
            <p:nvSpPr>
              <p:cNvPr id="150" name="TextBox 36">
                <a:extLst>
                  <a:ext uri="{FF2B5EF4-FFF2-40B4-BE49-F238E27FC236}">
                    <a16:creationId xmlns:a16="http://schemas.microsoft.com/office/drawing/2014/main" id="{1CDC34E9-FCD0-43A1-10DB-350ACA0BCF4A}"/>
                  </a:ext>
                </a:extLst>
              </p:cNvPr>
              <p:cNvSpPr txBox="1"/>
              <p:nvPr/>
            </p:nvSpPr>
            <p:spPr>
              <a:xfrm>
                <a:off x="1044182" y="704501"/>
                <a:ext cx="4564299" cy="1156727"/>
              </a:xfrm>
              <a:prstGeom prst="rect">
                <a:avLst/>
              </a:prstGeom>
            </p:spPr>
            <p:txBody>
              <a:bodyPr lIns="0" tIns="0" rIns="0" bIns="0" rtlCol="0" anchor="t">
                <a:spAutoFit/>
              </a:bodyPr>
              <a:lstStyle/>
              <a:p>
                <a:pPr algn="l">
                  <a:lnSpc>
                    <a:spcPts val="2375"/>
                  </a:lnSpc>
                </a:pPr>
                <a:r>
                  <a:rPr lang="en-US" sz="1827">
                    <a:solidFill>
                      <a:srgbClr val="545454"/>
                    </a:solidFill>
                    <a:latin typeface="Open Sans"/>
                    <a:ea typeface="Open Sans"/>
                    <a:cs typeface="Open Sans"/>
                    <a:sym typeface="Open Sans"/>
                  </a:rPr>
                  <a:t>Foundational insights on the business model, operational efficiency and strategic outlook.</a:t>
                </a:r>
              </a:p>
            </p:txBody>
          </p:sp>
        </p:grpSp>
      </p:grpSp>
      <p:sp>
        <p:nvSpPr>
          <p:cNvPr id="37" name="Freeform 37"/>
          <p:cNvSpPr/>
          <p:nvPr/>
        </p:nvSpPr>
        <p:spPr>
          <a:xfrm>
            <a:off x="16286999" y="705692"/>
            <a:ext cx="377655" cy="359245"/>
          </a:xfrm>
          <a:custGeom>
            <a:avLst/>
            <a:gdLst/>
            <a:ahLst/>
            <a:cxnLst/>
            <a:rect l="l" t="t" r="r" b="b"/>
            <a:pathLst>
              <a:path w="377655" h="359245">
                <a:moveTo>
                  <a:pt x="0" y="0"/>
                </a:moveTo>
                <a:lnTo>
                  <a:pt x="377655" y="0"/>
                </a:lnTo>
                <a:lnTo>
                  <a:pt x="377655" y="359244"/>
                </a:lnTo>
                <a:lnTo>
                  <a:pt x="0" y="3592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38" name="Freeform 38"/>
          <p:cNvSpPr/>
          <p:nvPr/>
        </p:nvSpPr>
        <p:spPr>
          <a:xfrm>
            <a:off x="16849489" y="705692"/>
            <a:ext cx="359245" cy="359245"/>
          </a:xfrm>
          <a:custGeom>
            <a:avLst/>
            <a:gdLst/>
            <a:ahLst/>
            <a:cxnLst/>
            <a:rect l="l" t="t" r="r" b="b"/>
            <a:pathLst>
              <a:path w="359245" h="359245">
                <a:moveTo>
                  <a:pt x="0" y="0"/>
                </a:moveTo>
                <a:lnTo>
                  <a:pt x="359245" y="0"/>
                </a:lnTo>
                <a:lnTo>
                  <a:pt x="359245" y="359244"/>
                </a:lnTo>
                <a:lnTo>
                  <a:pt x="0" y="359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39" name="TextBox 39"/>
          <p:cNvSpPr txBox="1"/>
          <p:nvPr/>
        </p:nvSpPr>
        <p:spPr>
          <a:xfrm>
            <a:off x="1716948" y="641945"/>
            <a:ext cx="3328130" cy="477213"/>
          </a:xfrm>
          <a:prstGeom prst="rect">
            <a:avLst/>
          </a:prstGeom>
        </p:spPr>
        <p:txBody>
          <a:bodyPr lIns="0" tIns="0" rIns="0" bIns="0" rtlCol="0" anchor="t">
            <a:spAutoFit/>
          </a:bodyPr>
          <a:lstStyle/>
          <a:p>
            <a:pPr marL="0" lvl="0" indent="0" algn="l">
              <a:lnSpc>
                <a:spcPts val="3401"/>
              </a:lnSpc>
              <a:spcBef>
                <a:spcPct val="0"/>
              </a:spcBef>
            </a:pPr>
            <a:r>
              <a:rPr lang="en-US" sz="3092" b="1">
                <a:solidFill>
                  <a:srgbClr val="6A0B23"/>
                </a:solidFill>
                <a:latin typeface="Poppins Semi-Bold"/>
                <a:ea typeface="Poppins Semi-Bold"/>
                <a:cs typeface="Poppins Semi-Bold"/>
                <a:sym typeface="Poppins Semi-Bold"/>
              </a:rPr>
              <a:t>[Name]</a:t>
            </a:r>
          </a:p>
        </p:txBody>
      </p:sp>
      <p:sp>
        <p:nvSpPr>
          <p:cNvPr id="40" name="Freeform 40"/>
          <p:cNvSpPr/>
          <p:nvPr/>
        </p:nvSpPr>
        <p:spPr>
          <a:xfrm>
            <a:off x="1028198" y="756740"/>
            <a:ext cx="383803" cy="257148"/>
          </a:xfrm>
          <a:custGeom>
            <a:avLst/>
            <a:gdLst/>
            <a:ahLst/>
            <a:cxnLst/>
            <a:rect l="l" t="t" r="r" b="b"/>
            <a:pathLst>
              <a:path w="383803" h="257148">
                <a:moveTo>
                  <a:pt x="0" y="0"/>
                </a:moveTo>
                <a:lnTo>
                  <a:pt x="383803" y="0"/>
                </a:lnTo>
                <a:lnTo>
                  <a:pt x="383803" y="257148"/>
                </a:lnTo>
                <a:lnTo>
                  <a:pt x="0" y="25714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41" name="TextBox 41"/>
          <p:cNvSpPr txBox="1"/>
          <p:nvPr/>
        </p:nvSpPr>
        <p:spPr>
          <a:xfrm>
            <a:off x="1716948" y="9318001"/>
            <a:ext cx="9225262" cy="228821"/>
          </a:xfrm>
          <a:prstGeom prst="rect">
            <a:avLst/>
          </a:prstGeom>
        </p:spPr>
        <p:txBody>
          <a:bodyPr lIns="0" tIns="0" rIns="0" bIns="0" rtlCol="0" anchor="t">
            <a:spAutoFit/>
          </a:bodyPr>
          <a:lstStyle/>
          <a:p>
            <a:pPr algn="l">
              <a:lnSpc>
                <a:spcPts val="1824"/>
              </a:lnSpc>
            </a:pPr>
            <a:r>
              <a:rPr lang="en-US" sz="1403" i="1">
                <a:solidFill>
                  <a:srgbClr val="000000"/>
                </a:solidFill>
                <a:latin typeface="Open Sans Italics"/>
                <a:ea typeface="Open Sans Italics"/>
                <a:cs typeface="Open Sans Italics"/>
                <a:sym typeface="Open Sans Italics"/>
              </a:rPr>
              <a:t>Grow Your Business: organization Development Workshop</a:t>
            </a:r>
          </a:p>
        </p:txBody>
      </p:sp>
      <p:sp>
        <p:nvSpPr>
          <p:cNvPr id="42" name="TextBox 42"/>
          <p:cNvSpPr txBox="1"/>
          <p:nvPr/>
        </p:nvSpPr>
        <p:spPr>
          <a:xfrm>
            <a:off x="1716948" y="1591088"/>
            <a:ext cx="2902986" cy="252581"/>
          </a:xfrm>
          <a:prstGeom prst="rect">
            <a:avLst/>
          </a:prstGeom>
        </p:spPr>
        <p:txBody>
          <a:bodyPr lIns="0" tIns="0" rIns="0" bIns="0" rtlCol="0" anchor="t">
            <a:spAutoFit/>
          </a:bodyPr>
          <a:lstStyle/>
          <a:p>
            <a:pPr marL="0" lvl="0" indent="0" algn="l">
              <a:lnSpc>
                <a:spcPts val="1902"/>
              </a:lnSpc>
              <a:spcBef>
                <a:spcPct val="0"/>
              </a:spcBef>
            </a:pPr>
            <a:r>
              <a:rPr lang="en-US" sz="1729" b="1" u="none" strike="noStrike">
                <a:solidFill>
                  <a:srgbClr val="6A0B23"/>
                </a:solidFill>
                <a:latin typeface="Poppins Semi-Bold"/>
                <a:ea typeface="Poppins Semi-Bold"/>
                <a:cs typeface="Poppins Semi-Bold"/>
                <a:sym typeface="Poppins Semi-Bold"/>
              </a:rPr>
              <a:t>[Organization Name]</a:t>
            </a:r>
          </a:p>
        </p:txBody>
      </p:sp>
      <p:sp>
        <p:nvSpPr>
          <p:cNvPr id="43" name="TextBox 43"/>
          <p:cNvSpPr txBox="1"/>
          <p:nvPr/>
        </p:nvSpPr>
        <p:spPr>
          <a:xfrm>
            <a:off x="5282754" y="1591088"/>
            <a:ext cx="1868528" cy="252581"/>
          </a:xfrm>
          <a:prstGeom prst="rect">
            <a:avLst/>
          </a:prstGeom>
        </p:spPr>
        <p:txBody>
          <a:bodyPr lIns="0" tIns="0" rIns="0" bIns="0" rtlCol="0" anchor="t">
            <a:spAutoFit/>
          </a:bodyPr>
          <a:lstStyle/>
          <a:p>
            <a:pPr marL="0" lvl="0" indent="0" algn="l">
              <a:lnSpc>
                <a:spcPts val="1902"/>
              </a:lnSpc>
              <a:spcBef>
                <a:spcPct val="0"/>
              </a:spcBef>
            </a:pPr>
            <a:r>
              <a:rPr lang="en-US" sz="1729" b="1">
                <a:solidFill>
                  <a:srgbClr val="6A0B23"/>
                </a:solidFill>
                <a:latin typeface="Poppins Semi-Bold"/>
                <a:ea typeface="Poppins Semi-Bold"/>
                <a:cs typeface="Poppins Semi-Bold"/>
                <a:sym typeface="Poppins Semi-Bold"/>
              </a:rPr>
              <a:t>KNAV BAS OD</a:t>
            </a:r>
          </a:p>
        </p:txBody>
      </p:sp>
      <p:grpSp>
        <p:nvGrpSpPr>
          <p:cNvPr id="44" name="Group 44"/>
          <p:cNvGrpSpPr/>
          <p:nvPr/>
        </p:nvGrpSpPr>
        <p:grpSpPr>
          <a:xfrm>
            <a:off x="0" y="2510"/>
            <a:ext cx="3717452" cy="10281980"/>
            <a:chOff x="0" y="0"/>
            <a:chExt cx="979560" cy="2709333"/>
          </a:xfrm>
        </p:grpSpPr>
        <p:sp>
          <p:nvSpPr>
            <p:cNvPr id="45" name="Freeform 45"/>
            <p:cNvSpPr/>
            <p:nvPr/>
          </p:nvSpPr>
          <p:spPr>
            <a:xfrm>
              <a:off x="0" y="0"/>
              <a:ext cx="979560" cy="2709333"/>
            </a:xfrm>
            <a:custGeom>
              <a:avLst/>
              <a:gdLst/>
              <a:ahLst/>
              <a:cxnLst/>
              <a:rect l="l" t="t" r="r" b="b"/>
              <a:pathLst>
                <a:path w="979560" h="2709333">
                  <a:moveTo>
                    <a:pt x="0" y="0"/>
                  </a:moveTo>
                  <a:lnTo>
                    <a:pt x="979560" y="0"/>
                  </a:lnTo>
                  <a:lnTo>
                    <a:pt x="979560" y="2709333"/>
                  </a:lnTo>
                  <a:lnTo>
                    <a:pt x="0" y="2709333"/>
                  </a:lnTo>
                  <a:close/>
                </a:path>
              </a:pathLst>
            </a:custGeom>
            <a:solidFill>
              <a:srgbClr val="FFFFFF">
                <a:alpha val="94902"/>
              </a:srgbClr>
            </a:solidFill>
          </p:spPr>
          <p:txBody>
            <a:bodyPr/>
            <a:lstStyle/>
            <a:p>
              <a:endParaRPr lang="en-IN"/>
            </a:p>
          </p:txBody>
        </p:sp>
        <p:sp>
          <p:nvSpPr>
            <p:cNvPr id="46" name="TextBox 46"/>
            <p:cNvSpPr txBox="1"/>
            <p:nvPr/>
          </p:nvSpPr>
          <p:spPr>
            <a:xfrm>
              <a:off x="0" y="9525"/>
              <a:ext cx="979560" cy="2699808"/>
            </a:xfrm>
            <a:prstGeom prst="rect">
              <a:avLst/>
            </a:prstGeom>
          </p:spPr>
          <p:txBody>
            <a:bodyPr lIns="71403" tIns="71403" rIns="71403" bIns="71403" rtlCol="0" anchor="ctr"/>
            <a:lstStyle/>
            <a:p>
              <a:pPr algn="ctr">
                <a:lnSpc>
                  <a:spcPts val="2192"/>
                </a:lnSpc>
              </a:pPr>
              <a:endParaRPr/>
            </a:p>
          </p:txBody>
        </p:sp>
      </p:grpSp>
      <p:sp>
        <p:nvSpPr>
          <p:cNvPr id="47" name="Freeform 47"/>
          <p:cNvSpPr/>
          <p:nvPr/>
        </p:nvSpPr>
        <p:spPr>
          <a:xfrm>
            <a:off x="1028198" y="756740"/>
            <a:ext cx="383803" cy="257148"/>
          </a:xfrm>
          <a:custGeom>
            <a:avLst/>
            <a:gdLst/>
            <a:ahLst/>
            <a:cxnLst/>
            <a:rect l="l" t="t" r="r" b="b"/>
            <a:pathLst>
              <a:path w="383803" h="257148">
                <a:moveTo>
                  <a:pt x="0" y="0"/>
                </a:moveTo>
                <a:lnTo>
                  <a:pt x="383803" y="0"/>
                </a:lnTo>
                <a:lnTo>
                  <a:pt x="383803" y="257148"/>
                </a:lnTo>
                <a:lnTo>
                  <a:pt x="0" y="25714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48" name="AutoShape 48"/>
          <p:cNvSpPr/>
          <p:nvPr/>
        </p:nvSpPr>
        <p:spPr>
          <a:xfrm>
            <a:off x="1157124" y="6430946"/>
            <a:ext cx="2065821" cy="0"/>
          </a:xfrm>
          <a:prstGeom prst="line">
            <a:avLst/>
          </a:prstGeom>
          <a:ln w="9525" cap="flat">
            <a:solidFill>
              <a:srgbClr val="D9D9D9"/>
            </a:solidFill>
            <a:prstDash val="solid"/>
            <a:headEnd type="none" w="sm" len="sm"/>
            <a:tailEnd type="none" w="sm" len="sm"/>
          </a:ln>
        </p:spPr>
        <p:txBody>
          <a:bodyPr/>
          <a:lstStyle/>
          <a:p>
            <a:endParaRPr lang="en-IN"/>
          </a:p>
        </p:txBody>
      </p:sp>
      <p:sp>
        <p:nvSpPr>
          <p:cNvPr id="49" name="AutoShape 49"/>
          <p:cNvSpPr/>
          <p:nvPr/>
        </p:nvSpPr>
        <p:spPr>
          <a:xfrm>
            <a:off x="1157124" y="7111698"/>
            <a:ext cx="2065821" cy="0"/>
          </a:xfrm>
          <a:prstGeom prst="line">
            <a:avLst/>
          </a:prstGeom>
          <a:ln w="9525" cap="flat">
            <a:solidFill>
              <a:srgbClr val="D9D9D9"/>
            </a:solidFill>
            <a:prstDash val="solid"/>
            <a:headEnd type="none" w="sm" len="sm"/>
            <a:tailEnd type="none" w="sm" len="sm"/>
          </a:ln>
        </p:spPr>
        <p:txBody>
          <a:bodyPr/>
          <a:lstStyle/>
          <a:p>
            <a:endParaRPr lang="en-IN"/>
          </a:p>
        </p:txBody>
      </p:sp>
      <p:grpSp>
        <p:nvGrpSpPr>
          <p:cNvPr id="50" name="Group 50"/>
          <p:cNvGrpSpPr/>
          <p:nvPr/>
        </p:nvGrpSpPr>
        <p:grpSpPr>
          <a:xfrm>
            <a:off x="833832" y="1940976"/>
            <a:ext cx="67420" cy="67420"/>
            <a:chOff x="0" y="0"/>
            <a:chExt cx="812800" cy="812800"/>
          </a:xfrm>
        </p:grpSpPr>
        <p:sp>
          <p:nvSpPr>
            <p:cNvPr id="51" name="Freeform 5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8A8A8"/>
            </a:solidFill>
          </p:spPr>
          <p:txBody>
            <a:bodyPr/>
            <a:lstStyle/>
            <a:p>
              <a:endParaRPr lang="en-IN"/>
            </a:p>
          </p:txBody>
        </p:sp>
        <p:sp>
          <p:nvSpPr>
            <p:cNvPr id="52" name="TextBox 52"/>
            <p:cNvSpPr txBox="1"/>
            <p:nvPr/>
          </p:nvSpPr>
          <p:spPr>
            <a:xfrm>
              <a:off x="76200" y="85725"/>
              <a:ext cx="660400" cy="650875"/>
            </a:xfrm>
            <a:prstGeom prst="rect">
              <a:avLst/>
            </a:prstGeom>
          </p:spPr>
          <p:txBody>
            <a:bodyPr lIns="71403" tIns="71403" rIns="71403" bIns="71403" rtlCol="0" anchor="ctr"/>
            <a:lstStyle/>
            <a:p>
              <a:pPr algn="ctr">
                <a:lnSpc>
                  <a:spcPts val="2192"/>
                </a:lnSpc>
              </a:pPr>
              <a:endParaRPr/>
            </a:p>
          </p:txBody>
        </p:sp>
      </p:grpSp>
      <p:grpSp>
        <p:nvGrpSpPr>
          <p:cNvPr id="53" name="Group 53"/>
          <p:cNvGrpSpPr/>
          <p:nvPr/>
        </p:nvGrpSpPr>
        <p:grpSpPr>
          <a:xfrm>
            <a:off x="833832" y="6638460"/>
            <a:ext cx="2676106" cy="267760"/>
            <a:chOff x="0" y="0"/>
            <a:chExt cx="3568142" cy="357013"/>
          </a:xfrm>
        </p:grpSpPr>
        <p:grpSp>
          <p:nvGrpSpPr>
            <p:cNvPr id="54" name="Group 54"/>
            <p:cNvGrpSpPr/>
            <p:nvPr/>
          </p:nvGrpSpPr>
          <p:grpSpPr>
            <a:xfrm>
              <a:off x="0" y="112139"/>
              <a:ext cx="89893" cy="89893"/>
              <a:chOff x="0" y="0"/>
              <a:chExt cx="812800" cy="812800"/>
            </a:xfrm>
          </p:grpSpPr>
          <p:sp>
            <p:nvSpPr>
              <p:cNvPr id="55" name="Freeform 5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8A8A8"/>
              </a:solidFill>
            </p:spPr>
            <p:txBody>
              <a:bodyPr/>
              <a:lstStyle/>
              <a:p>
                <a:endParaRPr lang="en-IN"/>
              </a:p>
            </p:txBody>
          </p:sp>
          <p:sp>
            <p:nvSpPr>
              <p:cNvPr id="56" name="TextBox 56"/>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sp>
          <p:nvSpPr>
            <p:cNvPr id="57" name="TextBox 57"/>
            <p:cNvSpPr txBox="1"/>
            <p:nvPr/>
          </p:nvSpPr>
          <p:spPr>
            <a:xfrm>
              <a:off x="431055" y="9525"/>
              <a:ext cx="3137087" cy="347488"/>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Actionables</a:t>
              </a:r>
            </a:p>
          </p:txBody>
        </p:sp>
      </p:grpSp>
      <p:grpSp>
        <p:nvGrpSpPr>
          <p:cNvPr id="58" name="Group 58"/>
          <p:cNvGrpSpPr/>
          <p:nvPr/>
        </p:nvGrpSpPr>
        <p:grpSpPr>
          <a:xfrm>
            <a:off x="833832" y="7324533"/>
            <a:ext cx="2676106" cy="267760"/>
            <a:chOff x="0" y="0"/>
            <a:chExt cx="3568142" cy="357013"/>
          </a:xfrm>
        </p:grpSpPr>
        <p:grpSp>
          <p:nvGrpSpPr>
            <p:cNvPr id="59" name="Group 59"/>
            <p:cNvGrpSpPr/>
            <p:nvPr/>
          </p:nvGrpSpPr>
          <p:grpSpPr>
            <a:xfrm>
              <a:off x="0" y="149351"/>
              <a:ext cx="89893" cy="89893"/>
              <a:chOff x="0" y="0"/>
              <a:chExt cx="812800" cy="812800"/>
            </a:xfrm>
          </p:grpSpPr>
          <p:sp>
            <p:nvSpPr>
              <p:cNvPr id="60" name="Freeform 6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8A8A8"/>
              </a:solidFill>
            </p:spPr>
            <p:txBody>
              <a:bodyPr/>
              <a:lstStyle/>
              <a:p>
                <a:endParaRPr lang="en-IN"/>
              </a:p>
            </p:txBody>
          </p:sp>
          <p:sp>
            <p:nvSpPr>
              <p:cNvPr id="61" name="TextBox 61"/>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sp>
          <p:nvSpPr>
            <p:cNvPr id="62" name="TextBox 62"/>
            <p:cNvSpPr txBox="1"/>
            <p:nvPr/>
          </p:nvSpPr>
          <p:spPr>
            <a:xfrm>
              <a:off x="431055" y="9525"/>
              <a:ext cx="3137087" cy="347488"/>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Reports</a:t>
              </a:r>
            </a:p>
          </p:txBody>
        </p:sp>
      </p:grpSp>
      <p:grpSp>
        <p:nvGrpSpPr>
          <p:cNvPr id="63" name="Group 63"/>
          <p:cNvGrpSpPr/>
          <p:nvPr/>
        </p:nvGrpSpPr>
        <p:grpSpPr>
          <a:xfrm>
            <a:off x="1157124" y="8754504"/>
            <a:ext cx="2739237" cy="284494"/>
            <a:chOff x="0" y="0"/>
            <a:chExt cx="3652316" cy="379326"/>
          </a:xfrm>
        </p:grpSpPr>
        <p:sp>
          <p:nvSpPr>
            <p:cNvPr id="64" name="Freeform 64"/>
            <p:cNvSpPr/>
            <p:nvPr/>
          </p:nvSpPr>
          <p:spPr>
            <a:xfrm rot="-8100000">
              <a:off x="50279" y="86276"/>
              <a:ext cx="242770" cy="242770"/>
            </a:xfrm>
            <a:custGeom>
              <a:avLst/>
              <a:gdLst/>
              <a:ahLst/>
              <a:cxnLst/>
              <a:rect l="l" t="t" r="r" b="b"/>
              <a:pathLst>
                <a:path w="242770" h="242770">
                  <a:moveTo>
                    <a:pt x="0" y="0"/>
                  </a:moveTo>
                  <a:lnTo>
                    <a:pt x="242770" y="0"/>
                  </a:lnTo>
                  <a:lnTo>
                    <a:pt x="242770" y="242770"/>
                  </a:lnTo>
                  <a:lnTo>
                    <a:pt x="0" y="242770"/>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IN"/>
            </a:p>
          </p:txBody>
        </p:sp>
        <p:sp>
          <p:nvSpPr>
            <p:cNvPr id="65" name="TextBox 65"/>
            <p:cNvSpPr txBox="1"/>
            <p:nvPr/>
          </p:nvSpPr>
          <p:spPr>
            <a:xfrm>
              <a:off x="515229" y="9525"/>
              <a:ext cx="3137087" cy="347488"/>
            </a:xfrm>
            <a:prstGeom prst="rect">
              <a:avLst/>
            </a:prstGeom>
          </p:spPr>
          <p:txBody>
            <a:bodyPr lIns="0" tIns="0" rIns="0" bIns="0" rtlCol="0" anchor="t">
              <a:spAutoFit/>
            </a:bodyPr>
            <a:lstStyle/>
            <a:p>
              <a:pPr algn="l">
                <a:lnSpc>
                  <a:spcPts val="2192"/>
                </a:lnSpc>
              </a:pPr>
              <a:r>
                <a:rPr lang="en-US" sz="1827" b="1">
                  <a:solidFill>
                    <a:srgbClr val="000000"/>
                  </a:solidFill>
                  <a:latin typeface="Open Sans Semi-Bold"/>
                  <a:ea typeface="Open Sans Semi-Bold"/>
                  <a:cs typeface="Open Sans Semi-Bold"/>
                  <a:sym typeface="Open Sans Semi-Bold"/>
                </a:rPr>
                <a:t>Back</a:t>
              </a:r>
            </a:p>
          </p:txBody>
        </p:sp>
      </p:grpSp>
      <p:grpSp>
        <p:nvGrpSpPr>
          <p:cNvPr id="66" name="Group 66"/>
          <p:cNvGrpSpPr/>
          <p:nvPr/>
        </p:nvGrpSpPr>
        <p:grpSpPr>
          <a:xfrm>
            <a:off x="1220100" y="2447030"/>
            <a:ext cx="118319" cy="118319"/>
            <a:chOff x="0" y="0"/>
            <a:chExt cx="31177" cy="31177"/>
          </a:xfrm>
        </p:grpSpPr>
        <p:sp>
          <p:nvSpPr>
            <p:cNvPr id="67" name="Freeform 67"/>
            <p:cNvSpPr/>
            <p:nvPr/>
          </p:nvSpPr>
          <p:spPr>
            <a:xfrm>
              <a:off x="0" y="0"/>
              <a:ext cx="31177" cy="31177"/>
            </a:xfrm>
            <a:custGeom>
              <a:avLst/>
              <a:gdLst/>
              <a:ahLst/>
              <a:cxnLst/>
              <a:rect l="l" t="t" r="r" b="b"/>
              <a:pathLst>
                <a:path w="31177" h="31177">
                  <a:moveTo>
                    <a:pt x="0" y="0"/>
                  </a:moveTo>
                  <a:lnTo>
                    <a:pt x="31177" y="0"/>
                  </a:lnTo>
                  <a:lnTo>
                    <a:pt x="31177" y="31177"/>
                  </a:lnTo>
                  <a:lnTo>
                    <a:pt x="0" y="31177"/>
                  </a:lnTo>
                  <a:close/>
                </a:path>
              </a:pathLst>
            </a:custGeom>
            <a:solidFill>
              <a:srgbClr val="D9D9D9"/>
            </a:solidFill>
          </p:spPr>
          <p:txBody>
            <a:bodyPr/>
            <a:lstStyle/>
            <a:p>
              <a:endParaRPr lang="en-IN"/>
            </a:p>
          </p:txBody>
        </p:sp>
        <p:sp>
          <p:nvSpPr>
            <p:cNvPr id="68" name="TextBox 68"/>
            <p:cNvSpPr txBox="1"/>
            <p:nvPr/>
          </p:nvSpPr>
          <p:spPr>
            <a:xfrm>
              <a:off x="0" y="9525"/>
              <a:ext cx="31177" cy="21652"/>
            </a:xfrm>
            <a:prstGeom prst="rect">
              <a:avLst/>
            </a:prstGeom>
          </p:spPr>
          <p:txBody>
            <a:bodyPr lIns="71403" tIns="71403" rIns="71403" bIns="71403" rtlCol="0" anchor="ctr"/>
            <a:lstStyle/>
            <a:p>
              <a:pPr algn="ctr">
                <a:lnSpc>
                  <a:spcPts val="2192"/>
                </a:lnSpc>
              </a:pPr>
              <a:endParaRPr/>
            </a:p>
          </p:txBody>
        </p:sp>
      </p:grpSp>
      <p:sp>
        <p:nvSpPr>
          <p:cNvPr id="69" name="TextBox 69"/>
          <p:cNvSpPr txBox="1"/>
          <p:nvPr/>
        </p:nvSpPr>
        <p:spPr>
          <a:xfrm>
            <a:off x="1474977" y="2401916"/>
            <a:ext cx="1260730" cy="204683"/>
          </a:xfrm>
          <a:prstGeom prst="rect">
            <a:avLst/>
          </a:prstGeom>
        </p:spPr>
        <p:txBody>
          <a:bodyPr lIns="0" tIns="0" rIns="0" bIns="0" rtlCol="0" anchor="t">
            <a:spAutoFit/>
          </a:bodyPr>
          <a:lstStyle/>
          <a:p>
            <a:pPr algn="l">
              <a:lnSpc>
                <a:spcPts val="1686"/>
              </a:lnSpc>
            </a:pPr>
            <a:r>
              <a:rPr lang="en-US" sz="1405" b="1">
                <a:solidFill>
                  <a:srgbClr val="545454"/>
                </a:solidFill>
                <a:latin typeface="Open Sans Semi-Bold"/>
                <a:ea typeface="Open Sans Semi-Bold"/>
                <a:cs typeface="Open Sans Semi-Bold"/>
                <a:sym typeface="Open Sans Semi-Bold"/>
              </a:rPr>
              <a:t>Category</a:t>
            </a:r>
          </a:p>
        </p:txBody>
      </p:sp>
      <p:grpSp>
        <p:nvGrpSpPr>
          <p:cNvPr id="70" name="Group 70"/>
          <p:cNvGrpSpPr/>
          <p:nvPr/>
        </p:nvGrpSpPr>
        <p:grpSpPr>
          <a:xfrm>
            <a:off x="1220100" y="4299961"/>
            <a:ext cx="118319" cy="118319"/>
            <a:chOff x="0" y="0"/>
            <a:chExt cx="31177" cy="31177"/>
          </a:xfrm>
        </p:grpSpPr>
        <p:sp>
          <p:nvSpPr>
            <p:cNvPr id="71" name="Freeform 71"/>
            <p:cNvSpPr/>
            <p:nvPr/>
          </p:nvSpPr>
          <p:spPr>
            <a:xfrm>
              <a:off x="0" y="0"/>
              <a:ext cx="31177" cy="31177"/>
            </a:xfrm>
            <a:custGeom>
              <a:avLst/>
              <a:gdLst/>
              <a:ahLst/>
              <a:cxnLst/>
              <a:rect l="l" t="t" r="r" b="b"/>
              <a:pathLst>
                <a:path w="31177" h="31177">
                  <a:moveTo>
                    <a:pt x="0" y="0"/>
                  </a:moveTo>
                  <a:lnTo>
                    <a:pt x="31177" y="0"/>
                  </a:lnTo>
                  <a:lnTo>
                    <a:pt x="31177" y="31177"/>
                  </a:lnTo>
                  <a:lnTo>
                    <a:pt x="0" y="31177"/>
                  </a:lnTo>
                  <a:close/>
                </a:path>
              </a:pathLst>
            </a:custGeom>
            <a:solidFill>
              <a:srgbClr val="D9D9D9"/>
            </a:solidFill>
          </p:spPr>
          <p:txBody>
            <a:bodyPr/>
            <a:lstStyle/>
            <a:p>
              <a:endParaRPr lang="en-IN"/>
            </a:p>
          </p:txBody>
        </p:sp>
        <p:sp>
          <p:nvSpPr>
            <p:cNvPr id="72" name="TextBox 72"/>
            <p:cNvSpPr txBox="1"/>
            <p:nvPr/>
          </p:nvSpPr>
          <p:spPr>
            <a:xfrm>
              <a:off x="0" y="9525"/>
              <a:ext cx="31177" cy="21652"/>
            </a:xfrm>
            <a:prstGeom prst="rect">
              <a:avLst/>
            </a:prstGeom>
          </p:spPr>
          <p:txBody>
            <a:bodyPr lIns="71403" tIns="71403" rIns="71403" bIns="71403" rtlCol="0" anchor="ctr"/>
            <a:lstStyle/>
            <a:p>
              <a:pPr algn="ctr">
                <a:lnSpc>
                  <a:spcPts val="2192"/>
                </a:lnSpc>
              </a:pPr>
              <a:endParaRPr/>
            </a:p>
          </p:txBody>
        </p:sp>
      </p:grpSp>
      <p:sp>
        <p:nvSpPr>
          <p:cNvPr id="73" name="TextBox 73"/>
          <p:cNvSpPr txBox="1"/>
          <p:nvPr/>
        </p:nvSpPr>
        <p:spPr>
          <a:xfrm>
            <a:off x="1474977" y="4254847"/>
            <a:ext cx="1260730" cy="204683"/>
          </a:xfrm>
          <a:prstGeom prst="rect">
            <a:avLst/>
          </a:prstGeom>
        </p:spPr>
        <p:txBody>
          <a:bodyPr lIns="0" tIns="0" rIns="0" bIns="0" rtlCol="0" anchor="t">
            <a:spAutoFit/>
          </a:bodyPr>
          <a:lstStyle/>
          <a:p>
            <a:pPr algn="l">
              <a:lnSpc>
                <a:spcPts val="1686"/>
              </a:lnSpc>
            </a:pPr>
            <a:r>
              <a:rPr lang="en-US" sz="1405" b="1">
                <a:solidFill>
                  <a:srgbClr val="545454"/>
                </a:solidFill>
                <a:latin typeface="Open Sans Semi-Bold"/>
                <a:ea typeface="Open Sans Semi-Bold"/>
                <a:cs typeface="Open Sans Semi-Bold"/>
                <a:sym typeface="Open Sans Semi-Bold"/>
              </a:rPr>
              <a:t>Category</a:t>
            </a:r>
          </a:p>
        </p:txBody>
      </p:sp>
      <p:grpSp>
        <p:nvGrpSpPr>
          <p:cNvPr id="74" name="Group 74"/>
          <p:cNvGrpSpPr/>
          <p:nvPr/>
        </p:nvGrpSpPr>
        <p:grpSpPr>
          <a:xfrm>
            <a:off x="1220100" y="2910263"/>
            <a:ext cx="118319" cy="118319"/>
            <a:chOff x="0" y="0"/>
            <a:chExt cx="31177" cy="31177"/>
          </a:xfrm>
        </p:grpSpPr>
        <p:sp>
          <p:nvSpPr>
            <p:cNvPr id="75" name="Freeform 75"/>
            <p:cNvSpPr/>
            <p:nvPr/>
          </p:nvSpPr>
          <p:spPr>
            <a:xfrm>
              <a:off x="0" y="0"/>
              <a:ext cx="31177" cy="31177"/>
            </a:xfrm>
            <a:custGeom>
              <a:avLst/>
              <a:gdLst/>
              <a:ahLst/>
              <a:cxnLst/>
              <a:rect l="l" t="t" r="r" b="b"/>
              <a:pathLst>
                <a:path w="31177" h="31177">
                  <a:moveTo>
                    <a:pt x="0" y="0"/>
                  </a:moveTo>
                  <a:lnTo>
                    <a:pt x="31177" y="0"/>
                  </a:lnTo>
                  <a:lnTo>
                    <a:pt x="31177" y="31177"/>
                  </a:lnTo>
                  <a:lnTo>
                    <a:pt x="0" y="31177"/>
                  </a:lnTo>
                  <a:close/>
                </a:path>
              </a:pathLst>
            </a:custGeom>
            <a:solidFill>
              <a:srgbClr val="D9D9D9"/>
            </a:solidFill>
          </p:spPr>
          <p:txBody>
            <a:bodyPr/>
            <a:lstStyle/>
            <a:p>
              <a:endParaRPr lang="en-IN"/>
            </a:p>
          </p:txBody>
        </p:sp>
        <p:sp>
          <p:nvSpPr>
            <p:cNvPr id="76" name="TextBox 76"/>
            <p:cNvSpPr txBox="1"/>
            <p:nvPr/>
          </p:nvSpPr>
          <p:spPr>
            <a:xfrm>
              <a:off x="0" y="9525"/>
              <a:ext cx="31177" cy="21652"/>
            </a:xfrm>
            <a:prstGeom prst="rect">
              <a:avLst/>
            </a:prstGeom>
          </p:spPr>
          <p:txBody>
            <a:bodyPr lIns="71403" tIns="71403" rIns="71403" bIns="71403" rtlCol="0" anchor="ctr"/>
            <a:lstStyle/>
            <a:p>
              <a:pPr algn="ctr">
                <a:lnSpc>
                  <a:spcPts val="2192"/>
                </a:lnSpc>
              </a:pPr>
              <a:endParaRPr/>
            </a:p>
          </p:txBody>
        </p:sp>
      </p:grpSp>
      <p:sp>
        <p:nvSpPr>
          <p:cNvPr id="77" name="TextBox 77"/>
          <p:cNvSpPr txBox="1"/>
          <p:nvPr/>
        </p:nvSpPr>
        <p:spPr>
          <a:xfrm>
            <a:off x="1474977" y="2865149"/>
            <a:ext cx="1747968" cy="204683"/>
          </a:xfrm>
          <a:prstGeom prst="rect">
            <a:avLst/>
          </a:prstGeom>
        </p:spPr>
        <p:txBody>
          <a:bodyPr lIns="0" tIns="0" rIns="0" bIns="0" rtlCol="0" anchor="t">
            <a:spAutoFit/>
          </a:bodyPr>
          <a:lstStyle/>
          <a:p>
            <a:pPr algn="l">
              <a:lnSpc>
                <a:spcPts val="1686"/>
              </a:lnSpc>
            </a:pPr>
            <a:r>
              <a:rPr lang="en-US" sz="1405" b="1">
                <a:solidFill>
                  <a:srgbClr val="545454"/>
                </a:solidFill>
                <a:latin typeface="Open Sans Semi-Bold"/>
                <a:ea typeface="Open Sans Semi-Bold"/>
                <a:cs typeface="Open Sans Semi-Bold"/>
                <a:sym typeface="Open Sans Semi-Bold"/>
              </a:rPr>
              <a:t>Marketing &amp; Sales</a:t>
            </a:r>
          </a:p>
        </p:txBody>
      </p:sp>
      <p:grpSp>
        <p:nvGrpSpPr>
          <p:cNvPr id="78" name="Group 78"/>
          <p:cNvGrpSpPr/>
          <p:nvPr/>
        </p:nvGrpSpPr>
        <p:grpSpPr>
          <a:xfrm>
            <a:off x="1220100" y="4763194"/>
            <a:ext cx="118319" cy="118319"/>
            <a:chOff x="0" y="0"/>
            <a:chExt cx="31177" cy="31177"/>
          </a:xfrm>
        </p:grpSpPr>
        <p:sp>
          <p:nvSpPr>
            <p:cNvPr id="79" name="Freeform 79"/>
            <p:cNvSpPr/>
            <p:nvPr/>
          </p:nvSpPr>
          <p:spPr>
            <a:xfrm>
              <a:off x="0" y="0"/>
              <a:ext cx="31177" cy="31177"/>
            </a:xfrm>
            <a:custGeom>
              <a:avLst/>
              <a:gdLst/>
              <a:ahLst/>
              <a:cxnLst/>
              <a:rect l="l" t="t" r="r" b="b"/>
              <a:pathLst>
                <a:path w="31177" h="31177">
                  <a:moveTo>
                    <a:pt x="0" y="0"/>
                  </a:moveTo>
                  <a:lnTo>
                    <a:pt x="31177" y="0"/>
                  </a:lnTo>
                  <a:lnTo>
                    <a:pt x="31177" y="31177"/>
                  </a:lnTo>
                  <a:lnTo>
                    <a:pt x="0" y="31177"/>
                  </a:lnTo>
                  <a:close/>
                </a:path>
              </a:pathLst>
            </a:custGeom>
            <a:solidFill>
              <a:srgbClr val="D9D9D9"/>
            </a:solidFill>
          </p:spPr>
          <p:txBody>
            <a:bodyPr/>
            <a:lstStyle/>
            <a:p>
              <a:endParaRPr lang="en-IN"/>
            </a:p>
          </p:txBody>
        </p:sp>
        <p:sp>
          <p:nvSpPr>
            <p:cNvPr id="80" name="TextBox 80"/>
            <p:cNvSpPr txBox="1"/>
            <p:nvPr/>
          </p:nvSpPr>
          <p:spPr>
            <a:xfrm>
              <a:off x="0" y="9525"/>
              <a:ext cx="31177" cy="21652"/>
            </a:xfrm>
            <a:prstGeom prst="rect">
              <a:avLst/>
            </a:prstGeom>
          </p:spPr>
          <p:txBody>
            <a:bodyPr lIns="71403" tIns="71403" rIns="71403" bIns="71403" rtlCol="0" anchor="ctr"/>
            <a:lstStyle/>
            <a:p>
              <a:pPr algn="ctr">
                <a:lnSpc>
                  <a:spcPts val="2192"/>
                </a:lnSpc>
              </a:pPr>
              <a:endParaRPr/>
            </a:p>
          </p:txBody>
        </p:sp>
      </p:grpSp>
      <p:sp>
        <p:nvSpPr>
          <p:cNvPr id="81" name="TextBox 81"/>
          <p:cNvSpPr txBox="1"/>
          <p:nvPr/>
        </p:nvSpPr>
        <p:spPr>
          <a:xfrm>
            <a:off x="1474977" y="4718080"/>
            <a:ext cx="1260730" cy="204683"/>
          </a:xfrm>
          <a:prstGeom prst="rect">
            <a:avLst/>
          </a:prstGeom>
        </p:spPr>
        <p:txBody>
          <a:bodyPr lIns="0" tIns="0" rIns="0" bIns="0" rtlCol="0" anchor="t">
            <a:spAutoFit/>
          </a:bodyPr>
          <a:lstStyle/>
          <a:p>
            <a:pPr algn="l">
              <a:lnSpc>
                <a:spcPts val="1686"/>
              </a:lnSpc>
            </a:pPr>
            <a:r>
              <a:rPr lang="en-US" sz="1405" b="1">
                <a:solidFill>
                  <a:srgbClr val="545454"/>
                </a:solidFill>
                <a:latin typeface="Open Sans Semi-Bold"/>
                <a:ea typeface="Open Sans Semi-Bold"/>
                <a:cs typeface="Open Sans Semi-Bold"/>
                <a:sym typeface="Open Sans Semi-Bold"/>
              </a:rPr>
              <a:t>Category</a:t>
            </a:r>
          </a:p>
        </p:txBody>
      </p:sp>
      <p:grpSp>
        <p:nvGrpSpPr>
          <p:cNvPr id="82" name="Group 82"/>
          <p:cNvGrpSpPr/>
          <p:nvPr/>
        </p:nvGrpSpPr>
        <p:grpSpPr>
          <a:xfrm>
            <a:off x="1220100" y="3373495"/>
            <a:ext cx="118319" cy="118319"/>
            <a:chOff x="0" y="0"/>
            <a:chExt cx="31177" cy="31177"/>
          </a:xfrm>
        </p:grpSpPr>
        <p:sp>
          <p:nvSpPr>
            <p:cNvPr id="83" name="Freeform 83"/>
            <p:cNvSpPr/>
            <p:nvPr/>
          </p:nvSpPr>
          <p:spPr>
            <a:xfrm>
              <a:off x="0" y="0"/>
              <a:ext cx="31177" cy="31177"/>
            </a:xfrm>
            <a:custGeom>
              <a:avLst/>
              <a:gdLst/>
              <a:ahLst/>
              <a:cxnLst/>
              <a:rect l="l" t="t" r="r" b="b"/>
              <a:pathLst>
                <a:path w="31177" h="31177">
                  <a:moveTo>
                    <a:pt x="0" y="0"/>
                  </a:moveTo>
                  <a:lnTo>
                    <a:pt x="31177" y="0"/>
                  </a:lnTo>
                  <a:lnTo>
                    <a:pt x="31177" y="31177"/>
                  </a:lnTo>
                  <a:lnTo>
                    <a:pt x="0" y="31177"/>
                  </a:lnTo>
                  <a:close/>
                </a:path>
              </a:pathLst>
            </a:custGeom>
            <a:solidFill>
              <a:srgbClr val="D9D9D9"/>
            </a:solidFill>
          </p:spPr>
          <p:txBody>
            <a:bodyPr/>
            <a:lstStyle/>
            <a:p>
              <a:endParaRPr lang="en-IN"/>
            </a:p>
          </p:txBody>
        </p:sp>
        <p:sp>
          <p:nvSpPr>
            <p:cNvPr id="84" name="TextBox 84"/>
            <p:cNvSpPr txBox="1"/>
            <p:nvPr/>
          </p:nvSpPr>
          <p:spPr>
            <a:xfrm>
              <a:off x="0" y="9525"/>
              <a:ext cx="31177" cy="21652"/>
            </a:xfrm>
            <a:prstGeom prst="rect">
              <a:avLst/>
            </a:prstGeom>
          </p:spPr>
          <p:txBody>
            <a:bodyPr lIns="71403" tIns="71403" rIns="71403" bIns="71403" rtlCol="0" anchor="ctr"/>
            <a:lstStyle/>
            <a:p>
              <a:pPr algn="ctr">
                <a:lnSpc>
                  <a:spcPts val="2192"/>
                </a:lnSpc>
              </a:pPr>
              <a:endParaRPr/>
            </a:p>
          </p:txBody>
        </p:sp>
      </p:grpSp>
      <p:sp>
        <p:nvSpPr>
          <p:cNvPr id="85" name="TextBox 85"/>
          <p:cNvSpPr txBox="1"/>
          <p:nvPr/>
        </p:nvSpPr>
        <p:spPr>
          <a:xfrm>
            <a:off x="1474977" y="3328382"/>
            <a:ext cx="1260730" cy="204683"/>
          </a:xfrm>
          <a:prstGeom prst="rect">
            <a:avLst/>
          </a:prstGeom>
        </p:spPr>
        <p:txBody>
          <a:bodyPr lIns="0" tIns="0" rIns="0" bIns="0" rtlCol="0" anchor="t">
            <a:spAutoFit/>
          </a:bodyPr>
          <a:lstStyle/>
          <a:p>
            <a:pPr algn="l">
              <a:lnSpc>
                <a:spcPts val="1686"/>
              </a:lnSpc>
            </a:pPr>
            <a:r>
              <a:rPr lang="en-US" sz="1405" b="1">
                <a:solidFill>
                  <a:srgbClr val="545454"/>
                </a:solidFill>
                <a:latin typeface="Open Sans Semi-Bold"/>
                <a:ea typeface="Open Sans Semi-Bold"/>
                <a:cs typeface="Open Sans Semi-Bold"/>
                <a:sym typeface="Open Sans Semi-Bold"/>
              </a:rPr>
              <a:t>Category</a:t>
            </a:r>
          </a:p>
        </p:txBody>
      </p:sp>
      <p:grpSp>
        <p:nvGrpSpPr>
          <p:cNvPr id="86" name="Group 86"/>
          <p:cNvGrpSpPr/>
          <p:nvPr/>
        </p:nvGrpSpPr>
        <p:grpSpPr>
          <a:xfrm>
            <a:off x="1220100" y="5226426"/>
            <a:ext cx="118319" cy="118319"/>
            <a:chOff x="0" y="0"/>
            <a:chExt cx="31177" cy="31177"/>
          </a:xfrm>
        </p:grpSpPr>
        <p:sp>
          <p:nvSpPr>
            <p:cNvPr id="87" name="Freeform 87"/>
            <p:cNvSpPr/>
            <p:nvPr/>
          </p:nvSpPr>
          <p:spPr>
            <a:xfrm>
              <a:off x="0" y="0"/>
              <a:ext cx="31177" cy="31177"/>
            </a:xfrm>
            <a:custGeom>
              <a:avLst/>
              <a:gdLst/>
              <a:ahLst/>
              <a:cxnLst/>
              <a:rect l="l" t="t" r="r" b="b"/>
              <a:pathLst>
                <a:path w="31177" h="31177">
                  <a:moveTo>
                    <a:pt x="0" y="0"/>
                  </a:moveTo>
                  <a:lnTo>
                    <a:pt x="31177" y="0"/>
                  </a:lnTo>
                  <a:lnTo>
                    <a:pt x="31177" y="31177"/>
                  </a:lnTo>
                  <a:lnTo>
                    <a:pt x="0" y="31177"/>
                  </a:lnTo>
                  <a:close/>
                </a:path>
              </a:pathLst>
            </a:custGeom>
            <a:solidFill>
              <a:srgbClr val="D9D9D9"/>
            </a:solidFill>
          </p:spPr>
          <p:txBody>
            <a:bodyPr/>
            <a:lstStyle/>
            <a:p>
              <a:endParaRPr lang="en-IN"/>
            </a:p>
          </p:txBody>
        </p:sp>
        <p:sp>
          <p:nvSpPr>
            <p:cNvPr id="88" name="TextBox 88"/>
            <p:cNvSpPr txBox="1"/>
            <p:nvPr/>
          </p:nvSpPr>
          <p:spPr>
            <a:xfrm>
              <a:off x="0" y="9525"/>
              <a:ext cx="31177" cy="21652"/>
            </a:xfrm>
            <a:prstGeom prst="rect">
              <a:avLst/>
            </a:prstGeom>
          </p:spPr>
          <p:txBody>
            <a:bodyPr lIns="71403" tIns="71403" rIns="71403" bIns="71403" rtlCol="0" anchor="ctr"/>
            <a:lstStyle/>
            <a:p>
              <a:pPr algn="ctr">
                <a:lnSpc>
                  <a:spcPts val="2192"/>
                </a:lnSpc>
              </a:pPr>
              <a:endParaRPr/>
            </a:p>
          </p:txBody>
        </p:sp>
      </p:grpSp>
      <p:sp>
        <p:nvSpPr>
          <p:cNvPr id="89" name="TextBox 89"/>
          <p:cNvSpPr txBox="1"/>
          <p:nvPr/>
        </p:nvSpPr>
        <p:spPr>
          <a:xfrm>
            <a:off x="1474977" y="5181313"/>
            <a:ext cx="1260730" cy="204683"/>
          </a:xfrm>
          <a:prstGeom prst="rect">
            <a:avLst/>
          </a:prstGeom>
        </p:spPr>
        <p:txBody>
          <a:bodyPr lIns="0" tIns="0" rIns="0" bIns="0" rtlCol="0" anchor="t">
            <a:spAutoFit/>
          </a:bodyPr>
          <a:lstStyle/>
          <a:p>
            <a:pPr algn="l">
              <a:lnSpc>
                <a:spcPts val="1686"/>
              </a:lnSpc>
            </a:pPr>
            <a:r>
              <a:rPr lang="en-US" sz="1405" b="1">
                <a:solidFill>
                  <a:srgbClr val="545454"/>
                </a:solidFill>
                <a:latin typeface="Open Sans Semi-Bold"/>
                <a:ea typeface="Open Sans Semi-Bold"/>
                <a:cs typeface="Open Sans Semi-Bold"/>
                <a:sym typeface="Open Sans Semi-Bold"/>
              </a:rPr>
              <a:t>Category</a:t>
            </a:r>
          </a:p>
        </p:txBody>
      </p:sp>
      <p:grpSp>
        <p:nvGrpSpPr>
          <p:cNvPr id="90" name="Group 90"/>
          <p:cNvGrpSpPr/>
          <p:nvPr/>
        </p:nvGrpSpPr>
        <p:grpSpPr>
          <a:xfrm>
            <a:off x="1220100" y="3836728"/>
            <a:ext cx="118319" cy="118319"/>
            <a:chOff x="0" y="0"/>
            <a:chExt cx="31177" cy="31177"/>
          </a:xfrm>
        </p:grpSpPr>
        <p:sp>
          <p:nvSpPr>
            <p:cNvPr id="91" name="Freeform 91"/>
            <p:cNvSpPr/>
            <p:nvPr/>
          </p:nvSpPr>
          <p:spPr>
            <a:xfrm>
              <a:off x="0" y="0"/>
              <a:ext cx="31177" cy="31177"/>
            </a:xfrm>
            <a:custGeom>
              <a:avLst/>
              <a:gdLst/>
              <a:ahLst/>
              <a:cxnLst/>
              <a:rect l="l" t="t" r="r" b="b"/>
              <a:pathLst>
                <a:path w="31177" h="31177">
                  <a:moveTo>
                    <a:pt x="0" y="0"/>
                  </a:moveTo>
                  <a:lnTo>
                    <a:pt x="31177" y="0"/>
                  </a:lnTo>
                  <a:lnTo>
                    <a:pt x="31177" y="31177"/>
                  </a:lnTo>
                  <a:lnTo>
                    <a:pt x="0" y="31177"/>
                  </a:lnTo>
                  <a:close/>
                </a:path>
              </a:pathLst>
            </a:custGeom>
            <a:solidFill>
              <a:srgbClr val="D9D9D9"/>
            </a:solidFill>
          </p:spPr>
          <p:txBody>
            <a:bodyPr/>
            <a:lstStyle/>
            <a:p>
              <a:endParaRPr lang="en-IN"/>
            </a:p>
          </p:txBody>
        </p:sp>
        <p:sp>
          <p:nvSpPr>
            <p:cNvPr id="92" name="TextBox 92"/>
            <p:cNvSpPr txBox="1"/>
            <p:nvPr/>
          </p:nvSpPr>
          <p:spPr>
            <a:xfrm>
              <a:off x="0" y="9525"/>
              <a:ext cx="31177" cy="21652"/>
            </a:xfrm>
            <a:prstGeom prst="rect">
              <a:avLst/>
            </a:prstGeom>
          </p:spPr>
          <p:txBody>
            <a:bodyPr lIns="71403" tIns="71403" rIns="71403" bIns="71403" rtlCol="0" anchor="ctr"/>
            <a:lstStyle/>
            <a:p>
              <a:pPr algn="ctr">
                <a:lnSpc>
                  <a:spcPts val="2192"/>
                </a:lnSpc>
              </a:pPr>
              <a:endParaRPr/>
            </a:p>
          </p:txBody>
        </p:sp>
      </p:grpSp>
      <p:sp>
        <p:nvSpPr>
          <p:cNvPr id="93" name="TextBox 93"/>
          <p:cNvSpPr txBox="1"/>
          <p:nvPr/>
        </p:nvSpPr>
        <p:spPr>
          <a:xfrm>
            <a:off x="1474977" y="3791615"/>
            <a:ext cx="1260730" cy="204683"/>
          </a:xfrm>
          <a:prstGeom prst="rect">
            <a:avLst/>
          </a:prstGeom>
        </p:spPr>
        <p:txBody>
          <a:bodyPr lIns="0" tIns="0" rIns="0" bIns="0" rtlCol="0" anchor="t">
            <a:spAutoFit/>
          </a:bodyPr>
          <a:lstStyle/>
          <a:p>
            <a:pPr algn="l">
              <a:lnSpc>
                <a:spcPts val="1686"/>
              </a:lnSpc>
            </a:pPr>
            <a:r>
              <a:rPr lang="en-US" sz="1405" b="1">
                <a:solidFill>
                  <a:srgbClr val="545454"/>
                </a:solidFill>
                <a:latin typeface="Open Sans Semi-Bold"/>
                <a:ea typeface="Open Sans Semi-Bold"/>
                <a:cs typeface="Open Sans Semi-Bold"/>
                <a:sym typeface="Open Sans Semi-Bold"/>
              </a:rPr>
              <a:t>Category</a:t>
            </a:r>
          </a:p>
        </p:txBody>
      </p:sp>
      <p:grpSp>
        <p:nvGrpSpPr>
          <p:cNvPr id="94" name="Group 94"/>
          <p:cNvGrpSpPr/>
          <p:nvPr/>
        </p:nvGrpSpPr>
        <p:grpSpPr>
          <a:xfrm>
            <a:off x="1220100" y="5689659"/>
            <a:ext cx="118319" cy="118319"/>
            <a:chOff x="0" y="0"/>
            <a:chExt cx="31177" cy="31177"/>
          </a:xfrm>
        </p:grpSpPr>
        <p:sp>
          <p:nvSpPr>
            <p:cNvPr id="95" name="Freeform 95"/>
            <p:cNvSpPr/>
            <p:nvPr/>
          </p:nvSpPr>
          <p:spPr>
            <a:xfrm>
              <a:off x="0" y="0"/>
              <a:ext cx="31177" cy="31177"/>
            </a:xfrm>
            <a:custGeom>
              <a:avLst/>
              <a:gdLst/>
              <a:ahLst/>
              <a:cxnLst/>
              <a:rect l="l" t="t" r="r" b="b"/>
              <a:pathLst>
                <a:path w="31177" h="31177">
                  <a:moveTo>
                    <a:pt x="0" y="0"/>
                  </a:moveTo>
                  <a:lnTo>
                    <a:pt x="31177" y="0"/>
                  </a:lnTo>
                  <a:lnTo>
                    <a:pt x="31177" y="31177"/>
                  </a:lnTo>
                  <a:lnTo>
                    <a:pt x="0" y="31177"/>
                  </a:lnTo>
                  <a:close/>
                </a:path>
              </a:pathLst>
            </a:custGeom>
            <a:solidFill>
              <a:srgbClr val="D9D9D9"/>
            </a:solidFill>
          </p:spPr>
          <p:txBody>
            <a:bodyPr/>
            <a:lstStyle/>
            <a:p>
              <a:endParaRPr lang="en-IN"/>
            </a:p>
          </p:txBody>
        </p:sp>
        <p:sp>
          <p:nvSpPr>
            <p:cNvPr id="96" name="TextBox 96"/>
            <p:cNvSpPr txBox="1"/>
            <p:nvPr/>
          </p:nvSpPr>
          <p:spPr>
            <a:xfrm>
              <a:off x="0" y="9525"/>
              <a:ext cx="31177" cy="21652"/>
            </a:xfrm>
            <a:prstGeom prst="rect">
              <a:avLst/>
            </a:prstGeom>
          </p:spPr>
          <p:txBody>
            <a:bodyPr lIns="71403" tIns="71403" rIns="71403" bIns="71403" rtlCol="0" anchor="ctr"/>
            <a:lstStyle/>
            <a:p>
              <a:pPr algn="ctr">
                <a:lnSpc>
                  <a:spcPts val="2192"/>
                </a:lnSpc>
              </a:pPr>
              <a:endParaRPr/>
            </a:p>
          </p:txBody>
        </p:sp>
      </p:grpSp>
      <p:sp>
        <p:nvSpPr>
          <p:cNvPr id="97" name="TextBox 97"/>
          <p:cNvSpPr txBox="1"/>
          <p:nvPr/>
        </p:nvSpPr>
        <p:spPr>
          <a:xfrm>
            <a:off x="1474977" y="5644546"/>
            <a:ext cx="1260730" cy="204683"/>
          </a:xfrm>
          <a:prstGeom prst="rect">
            <a:avLst/>
          </a:prstGeom>
        </p:spPr>
        <p:txBody>
          <a:bodyPr lIns="0" tIns="0" rIns="0" bIns="0" rtlCol="0" anchor="t">
            <a:spAutoFit/>
          </a:bodyPr>
          <a:lstStyle/>
          <a:p>
            <a:pPr algn="l">
              <a:lnSpc>
                <a:spcPts val="1686"/>
              </a:lnSpc>
            </a:pPr>
            <a:r>
              <a:rPr lang="en-US" sz="1405" b="1">
                <a:solidFill>
                  <a:srgbClr val="545454"/>
                </a:solidFill>
                <a:latin typeface="Open Sans Semi-Bold"/>
                <a:ea typeface="Open Sans Semi-Bold"/>
                <a:cs typeface="Open Sans Semi-Bold"/>
                <a:sym typeface="Open Sans Semi-Bold"/>
              </a:rPr>
              <a:t>Category</a:t>
            </a:r>
          </a:p>
        </p:txBody>
      </p:sp>
      <p:sp>
        <p:nvSpPr>
          <p:cNvPr id="98" name="TextBox 98"/>
          <p:cNvSpPr txBox="1"/>
          <p:nvPr/>
        </p:nvSpPr>
        <p:spPr>
          <a:xfrm>
            <a:off x="13738882" y="746525"/>
            <a:ext cx="1461592" cy="277578"/>
          </a:xfrm>
          <a:prstGeom prst="rect">
            <a:avLst/>
          </a:prstGeom>
        </p:spPr>
        <p:txBody>
          <a:bodyPr lIns="0" tIns="0" rIns="0" bIns="0" rtlCol="0" anchor="t">
            <a:spAutoFit/>
          </a:bodyPr>
          <a:lstStyle/>
          <a:p>
            <a:pPr marL="0" lvl="0" indent="0" algn="r">
              <a:lnSpc>
                <a:spcPts val="2009"/>
              </a:lnSpc>
              <a:spcBef>
                <a:spcPct val="0"/>
              </a:spcBef>
            </a:pPr>
            <a:r>
              <a:rPr lang="en-US" sz="1827" b="1">
                <a:solidFill>
                  <a:srgbClr val="6A0B23"/>
                </a:solidFill>
                <a:latin typeface="Poppins Bold"/>
                <a:ea typeface="Poppins Bold"/>
                <a:cs typeface="Poppins Bold"/>
                <a:sym typeface="Poppins Bold"/>
              </a:rPr>
              <a:t>Logout</a:t>
            </a:r>
          </a:p>
        </p:txBody>
      </p:sp>
      <p:sp>
        <p:nvSpPr>
          <p:cNvPr id="99" name="TextBox 99"/>
          <p:cNvSpPr txBox="1"/>
          <p:nvPr/>
        </p:nvSpPr>
        <p:spPr>
          <a:xfrm>
            <a:off x="14637974" y="746525"/>
            <a:ext cx="1461592" cy="277578"/>
          </a:xfrm>
          <a:prstGeom prst="rect">
            <a:avLst/>
          </a:prstGeom>
        </p:spPr>
        <p:txBody>
          <a:bodyPr lIns="0" tIns="0" rIns="0" bIns="0" rtlCol="0" anchor="t">
            <a:spAutoFit/>
          </a:bodyPr>
          <a:lstStyle/>
          <a:p>
            <a:pPr marL="0" lvl="0" indent="0" algn="r">
              <a:lnSpc>
                <a:spcPts val="2009"/>
              </a:lnSpc>
              <a:spcBef>
                <a:spcPct val="0"/>
              </a:spcBef>
            </a:pPr>
            <a:r>
              <a:rPr lang="en-US" sz="1827">
                <a:solidFill>
                  <a:srgbClr val="6A0B23"/>
                </a:solidFill>
                <a:latin typeface="Poppins"/>
                <a:ea typeface="Poppins"/>
                <a:cs typeface="Poppins"/>
                <a:sym typeface="Poppins"/>
              </a:rPr>
              <a:t>Home</a:t>
            </a:r>
          </a:p>
        </p:txBody>
      </p:sp>
      <p:sp>
        <p:nvSpPr>
          <p:cNvPr id="100" name="TextBox 100"/>
          <p:cNvSpPr txBox="1"/>
          <p:nvPr/>
        </p:nvSpPr>
        <p:spPr>
          <a:xfrm>
            <a:off x="1157124" y="1866397"/>
            <a:ext cx="2352815" cy="258235"/>
          </a:xfrm>
          <a:prstGeom prst="rect">
            <a:avLst/>
          </a:prstGeom>
        </p:spPr>
        <p:txBody>
          <a:bodyPr lIns="0" tIns="0" rIns="0" bIns="0" rtlCol="0" anchor="t">
            <a:spAutoFit/>
          </a:bodyPr>
          <a:lstStyle/>
          <a:p>
            <a:pPr algn="l">
              <a:lnSpc>
                <a:spcPts val="2192"/>
              </a:lnSpc>
            </a:pPr>
            <a:r>
              <a:rPr lang="en-US" sz="1827" b="1">
                <a:solidFill>
                  <a:srgbClr val="6A0B23"/>
                </a:solidFill>
                <a:latin typeface="Open Sans Semi-Bold"/>
                <a:ea typeface="Open Sans Semi-Bold"/>
                <a:cs typeface="Open Sans Semi-Bold"/>
                <a:sym typeface="Open Sans Semi-Bold"/>
              </a:rPr>
              <a:t>Unlock Value</a:t>
            </a:r>
          </a:p>
        </p:txBody>
      </p:sp>
      <p:sp>
        <p:nvSpPr>
          <p:cNvPr id="101" name="Freeform 101"/>
          <p:cNvSpPr/>
          <p:nvPr/>
        </p:nvSpPr>
        <p:spPr>
          <a:xfrm>
            <a:off x="1248646" y="2903298"/>
            <a:ext cx="104434" cy="100126"/>
          </a:xfrm>
          <a:custGeom>
            <a:avLst/>
            <a:gdLst/>
            <a:ahLst/>
            <a:cxnLst/>
            <a:rect l="l" t="t" r="r" b="b"/>
            <a:pathLst>
              <a:path w="104434" h="100126">
                <a:moveTo>
                  <a:pt x="0" y="0"/>
                </a:moveTo>
                <a:lnTo>
                  <a:pt x="104434" y="0"/>
                </a:lnTo>
                <a:lnTo>
                  <a:pt x="104434" y="100126"/>
                </a:lnTo>
                <a:lnTo>
                  <a:pt x="0" y="10012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a:off x="16286999" y="705692"/>
            <a:ext cx="377655" cy="359245"/>
          </a:xfrm>
          <a:custGeom>
            <a:avLst/>
            <a:gdLst/>
            <a:ahLst/>
            <a:cxnLst/>
            <a:rect l="l" t="t" r="r" b="b"/>
            <a:pathLst>
              <a:path w="377655" h="359245">
                <a:moveTo>
                  <a:pt x="0" y="0"/>
                </a:moveTo>
                <a:lnTo>
                  <a:pt x="377655" y="0"/>
                </a:lnTo>
                <a:lnTo>
                  <a:pt x="377655" y="359244"/>
                </a:lnTo>
                <a:lnTo>
                  <a:pt x="0" y="3592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6849489" y="705692"/>
            <a:ext cx="359245" cy="359245"/>
          </a:xfrm>
          <a:custGeom>
            <a:avLst/>
            <a:gdLst/>
            <a:ahLst/>
            <a:cxnLst/>
            <a:rect l="l" t="t" r="r" b="b"/>
            <a:pathLst>
              <a:path w="359245" h="359245">
                <a:moveTo>
                  <a:pt x="0" y="0"/>
                </a:moveTo>
                <a:lnTo>
                  <a:pt x="359245" y="0"/>
                </a:lnTo>
                <a:lnTo>
                  <a:pt x="359245" y="359244"/>
                </a:lnTo>
                <a:lnTo>
                  <a:pt x="0" y="3592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a:off x="1412001" y="2411361"/>
            <a:ext cx="15437484" cy="6513502"/>
          </a:xfrm>
          <a:prstGeom prst="roundRect">
            <a:avLst>
              <a:gd name="adj" fmla="val 2196"/>
            </a:avLst>
          </a:prstGeom>
          <a:solidFill>
            <a:srgbClr val="FFFFFF"/>
          </a:solidFill>
        </p:spPr>
        <p:txBody>
          <a:bodyPr/>
          <a:lstStyle/>
          <a:p>
            <a:endParaRPr lang="en-IN"/>
          </a:p>
        </p:txBody>
      </p:sp>
      <p:sp>
        <p:nvSpPr>
          <p:cNvPr id="6" name="TextBox 6"/>
          <p:cNvSpPr txBox="1"/>
          <p:nvPr/>
        </p:nvSpPr>
        <p:spPr>
          <a:xfrm>
            <a:off x="1412001" y="2447509"/>
            <a:ext cx="15437488" cy="6477354"/>
          </a:xfrm>
          <a:prstGeom prst="rect">
            <a:avLst/>
          </a:prstGeom>
        </p:spPr>
        <p:txBody>
          <a:bodyPr lIns="71403" tIns="71403" rIns="71403" bIns="71403" rtlCol="0" anchor="ctr"/>
          <a:lstStyle/>
          <a:p>
            <a:pPr algn="ctr">
              <a:lnSpc>
                <a:spcPts val="2192"/>
              </a:lnSpc>
            </a:pPr>
            <a:endParaRPr/>
          </a:p>
        </p:txBody>
      </p:sp>
      <p:grpSp>
        <p:nvGrpSpPr>
          <p:cNvPr id="7" name="Group 7"/>
          <p:cNvGrpSpPr/>
          <p:nvPr/>
        </p:nvGrpSpPr>
        <p:grpSpPr>
          <a:xfrm>
            <a:off x="1936401" y="3611579"/>
            <a:ext cx="13628173" cy="271330"/>
            <a:chOff x="0" y="0"/>
            <a:chExt cx="18170897" cy="361773"/>
          </a:xfrm>
        </p:grpSpPr>
        <p:grpSp>
          <p:nvGrpSpPr>
            <p:cNvPr id="8" name="Group 8"/>
            <p:cNvGrpSpPr/>
            <p:nvPr/>
          </p:nvGrpSpPr>
          <p:grpSpPr>
            <a:xfrm>
              <a:off x="16711036" y="0"/>
              <a:ext cx="310440" cy="31044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txBody>
              <a:bodyPr/>
              <a:lstStyle/>
              <a:p>
                <a:endParaRPr lang="en-IN"/>
              </a:p>
            </p:txBody>
          </p:sp>
          <p:sp>
            <p:nvSpPr>
              <p:cNvPr id="10" name="TextBox 10"/>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grpSp>
          <p:nvGrpSpPr>
            <p:cNvPr id="11" name="Group 11"/>
            <p:cNvGrpSpPr/>
            <p:nvPr/>
          </p:nvGrpSpPr>
          <p:grpSpPr>
            <a:xfrm>
              <a:off x="17282257" y="0"/>
              <a:ext cx="310440" cy="31044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txBody>
              <a:bodyPr/>
              <a:lstStyle/>
              <a:p>
                <a:endParaRPr lang="en-IN"/>
              </a:p>
            </p:txBody>
          </p:sp>
          <p:sp>
            <p:nvSpPr>
              <p:cNvPr id="13" name="TextBox 13"/>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grpSp>
          <p:nvGrpSpPr>
            <p:cNvPr id="14" name="Group 14"/>
            <p:cNvGrpSpPr/>
            <p:nvPr/>
          </p:nvGrpSpPr>
          <p:grpSpPr>
            <a:xfrm>
              <a:off x="17860457" y="0"/>
              <a:ext cx="310440" cy="31044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txBody>
              <a:bodyPr/>
              <a:lstStyle/>
              <a:p>
                <a:endParaRPr lang="en-IN"/>
              </a:p>
            </p:txBody>
          </p:sp>
          <p:sp>
            <p:nvSpPr>
              <p:cNvPr id="16" name="TextBox 16"/>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sp>
          <p:nvSpPr>
            <p:cNvPr id="17" name="TextBox 17"/>
            <p:cNvSpPr txBox="1"/>
            <p:nvPr/>
          </p:nvSpPr>
          <p:spPr>
            <a:xfrm>
              <a:off x="0" y="-9525"/>
              <a:ext cx="282800" cy="371298"/>
            </a:xfrm>
            <a:prstGeom prst="rect">
              <a:avLst/>
            </a:prstGeom>
          </p:spPr>
          <p:txBody>
            <a:bodyPr lIns="0" tIns="0" rIns="0" bIns="0" rtlCol="0" anchor="t">
              <a:spAutoFit/>
            </a:bodyPr>
            <a:lstStyle/>
            <a:p>
              <a:pPr algn="l">
                <a:lnSpc>
                  <a:spcPts val="2375"/>
                </a:lnSpc>
              </a:pPr>
              <a:r>
                <a:rPr lang="en-US" sz="1827">
                  <a:solidFill>
                    <a:srgbClr val="545454"/>
                  </a:solidFill>
                  <a:latin typeface="Open Sans"/>
                  <a:ea typeface="Open Sans"/>
                  <a:cs typeface="Open Sans"/>
                  <a:sym typeface="Open Sans"/>
                </a:rPr>
                <a:t>1</a:t>
              </a:r>
            </a:p>
          </p:txBody>
        </p:sp>
        <p:sp>
          <p:nvSpPr>
            <p:cNvPr id="18" name="TextBox 18"/>
            <p:cNvSpPr txBox="1"/>
            <p:nvPr/>
          </p:nvSpPr>
          <p:spPr>
            <a:xfrm>
              <a:off x="1511176" y="-19050"/>
              <a:ext cx="6697143" cy="332031"/>
            </a:xfrm>
            <a:prstGeom prst="rect">
              <a:avLst/>
            </a:prstGeom>
          </p:spPr>
          <p:txBody>
            <a:bodyPr lIns="0" tIns="0" rIns="0" bIns="0" rtlCol="0" anchor="t">
              <a:spAutoFit/>
            </a:bodyPr>
            <a:lstStyle/>
            <a:p>
              <a:pPr algn="l">
                <a:lnSpc>
                  <a:spcPts val="2010"/>
                </a:lnSpc>
              </a:pPr>
              <a:r>
                <a:rPr lang="en-US" sz="1546">
                  <a:solidFill>
                    <a:srgbClr val="545454"/>
                  </a:solidFill>
                  <a:latin typeface="Open Sans"/>
                  <a:ea typeface="Open Sans"/>
                  <a:cs typeface="Open Sans"/>
                  <a:sym typeface="Open Sans"/>
                </a:rPr>
                <a:t>Focus on most profitable products and services</a:t>
              </a:r>
            </a:p>
          </p:txBody>
        </p:sp>
        <p:sp>
          <p:nvSpPr>
            <p:cNvPr id="19" name="TextBox 19"/>
            <p:cNvSpPr txBox="1"/>
            <p:nvPr/>
          </p:nvSpPr>
          <p:spPr>
            <a:xfrm>
              <a:off x="9436694" y="-19050"/>
              <a:ext cx="5868471" cy="332031"/>
            </a:xfrm>
            <a:prstGeom prst="rect">
              <a:avLst/>
            </a:prstGeom>
          </p:spPr>
          <p:txBody>
            <a:bodyPr lIns="0" tIns="0" rIns="0" bIns="0" rtlCol="0" anchor="t">
              <a:spAutoFit/>
            </a:bodyPr>
            <a:lstStyle/>
            <a:p>
              <a:pPr algn="l">
                <a:lnSpc>
                  <a:spcPts val="2010"/>
                </a:lnSpc>
              </a:pPr>
              <a:r>
                <a:rPr lang="en-US" sz="1546">
                  <a:solidFill>
                    <a:srgbClr val="545454"/>
                  </a:solidFill>
                  <a:latin typeface="Open Sans"/>
                  <a:ea typeface="Open Sans"/>
                  <a:cs typeface="Open Sans"/>
                  <a:sym typeface="Open Sans"/>
                </a:rPr>
                <a:t>Customer Strategy, relationships &amp; Interactions</a:t>
              </a:r>
            </a:p>
          </p:txBody>
        </p:sp>
      </p:grpSp>
      <p:grpSp>
        <p:nvGrpSpPr>
          <p:cNvPr id="20" name="Group 20"/>
          <p:cNvGrpSpPr/>
          <p:nvPr/>
        </p:nvGrpSpPr>
        <p:grpSpPr>
          <a:xfrm>
            <a:off x="1936401" y="4427017"/>
            <a:ext cx="13628173" cy="271330"/>
            <a:chOff x="0" y="0"/>
            <a:chExt cx="18170897" cy="361773"/>
          </a:xfrm>
        </p:grpSpPr>
        <p:grpSp>
          <p:nvGrpSpPr>
            <p:cNvPr id="21" name="Group 21"/>
            <p:cNvGrpSpPr/>
            <p:nvPr/>
          </p:nvGrpSpPr>
          <p:grpSpPr>
            <a:xfrm>
              <a:off x="16711036" y="0"/>
              <a:ext cx="310440" cy="310440"/>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txBody>
              <a:bodyPr/>
              <a:lstStyle/>
              <a:p>
                <a:endParaRPr lang="en-IN"/>
              </a:p>
            </p:txBody>
          </p:sp>
          <p:sp>
            <p:nvSpPr>
              <p:cNvPr id="23" name="TextBox 23"/>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grpSp>
          <p:nvGrpSpPr>
            <p:cNvPr id="24" name="Group 24"/>
            <p:cNvGrpSpPr/>
            <p:nvPr/>
          </p:nvGrpSpPr>
          <p:grpSpPr>
            <a:xfrm>
              <a:off x="17282257" y="0"/>
              <a:ext cx="310440" cy="310440"/>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txBody>
              <a:bodyPr/>
              <a:lstStyle/>
              <a:p>
                <a:endParaRPr lang="en-IN"/>
              </a:p>
            </p:txBody>
          </p:sp>
          <p:sp>
            <p:nvSpPr>
              <p:cNvPr id="26" name="TextBox 26"/>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grpSp>
          <p:nvGrpSpPr>
            <p:cNvPr id="27" name="Group 27"/>
            <p:cNvGrpSpPr/>
            <p:nvPr/>
          </p:nvGrpSpPr>
          <p:grpSpPr>
            <a:xfrm>
              <a:off x="17860457" y="0"/>
              <a:ext cx="310440" cy="310440"/>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txBody>
              <a:bodyPr/>
              <a:lstStyle/>
              <a:p>
                <a:endParaRPr lang="en-IN"/>
              </a:p>
            </p:txBody>
          </p:sp>
          <p:sp>
            <p:nvSpPr>
              <p:cNvPr id="29" name="TextBox 29"/>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sp>
          <p:nvSpPr>
            <p:cNvPr id="30" name="TextBox 30"/>
            <p:cNvSpPr txBox="1"/>
            <p:nvPr/>
          </p:nvSpPr>
          <p:spPr>
            <a:xfrm>
              <a:off x="0" y="-9525"/>
              <a:ext cx="282800" cy="371298"/>
            </a:xfrm>
            <a:prstGeom prst="rect">
              <a:avLst/>
            </a:prstGeom>
          </p:spPr>
          <p:txBody>
            <a:bodyPr lIns="0" tIns="0" rIns="0" bIns="0" rtlCol="0" anchor="t">
              <a:spAutoFit/>
            </a:bodyPr>
            <a:lstStyle/>
            <a:p>
              <a:pPr algn="l">
                <a:lnSpc>
                  <a:spcPts val="2375"/>
                </a:lnSpc>
              </a:pPr>
              <a:r>
                <a:rPr lang="en-US" sz="1827">
                  <a:solidFill>
                    <a:srgbClr val="545454"/>
                  </a:solidFill>
                  <a:latin typeface="Open Sans"/>
                  <a:ea typeface="Open Sans"/>
                  <a:cs typeface="Open Sans"/>
                  <a:sym typeface="Open Sans"/>
                </a:rPr>
                <a:t>2</a:t>
              </a:r>
            </a:p>
          </p:txBody>
        </p:sp>
        <p:sp>
          <p:nvSpPr>
            <p:cNvPr id="31" name="TextBox 31"/>
            <p:cNvSpPr txBox="1"/>
            <p:nvPr/>
          </p:nvSpPr>
          <p:spPr>
            <a:xfrm>
              <a:off x="1511176" y="-19050"/>
              <a:ext cx="6697143" cy="332031"/>
            </a:xfrm>
            <a:prstGeom prst="rect">
              <a:avLst/>
            </a:prstGeom>
          </p:spPr>
          <p:txBody>
            <a:bodyPr lIns="0" tIns="0" rIns="0" bIns="0" rtlCol="0" anchor="t">
              <a:spAutoFit/>
            </a:bodyPr>
            <a:lstStyle/>
            <a:p>
              <a:pPr algn="l">
                <a:lnSpc>
                  <a:spcPts val="2010"/>
                </a:lnSpc>
              </a:pPr>
              <a:r>
                <a:rPr lang="en-US" sz="1546">
                  <a:solidFill>
                    <a:srgbClr val="545454"/>
                  </a:solidFill>
                  <a:latin typeface="Open Sans"/>
                  <a:ea typeface="Open Sans"/>
                  <a:cs typeface="Open Sans"/>
                  <a:sym typeface="Open Sans"/>
                </a:rPr>
                <a:t>Focus on most effective sales &amp; advertising channels</a:t>
              </a:r>
            </a:p>
          </p:txBody>
        </p:sp>
        <p:sp>
          <p:nvSpPr>
            <p:cNvPr id="32" name="TextBox 32"/>
            <p:cNvSpPr txBox="1"/>
            <p:nvPr/>
          </p:nvSpPr>
          <p:spPr>
            <a:xfrm>
              <a:off x="9436694" y="-19050"/>
              <a:ext cx="5868471" cy="332031"/>
            </a:xfrm>
            <a:prstGeom prst="rect">
              <a:avLst/>
            </a:prstGeom>
          </p:spPr>
          <p:txBody>
            <a:bodyPr lIns="0" tIns="0" rIns="0" bIns="0" rtlCol="0" anchor="t">
              <a:spAutoFit/>
            </a:bodyPr>
            <a:lstStyle/>
            <a:p>
              <a:pPr algn="l">
                <a:lnSpc>
                  <a:spcPts val="2010"/>
                </a:lnSpc>
              </a:pPr>
              <a:r>
                <a:rPr lang="en-US" sz="1546">
                  <a:solidFill>
                    <a:srgbClr val="545454"/>
                  </a:solidFill>
                  <a:latin typeface="Open Sans"/>
                  <a:ea typeface="Open Sans"/>
                  <a:cs typeface="Open Sans"/>
                  <a:sym typeface="Open Sans"/>
                </a:rPr>
                <a:t>Customer Strategy, relationships &amp; Interactions</a:t>
              </a:r>
            </a:p>
          </p:txBody>
        </p:sp>
      </p:grpSp>
      <p:grpSp>
        <p:nvGrpSpPr>
          <p:cNvPr id="33" name="Group 33"/>
          <p:cNvGrpSpPr/>
          <p:nvPr/>
        </p:nvGrpSpPr>
        <p:grpSpPr>
          <a:xfrm>
            <a:off x="1936401" y="5242455"/>
            <a:ext cx="13628173" cy="271330"/>
            <a:chOff x="0" y="0"/>
            <a:chExt cx="18170897" cy="361773"/>
          </a:xfrm>
        </p:grpSpPr>
        <p:grpSp>
          <p:nvGrpSpPr>
            <p:cNvPr id="34" name="Group 34"/>
            <p:cNvGrpSpPr/>
            <p:nvPr/>
          </p:nvGrpSpPr>
          <p:grpSpPr>
            <a:xfrm>
              <a:off x="16711036" y="0"/>
              <a:ext cx="310440" cy="310440"/>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txBody>
              <a:bodyPr/>
              <a:lstStyle/>
              <a:p>
                <a:endParaRPr lang="en-IN"/>
              </a:p>
            </p:txBody>
          </p:sp>
          <p:sp>
            <p:nvSpPr>
              <p:cNvPr id="36" name="TextBox 36"/>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grpSp>
          <p:nvGrpSpPr>
            <p:cNvPr id="37" name="Group 37"/>
            <p:cNvGrpSpPr/>
            <p:nvPr/>
          </p:nvGrpSpPr>
          <p:grpSpPr>
            <a:xfrm>
              <a:off x="17282257" y="0"/>
              <a:ext cx="310440" cy="310440"/>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txBody>
              <a:bodyPr/>
              <a:lstStyle/>
              <a:p>
                <a:endParaRPr lang="en-IN"/>
              </a:p>
            </p:txBody>
          </p:sp>
          <p:sp>
            <p:nvSpPr>
              <p:cNvPr id="39" name="TextBox 39"/>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grpSp>
          <p:nvGrpSpPr>
            <p:cNvPr id="40" name="Group 40"/>
            <p:cNvGrpSpPr/>
            <p:nvPr/>
          </p:nvGrpSpPr>
          <p:grpSpPr>
            <a:xfrm>
              <a:off x="17860457" y="0"/>
              <a:ext cx="310440" cy="310440"/>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txBody>
              <a:bodyPr/>
              <a:lstStyle/>
              <a:p>
                <a:endParaRPr lang="en-IN"/>
              </a:p>
            </p:txBody>
          </p:sp>
          <p:sp>
            <p:nvSpPr>
              <p:cNvPr id="42" name="TextBox 42"/>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sp>
          <p:nvSpPr>
            <p:cNvPr id="43" name="TextBox 43"/>
            <p:cNvSpPr txBox="1"/>
            <p:nvPr/>
          </p:nvSpPr>
          <p:spPr>
            <a:xfrm>
              <a:off x="0" y="-9525"/>
              <a:ext cx="282800" cy="371298"/>
            </a:xfrm>
            <a:prstGeom prst="rect">
              <a:avLst/>
            </a:prstGeom>
          </p:spPr>
          <p:txBody>
            <a:bodyPr lIns="0" tIns="0" rIns="0" bIns="0" rtlCol="0" anchor="t">
              <a:spAutoFit/>
            </a:bodyPr>
            <a:lstStyle/>
            <a:p>
              <a:pPr algn="l">
                <a:lnSpc>
                  <a:spcPts val="2375"/>
                </a:lnSpc>
              </a:pPr>
              <a:r>
                <a:rPr lang="en-US" sz="1827">
                  <a:solidFill>
                    <a:srgbClr val="545454"/>
                  </a:solidFill>
                  <a:latin typeface="Open Sans"/>
                  <a:ea typeface="Open Sans"/>
                  <a:cs typeface="Open Sans"/>
                  <a:sym typeface="Open Sans"/>
                </a:rPr>
                <a:t>3</a:t>
              </a:r>
            </a:p>
          </p:txBody>
        </p:sp>
        <p:sp>
          <p:nvSpPr>
            <p:cNvPr id="44" name="TextBox 44"/>
            <p:cNvSpPr txBox="1"/>
            <p:nvPr/>
          </p:nvSpPr>
          <p:spPr>
            <a:xfrm>
              <a:off x="1511176" y="-19050"/>
              <a:ext cx="6697143" cy="332031"/>
            </a:xfrm>
            <a:prstGeom prst="rect">
              <a:avLst/>
            </a:prstGeom>
          </p:spPr>
          <p:txBody>
            <a:bodyPr lIns="0" tIns="0" rIns="0" bIns="0" rtlCol="0" anchor="t">
              <a:spAutoFit/>
            </a:bodyPr>
            <a:lstStyle/>
            <a:p>
              <a:pPr algn="l">
                <a:lnSpc>
                  <a:spcPts val="2010"/>
                </a:lnSpc>
              </a:pPr>
              <a:r>
                <a:rPr lang="en-US" sz="1546">
                  <a:solidFill>
                    <a:srgbClr val="545454"/>
                  </a:solidFill>
                  <a:latin typeface="Open Sans"/>
                  <a:ea typeface="Open Sans"/>
                  <a:cs typeface="Open Sans"/>
                  <a:sym typeface="Open Sans"/>
                </a:rPr>
                <a:t>Target new geographies</a:t>
              </a:r>
            </a:p>
          </p:txBody>
        </p:sp>
        <p:sp>
          <p:nvSpPr>
            <p:cNvPr id="45" name="TextBox 45"/>
            <p:cNvSpPr txBox="1"/>
            <p:nvPr/>
          </p:nvSpPr>
          <p:spPr>
            <a:xfrm>
              <a:off x="9436694" y="-19050"/>
              <a:ext cx="5868471" cy="332031"/>
            </a:xfrm>
            <a:prstGeom prst="rect">
              <a:avLst/>
            </a:prstGeom>
          </p:spPr>
          <p:txBody>
            <a:bodyPr lIns="0" tIns="0" rIns="0" bIns="0" rtlCol="0" anchor="t">
              <a:spAutoFit/>
            </a:bodyPr>
            <a:lstStyle/>
            <a:p>
              <a:pPr algn="l">
                <a:lnSpc>
                  <a:spcPts val="2010"/>
                </a:lnSpc>
              </a:pPr>
              <a:r>
                <a:rPr lang="en-US" sz="1546">
                  <a:solidFill>
                    <a:srgbClr val="545454"/>
                  </a:solidFill>
                  <a:latin typeface="Open Sans"/>
                  <a:ea typeface="Open Sans"/>
                  <a:cs typeface="Open Sans"/>
                  <a:sym typeface="Open Sans"/>
                </a:rPr>
                <a:t>Customer Strategy, relationships &amp; Interactions</a:t>
              </a:r>
            </a:p>
          </p:txBody>
        </p:sp>
      </p:grpSp>
      <p:grpSp>
        <p:nvGrpSpPr>
          <p:cNvPr id="46" name="Group 46"/>
          <p:cNvGrpSpPr/>
          <p:nvPr/>
        </p:nvGrpSpPr>
        <p:grpSpPr>
          <a:xfrm>
            <a:off x="1936401" y="6057893"/>
            <a:ext cx="13628173" cy="271330"/>
            <a:chOff x="0" y="0"/>
            <a:chExt cx="18170897" cy="361773"/>
          </a:xfrm>
        </p:grpSpPr>
        <p:grpSp>
          <p:nvGrpSpPr>
            <p:cNvPr id="47" name="Group 47"/>
            <p:cNvGrpSpPr/>
            <p:nvPr/>
          </p:nvGrpSpPr>
          <p:grpSpPr>
            <a:xfrm>
              <a:off x="16711036" y="0"/>
              <a:ext cx="310440" cy="310440"/>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txBody>
              <a:bodyPr/>
              <a:lstStyle/>
              <a:p>
                <a:endParaRPr lang="en-IN"/>
              </a:p>
            </p:txBody>
          </p:sp>
          <p:sp>
            <p:nvSpPr>
              <p:cNvPr id="49" name="TextBox 49"/>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grpSp>
          <p:nvGrpSpPr>
            <p:cNvPr id="50" name="Group 50"/>
            <p:cNvGrpSpPr/>
            <p:nvPr/>
          </p:nvGrpSpPr>
          <p:grpSpPr>
            <a:xfrm>
              <a:off x="17282257" y="0"/>
              <a:ext cx="310440" cy="310440"/>
              <a:chOff x="0" y="0"/>
              <a:chExt cx="812800" cy="812800"/>
            </a:xfrm>
          </p:grpSpPr>
          <p:sp>
            <p:nvSpPr>
              <p:cNvPr id="51" name="Freeform 5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txBody>
              <a:bodyPr/>
              <a:lstStyle/>
              <a:p>
                <a:endParaRPr lang="en-IN"/>
              </a:p>
            </p:txBody>
          </p:sp>
          <p:sp>
            <p:nvSpPr>
              <p:cNvPr id="52" name="TextBox 52"/>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grpSp>
          <p:nvGrpSpPr>
            <p:cNvPr id="53" name="Group 53"/>
            <p:cNvGrpSpPr/>
            <p:nvPr/>
          </p:nvGrpSpPr>
          <p:grpSpPr>
            <a:xfrm>
              <a:off x="17860457" y="0"/>
              <a:ext cx="310440" cy="310440"/>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txBody>
              <a:bodyPr/>
              <a:lstStyle/>
              <a:p>
                <a:endParaRPr lang="en-IN"/>
              </a:p>
            </p:txBody>
          </p:sp>
          <p:sp>
            <p:nvSpPr>
              <p:cNvPr id="55" name="TextBox 55"/>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sp>
          <p:nvSpPr>
            <p:cNvPr id="56" name="TextBox 56"/>
            <p:cNvSpPr txBox="1"/>
            <p:nvPr/>
          </p:nvSpPr>
          <p:spPr>
            <a:xfrm>
              <a:off x="0" y="-9525"/>
              <a:ext cx="282800" cy="371298"/>
            </a:xfrm>
            <a:prstGeom prst="rect">
              <a:avLst/>
            </a:prstGeom>
          </p:spPr>
          <p:txBody>
            <a:bodyPr lIns="0" tIns="0" rIns="0" bIns="0" rtlCol="0" anchor="t">
              <a:spAutoFit/>
            </a:bodyPr>
            <a:lstStyle/>
            <a:p>
              <a:pPr algn="l">
                <a:lnSpc>
                  <a:spcPts val="2375"/>
                </a:lnSpc>
              </a:pPr>
              <a:r>
                <a:rPr lang="en-US" sz="1827">
                  <a:solidFill>
                    <a:srgbClr val="545454"/>
                  </a:solidFill>
                  <a:latin typeface="Open Sans"/>
                  <a:ea typeface="Open Sans"/>
                  <a:cs typeface="Open Sans"/>
                  <a:sym typeface="Open Sans"/>
                </a:rPr>
                <a:t>4</a:t>
              </a:r>
            </a:p>
          </p:txBody>
        </p:sp>
        <p:sp>
          <p:nvSpPr>
            <p:cNvPr id="57" name="TextBox 57"/>
            <p:cNvSpPr txBox="1"/>
            <p:nvPr/>
          </p:nvSpPr>
          <p:spPr>
            <a:xfrm>
              <a:off x="1511176" y="-19050"/>
              <a:ext cx="6697143" cy="332031"/>
            </a:xfrm>
            <a:prstGeom prst="rect">
              <a:avLst/>
            </a:prstGeom>
          </p:spPr>
          <p:txBody>
            <a:bodyPr lIns="0" tIns="0" rIns="0" bIns="0" rtlCol="0" anchor="t">
              <a:spAutoFit/>
            </a:bodyPr>
            <a:lstStyle/>
            <a:p>
              <a:pPr algn="l">
                <a:lnSpc>
                  <a:spcPts val="2010"/>
                </a:lnSpc>
              </a:pPr>
              <a:r>
                <a:rPr lang="en-US" sz="1546">
                  <a:solidFill>
                    <a:srgbClr val="545454"/>
                  </a:solidFill>
                  <a:latin typeface="Open Sans"/>
                  <a:ea typeface="Open Sans"/>
                  <a:cs typeface="Open Sans"/>
                  <a:sym typeface="Open Sans"/>
                </a:rPr>
                <a:t>Target new segments within current geographies</a:t>
              </a:r>
            </a:p>
          </p:txBody>
        </p:sp>
        <p:sp>
          <p:nvSpPr>
            <p:cNvPr id="58" name="TextBox 58"/>
            <p:cNvSpPr txBox="1"/>
            <p:nvPr/>
          </p:nvSpPr>
          <p:spPr>
            <a:xfrm>
              <a:off x="9436694" y="-19050"/>
              <a:ext cx="5868471" cy="332031"/>
            </a:xfrm>
            <a:prstGeom prst="rect">
              <a:avLst/>
            </a:prstGeom>
          </p:spPr>
          <p:txBody>
            <a:bodyPr lIns="0" tIns="0" rIns="0" bIns="0" rtlCol="0" anchor="t">
              <a:spAutoFit/>
            </a:bodyPr>
            <a:lstStyle/>
            <a:p>
              <a:pPr algn="l">
                <a:lnSpc>
                  <a:spcPts val="2010"/>
                </a:lnSpc>
              </a:pPr>
              <a:r>
                <a:rPr lang="en-US" sz="1546">
                  <a:solidFill>
                    <a:srgbClr val="545454"/>
                  </a:solidFill>
                  <a:latin typeface="Open Sans"/>
                  <a:ea typeface="Open Sans"/>
                  <a:cs typeface="Open Sans"/>
                  <a:sym typeface="Open Sans"/>
                </a:rPr>
                <a:t>Customer Strategy, relationships &amp; Interactions</a:t>
              </a:r>
            </a:p>
          </p:txBody>
        </p:sp>
      </p:grpSp>
      <p:grpSp>
        <p:nvGrpSpPr>
          <p:cNvPr id="59" name="Group 59"/>
          <p:cNvGrpSpPr/>
          <p:nvPr/>
        </p:nvGrpSpPr>
        <p:grpSpPr>
          <a:xfrm>
            <a:off x="1936401" y="6873331"/>
            <a:ext cx="13628173" cy="489108"/>
            <a:chOff x="0" y="0"/>
            <a:chExt cx="18170897" cy="652143"/>
          </a:xfrm>
        </p:grpSpPr>
        <p:grpSp>
          <p:nvGrpSpPr>
            <p:cNvPr id="60" name="Group 60"/>
            <p:cNvGrpSpPr/>
            <p:nvPr/>
          </p:nvGrpSpPr>
          <p:grpSpPr>
            <a:xfrm>
              <a:off x="16711036" y="0"/>
              <a:ext cx="310440" cy="310440"/>
              <a:chOff x="0" y="0"/>
              <a:chExt cx="812800" cy="812800"/>
            </a:xfrm>
          </p:grpSpPr>
          <p:sp>
            <p:nvSpPr>
              <p:cNvPr id="61" name="Freeform 6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txBody>
              <a:bodyPr/>
              <a:lstStyle/>
              <a:p>
                <a:endParaRPr lang="en-IN"/>
              </a:p>
            </p:txBody>
          </p:sp>
          <p:sp>
            <p:nvSpPr>
              <p:cNvPr id="62" name="TextBox 62"/>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grpSp>
          <p:nvGrpSpPr>
            <p:cNvPr id="63" name="Group 63"/>
            <p:cNvGrpSpPr/>
            <p:nvPr/>
          </p:nvGrpSpPr>
          <p:grpSpPr>
            <a:xfrm>
              <a:off x="17282257" y="0"/>
              <a:ext cx="310440" cy="310440"/>
              <a:chOff x="0" y="0"/>
              <a:chExt cx="812800" cy="812800"/>
            </a:xfrm>
          </p:grpSpPr>
          <p:sp>
            <p:nvSpPr>
              <p:cNvPr id="64" name="Freeform 6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txBody>
              <a:bodyPr/>
              <a:lstStyle/>
              <a:p>
                <a:endParaRPr lang="en-IN"/>
              </a:p>
            </p:txBody>
          </p:sp>
          <p:sp>
            <p:nvSpPr>
              <p:cNvPr id="65" name="TextBox 65"/>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grpSp>
          <p:nvGrpSpPr>
            <p:cNvPr id="66" name="Group 66"/>
            <p:cNvGrpSpPr/>
            <p:nvPr/>
          </p:nvGrpSpPr>
          <p:grpSpPr>
            <a:xfrm>
              <a:off x="17860457" y="0"/>
              <a:ext cx="310440" cy="310440"/>
              <a:chOff x="0" y="0"/>
              <a:chExt cx="812800" cy="812800"/>
            </a:xfrm>
          </p:grpSpPr>
          <p:sp>
            <p:nvSpPr>
              <p:cNvPr id="67" name="Freeform 6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txBody>
              <a:bodyPr/>
              <a:lstStyle/>
              <a:p>
                <a:endParaRPr lang="en-IN"/>
              </a:p>
            </p:txBody>
          </p:sp>
          <p:sp>
            <p:nvSpPr>
              <p:cNvPr id="68" name="TextBox 68"/>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sp>
          <p:nvSpPr>
            <p:cNvPr id="69" name="TextBox 69"/>
            <p:cNvSpPr txBox="1"/>
            <p:nvPr/>
          </p:nvSpPr>
          <p:spPr>
            <a:xfrm>
              <a:off x="0" y="-9525"/>
              <a:ext cx="282800" cy="371298"/>
            </a:xfrm>
            <a:prstGeom prst="rect">
              <a:avLst/>
            </a:prstGeom>
          </p:spPr>
          <p:txBody>
            <a:bodyPr lIns="0" tIns="0" rIns="0" bIns="0" rtlCol="0" anchor="t">
              <a:spAutoFit/>
            </a:bodyPr>
            <a:lstStyle/>
            <a:p>
              <a:pPr algn="l">
                <a:lnSpc>
                  <a:spcPts val="2375"/>
                </a:lnSpc>
              </a:pPr>
              <a:r>
                <a:rPr lang="en-US" sz="1827">
                  <a:solidFill>
                    <a:srgbClr val="545454"/>
                  </a:solidFill>
                  <a:latin typeface="Open Sans"/>
                  <a:ea typeface="Open Sans"/>
                  <a:cs typeface="Open Sans"/>
                  <a:sym typeface="Open Sans"/>
                </a:rPr>
                <a:t>5</a:t>
              </a:r>
            </a:p>
          </p:txBody>
        </p:sp>
        <p:sp>
          <p:nvSpPr>
            <p:cNvPr id="70" name="TextBox 70"/>
            <p:cNvSpPr txBox="1"/>
            <p:nvPr/>
          </p:nvSpPr>
          <p:spPr>
            <a:xfrm>
              <a:off x="1511176" y="-19050"/>
              <a:ext cx="6697143" cy="671193"/>
            </a:xfrm>
            <a:prstGeom prst="rect">
              <a:avLst/>
            </a:prstGeom>
          </p:spPr>
          <p:txBody>
            <a:bodyPr lIns="0" tIns="0" rIns="0" bIns="0" rtlCol="0" anchor="t">
              <a:spAutoFit/>
            </a:bodyPr>
            <a:lstStyle/>
            <a:p>
              <a:pPr algn="l">
                <a:lnSpc>
                  <a:spcPts val="2010"/>
                </a:lnSpc>
              </a:pPr>
              <a:r>
                <a:rPr lang="en-US" sz="1546">
                  <a:solidFill>
                    <a:srgbClr val="545454"/>
                  </a:solidFill>
                  <a:latin typeface="Open Sans"/>
                  <a:ea typeface="Open Sans"/>
                  <a:cs typeface="Open Sans"/>
                  <a:sym typeface="Open Sans"/>
                </a:rPr>
                <a:t>Improve total customer experience(Purchasing, fulfilment, Usage support, Service, Availability etc.)</a:t>
              </a:r>
            </a:p>
          </p:txBody>
        </p:sp>
        <p:sp>
          <p:nvSpPr>
            <p:cNvPr id="71" name="TextBox 71"/>
            <p:cNvSpPr txBox="1"/>
            <p:nvPr/>
          </p:nvSpPr>
          <p:spPr>
            <a:xfrm>
              <a:off x="9436694" y="-19050"/>
              <a:ext cx="5868471" cy="332031"/>
            </a:xfrm>
            <a:prstGeom prst="rect">
              <a:avLst/>
            </a:prstGeom>
          </p:spPr>
          <p:txBody>
            <a:bodyPr lIns="0" tIns="0" rIns="0" bIns="0" rtlCol="0" anchor="t">
              <a:spAutoFit/>
            </a:bodyPr>
            <a:lstStyle/>
            <a:p>
              <a:pPr algn="l">
                <a:lnSpc>
                  <a:spcPts val="2010"/>
                </a:lnSpc>
              </a:pPr>
              <a:r>
                <a:rPr lang="en-US" sz="1546">
                  <a:solidFill>
                    <a:srgbClr val="545454"/>
                  </a:solidFill>
                  <a:latin typeface="Open Sans"/>
                  <a:ea typeface="Open Sans"/>
                  <a:cs typeface="Open Sans"/>
                  <a:sym typeface="Open Sans"/>
                </a:rPr>
                <a:t>Customer Strategy, relationships &amp; Interactions</a:t>
              </a:r>
            </a:p>
          </p:txBody>
        </p:sp>
      </p:grpSp>
      <p:grpSp>
        <p:nvGrpSpPr>
          <p:cNvPr id="72" name="Group 72"/>
          <p:cNvGrpSpPr/>
          <p:nvPr/>
        </p:nvGrpSpPr>
        <p:grpSpPr>
          <a:xfrm>
            <a:off x="1936401" y="7906547"/>
            <a:ext cx="13628173" cy="271330"/>
            <a:chOff x="0" y="0"/>
            <a:chExt cx="18170897" cy="361773"/>
          </a:xfrm>
        </p:grpSpPr>
        <p:grpSp>
          <p:nvGrpSpPr>
            <p:cNvPr id="73" name="Group 73"/>
            <p:cNvGrpSpPr/>
            <p:nvPr/>
          </p:nvGrpSpPr>
          <p:grpSpPr>
            <a:xfrm>
              <a:off x="16711036" y="0"/>
              <a:ext cx="310440" cy="310440"/>
              <a:chOff x="0" y="0"/>
              <a:chExt cx="812800" cy="812800"/>
            </a:xfrm>
          </p:grpSpPr>
          <p:sp>
            <p:nvSpPr>
              <p:cNvPr id="74" name="Freeform 7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txBody>
              <a:bodyPr/>
              <a:lstStyle/>
              <a:p>
                <a:endParaRPr lang="en-IN"/>
              </a:p>
            </p:txBody>
          </p:sp>
          <p:sp>
            <p:nvSpPr>
              <p:cNvPr id="75" name="TextBox 75"/>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grpSp>
          <p:nvGrpSpPr>
            <p:cNvPr id="76" name="Group 76"/>
            <p:cNvGrpSpPr/>
            <p:nvPr/>
          </p:nvGrpSpPr>
          <p:grpSpPr>
            <a:xfrm>
              <a:off x="17282257" y="0"/>
              <a:ext cx="310440" cy="310440"/>
              <a:chOff x="0" y="0"/>
              <a:chExt cx="812800" cy="812800"/>
            </a:xfrm>
          </p:grpSpPr>
          <p:sp>
            <p:nvSpPr>
              <p:cNvPr id="77" name="Freeform 7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txBody>
              <a:bodyPr/>
              <a:lstStyle/>
              <a:p>
                <a:endParaRPr lang="en-IN"/>
              </a:p>
            </p:txBody>
          </p:sp>
          <p:sp>
            <p:nvSpPr>
              <p:cNvPr id="78" name="TextBox 78"/>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grpSp>
          <p:nvGrpSpPr>
            <p:cNvPr id="79" name="Group 79"/>
            <p:cNvGrpSpPr/>
            <p:nvPr/>
          </p:nvGrpSpPr>
          <p:grpSpPr>
            <a:xfrm>
              <a:off x="17860457" y="0"/>
              <a:ext cx="310440" cy="310440"/>
              <a:chOff x="0" y="0"/>
              <a:chExt cx="812800" cy="812800"/>
            </a:xfrm>
          </p:grpSpPr>
          <p:sp>
            <p:nvSpPr>
              <p:cNvPr id="80" name="Freeform 8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p:spPr>
            <p:txBody>
              <a:bodyPr/>
              <a:lstStyle/>
              <a:p>
                <a:endParaRPr lang="en-IN"/>
              </a:p>
            </p:txBody>
          </p:sp>
          <p:sp>
            <p:nvSpPr>
              <p:cNvPr id="81" name="TextBox 81"/>
              <p:cNvSpPr txBox="1"/>
              <p:nvPr/>
            </p:nvSpPr>
            <p:spPr>
              <a:xfrm>
                <a:off x="76200" y="85725"/>
                <a:ext cx="660400" cy="650875"/>
              </a:xfrm>
              <a:prstGeom prst="rect">
                <a:avLst/>
              </a:prstGeom>
            </p:spPr>
            <p:txBody>
              <a:bodyPr lIns="50800" tIns="50800" rIns="50800" bIns="50800" rtlCol="0" anchor="ctr"/>
              <a:lstStyle/>
              <a:p>
                <a:pPr algn="ctr">
                  <a:lnSpc>
                    <a:spcPts val="2192"/>
                  </a:lnSpc>
                </a:pPr>
                <a:endParaRPr/>
              </a:p>
            </p:txBody>
          </p:sp>
        </p:grpSp>
        <p:sp>
          <p:nvSpPr>
            <p:cNvPr id="82" name="TextBox 82"/>
            <p:cNvSpPr txBox="1"/>
            <p:nvPr/>
          </p:nvSpPr>
          <p:spPr>
            <a:xfrm>
              <a:off x="0" y="-9525"/>
              <a:ext cx="282800" cy="371298"/>
            </a:xfrm>
            <a:prstGeom prst="rect">
              <a:avLst/>
            </a:prstGeom>
          </p:spPr>
          <p:txBody>
            <a:bodyPr lIns="0" tIns="0" rIns="0" bIns="0" rtlCol="0" anchor="t">
              <a:spAutoFit/>
            </a:bodyPr>
            <a:lstStyle/>
            <a:p>
              <a:pPr algn="l">
                <a:lnSpc>
                  <a:spcPts val="2375"/>
                </a:lnSpc>
              </a:pPr>
              <a:r>
                <a:rPr lang="en-US" sz="1827">
                  <a:solidFill>
                    <a:srgbClr val="545454"/>
                  </a:solidFill>
                  <a:latin typeface="Open Sans"/>
                  <a:ea typeface="Open Sans"/>
                  <a:cs typeface="Open Sans"/>
                  <a:sym typeface="Open Sans"/>
                </a:rPr>
                <a:t>6</a:t>
              </a:r>
            </a:p>
          </p:txBody>
        </p:sp>
        <p:sp>
          <p:nvSpPr>
            <p:cNvPr id="83" name="TextBox 83"/>
            <p:cNvSpPr txBox="1"/>
            <p:nvPr/>
          </p:nvSpPr>
          <p:spPr>
            <a:xfrm>
              <a:off x="1511176" y="-19050"/>
              <a:ext cx="6697143" cy="332031"/>
            </a:xfrm>
            <a:prstGeom prst="rect">
              <a:avLst/>
            </a:prstGeom>
          </p:spPr>
          <p:txBody>
            <a:bodyPr lIns="0" tIns="0" rIns="0" bIns="0" rtlCol="0" anchor="t">
              <a:spAutoFit/>
            </a:bodyPr>
            <a:lstStyle/>
            <a:p>
              <a:pPr algn="l">
                <a:lnSpc>
                  <a:spcPts val="2010"/>
                </a:lnSpc>
              </a:pPr>
              <a:r>
                <a:rPr lang="en-US" sz="1546">
                  <a:solidFill>
                    <a:srgbClr val="545454"/>
                  </a:solidFill>
                  <a:latin typeface="Open Sans"/>
                  <a:ea typeface="Open Sans"/>
                  <a:cs typeface="Open Sans"/>
                  <a:sym typeface="Open Sans"/>
                </a:rPr>
                <a:t>Improve brand strength &amp; goodwill</a:t>
              </a:r>
            </a:p>
          </p:txBody>
        </p:sp>
        <p:sp>
          <p:nvSpPr>
            <p:cNvPr id="84" name="TextBox 84"/>
            <p:cNvSpPr txBox="1"/>
            <p:nvPr/>
          </p:nvSpPr>
          <p:spPr>
            <a:xfrm>
              <a:off x="9436694" y="-19050"/>
              <a:ext cx="5868471" cy="332031"/>
            </a:xfrm>
            <a:prstGeom prst="rect">
              <a:avLst/>
            </a:prstGeom>
          </p:spPr>
          <p:txBody>
            <a:bodyPr lIns="0" tIns="0" rIns="0" bIns="0" rtlCol="0" anchor="t">
              <a:spAutoFit/>
            </a:bodyPr>
            <a:lstStyle/>
            <a:p>
              <a:pPr algn="l">
                <a:lnSpc>
                  <a:spcPts val="2010"/>
                </a:lnSpc>
              </a:pPr>
              <a:r>
                <a:rPr lang="en-US" sz="1546">
                  <a:solidFill>
                    <a:srgbClr val="545454"/>
                  </a:solidFill>
                  <a:latin typeface="Open Sans"/>
                  <a:ea typeface="Open Sans"/>
                  <a:cs typeface="Open Sans"/>
                  <a:sym typeface="Open Sans"/>
                </a:rPr>
                <a:t>Customer Strategy, relationships &amp; Interactions</a:t>
              </a:r>
            </a:p>
          </p:txBody>
        </p:sp>
      </p:grpSp>
      <p:sp>
        <p:nvSpPr>
          <p:cNvPr id="85" name="TextBox 85"/>
          <p:cNvSpPr txBox="1"/>
          <p:nvPr/>
        </p:nvSpPr>
        <p:spPr>
          <a:xfrm>
            <a:off x="1716948" y="9318001"/>
            <a:ext cx="9225262" cy="228821"/>
          </a:xfrm>
          <a:prstGeom prst="rect">
            <a:avLst/>
          </a:prstGeom>
        </p:spPr>
        <p:txBody>
          <a:bodyPr lIns="0" tIns="0" rIns="0" bIns="0" rtlCol="0" anchor="t">
            <a:spAutoFit/>
          </a:bodyPr>
          <a:lstStyle/>
          <a:p>
            <a:pPr algn="l">
              <a:lnSpc>
                <a:spcPts val="1824"/>
              </a:lnSpc>
            </a:pPr>
            <a:r>
              <a:rPr lang="en-US" sz="1403" i="1">
                <a:solidFill>
                  <a:srgbClr val="000000"/>
                </a:solidFill>
                <a:latin typeface="Open Sans Italics"/>
                <a:ea typeface="Open Sans Italics"/>
                <a:cs typeface="Open Sans Italics"/>
                <a:sym typeface="Open Sans Italics"/>
              </a:rPr>
              <a:t>Grow Your Business: organization Development Workshop</a:t>
            </a:r>
          </a:p>
        </p:txBody>
      </p:sp>
      <p:sp>
        <p:nvSpPr>
          <p:cNvPr id="86" name="TextBox 86"/>
          <p:cNvSpPr txBox="1"/>
          <p:nvPr/>
        </p:nvSpPr>
        <p:spPr>
          <a:xfrm>
            <a:off x="1716948" y="2814289"/>
            <a:ext cx="863107" cy="258235"/>
          </a:xfrm>
          <a:prstGeom prst="rect">
            <a:avLst/>
          </a:prstGeom>
        </p:spPr>
        <p:txBody>
          <a:bodyPr lIns="0" tIns="0" rIns="0" bIns="0" rtlCol="0" anchor="t">
            <a:spAutoFit/>
          </a:bodyPr>
          <a:lstStyle/>
          <a:p>
            <a:pPr algn="l">
              <a:lnSpc>
                <a:spcPts val="2192"/>
              </a:lnSpc>
            </a:pPr>
            <a:r>
              <a:rPr lang="en-US" sz="1827" b="1">
                <a:solidFill>
                  <a:srgbClr val="6A0B23"/>
                </a:solidFill>
                <a:latin typeface="Open Sans Bold"/>
                <a:ea typeface="Open Sans Bold"/>
                <a:cs typeface="Open Sans Bold"/>
                <a:sym typeface="Open Sans Bold"/>
              </a:rPr>
              <a:t>Sr.No.</a:t>
            </a:r>
          </a:p>
        </p:txBody>
      </p:sp>
      <p:sp>
        <p:nvSpPr>
          <p:cNvPr id="87" name="TextBox 87"/>
          <p:cNvSpPr txBox="1"/>
          <p:nvPr/>
        </p:nvSpPr>
        <p:spPr>
          <a:xfrm>
            <a:off x="3069783" y="2814289"/>
            <a:ext cx="1372583" cy="258235"/>
          </a:xfrm>
          <a:prstGeom prst="rect">
            <a:avLst/>
          </a:prstGeom>
        </p:spPr>
        <p:txBody>
          <a:bodyPr lIns="0" tIns="0" rIns="0" bIns="0" rtlCol="0" anchor="t">
            <a:spAutoFit/>
          </a:bodyPr>
          <a:lstStyle/>
          <a:p>
            <a:pPr algn="l">
              <a:lnSpc>
                <a:spcPts val="2192"/>
              </a:lnSpc>
            </a:pPr>
            <a:r>
              <a:rPr lang="en-US" sz="1827" b="1">
                <a:solidFill>
                  <a:srgbClr val="6A0B23"/>
                </a:solidFill>
                <a:latin typeface="Open Sans Bold"/>
                <a:ea typeface="Open Sans Bold"/>
                <a:cs typeface="Open Sans Bold"/>
                <a:sym typeface="Open Sans Bold"/>
              </a:rPr>
              <a:t>Question</a:t>
            </a:r>
          </a:p>
        </p:txBody>
      </p:sp>
      <p:sp>
        <p:nvSpPr>
          <p:cNvPr id="88" name="TextBox 88"/>
          <p:cNvSpPr txBox="1"/>
          <p:nvPr/>
        </p:nvSpPr>
        <p:spPr>
          <a:xfrm>
            <a:off x="9013922" y="2814289"/>
            <a:ext cx="1614584" cy="258235"/>
          </a:xfrm>
          <a:prstGeom prst="rect">
            <a:avLst/>
          </a:prstGeom>
        </p:spPr>
        <p:txBody>
          <a:bodyPr lIns="0" tIns="0" rIns="0" bIns="0" rtlCol="0" anchor="t">
            <a:spAutoFit/>
          </a:bodyPr>
          <a:lstStyle/>
          <a:p>
            <a:pPr algn="l">
              <a:lnSpc>
                <a:spcPts val="2192"/>
              </a:lnSpc>
            </a:pPr>
            <a:r>
              <a:rPr lang="en-US" sz="1827" b="1">
                <a:solidFill>
                  <a:srgbClr val="6A0B23"/>
                </a:solidFill>
                <a:latin typeface="Open Sans Bold"/>
                <a:ea typeface="Open Sans Bold"/>
                <a:cs typeface="Open Sans Bold"/>
                <a:sym typeface="Open Sans Bold"/>
              </a:rPr>
              <a:t>Question Tag</a:t>
            </a:r>
          </a:p>
        </p:txBody>
      </p:sp>
      <p:sp>
        <p:nvSpPr>
          <p:cNvPr id="89" name="TextBox 89"/>
          <p:cNvSpPr txBox="1"/>
          <p:nvPr/>
        </p:nvSpPr>
        <p:spPr>
          <a:xfrm>
            <a:off x="1716948" y="641945"/>
            <a:ext cx="3328130" cy="477213"/>
          </a:xfrm>
          <a:prstGeom prst="rect">
            <a:avLst/>
          </a:prstGeom>
        </p:spPr>
        <p:txBody>
          <a:bodyPr lIns="0" tIns="0" rIns="0" bIns="0" rtlCol="0" anchor="t">
            <a:spAutoFit/>
          </a:bodyPr>
          <a:lstStyle/>
          <a:p>
            <a:pPr marL="0" lvl="0" indent="0" algn="l">
              <a:lnSpc>
                <a:spcPts val="3401"/>
              </a:lnSpc>
              <a:spcBef>
                <a:spcPct val="0"/>
              </a:spcBef>
            </a:pPr>
            <a:r>
              <a:rPr lang="en-US" sz="3092" b="1">
                <a:solidFill>
                  <a:srgbClr val="6A0B23"/>
                </a:solidFill>
                <a:latin typeface="Poppins Semi-Bold"/>
                <a:ea typeface="Poppins Semi-Bold"/>
                <a:cs typeface="Poppins Semi-Bold"/>
                <a:sym typeface="Poppins Semi-Bold"/>
              </a:rPr>
              <a:t>[Name]</a:t>
            </a:r>
          </a:p>
        </p:txBody>
      </p:sp>
      <p:sp>
        <p:nvSpPr>
          <p:cNvPr id="90" name="TextBox 90"/>
          <p:cNvSpPr txBox="1"/>
          <p:nvPr/>
        </p:nvSpPr>
        <p:spPr>
          <a:xfrm>
            <a:off x="13738882" y="746525"/>
            <a:ext cx="1461592" cy="277578"/>
          </a:xfrm>
          <a:prstGeom prst="rect">
            <a:avLst/>
          </a:prstGeom>
        </p:spPr>
        <p:txBody>
          <a:bodyPr lIns="0" tIns="0" rIns="0" bIns="0" rtlCol="0" anchor="t">
            <a:spAutoFit/>
          </a:bodyPr>
          <a:lstStyle/>
          <a:p>
            <a:pPr marL="0" lvl="0" indent="0" algn="r">
              <a:lnSpc>
                <a:spcPts val="2009"/>
              </a:lnSpc>
              <a:spcBef>
                <a:spcPct val="0"/>
              </a:spcBef>
            </a:pPr>
            <a:r>
              <a:rPr lang="en-US" sz="1827" b="1">
                <a:solidFill>
                  <a:srgbClr val="6A0B23"/>
                </a:solidFill>
                <a:latin typeface="Poppins Bold"/>
                <a:ea typeface="Poppins Bold"/>
                <a:cs typeface="Poppins Bold"/>
                <a:sym typeface="Poppins Bold"/>
              </a:rPr>
              <a:t>Logout</a:t>
            </a:r>
          </a:p>
        </p:txBody>
      </p:sp>
      <p:sp>
        <p:nvSpPr>
          <p:cNvPr id="91" name="TextBox 91"/>
          <p:cNvSpPr txBox="1"/>
          <p:nvPr/>
        </p:nvSpPr>
        <p:spPr>
          <a:xfrm>
            <a:off x="14637974" y="746525"/>
            <a:ext cx="1461592" cy="277578"/>
          </a:xfrm>
          <a:prstGeom prst="rect">
            <a:avLst/>
          </a:prstGeom>
        </p:spPr>
        <p:txBody>
          <a:bodyPr lIns="0" tIns="0" rIns="0" bIns="0" rtlCol="0" anchor="t">
            <a:spAutoFit/>
          </a:bodyPr>
          <a:lstStyle/>
          <a:p>
            <a:pPr marL="0" lvl="0" indent="0" algn="r">
              <a:lnSpc>
                <a:spcPts val="2009"/>
              </a:lnSpc>
              <a:spcBef>
                <a:spcPct val="0"/>
              </a:spcBef>
            </a:pPr>
            <a:r>
              <a:rPr lang="en-US" sz="1827">
                <a:solidFill>
                  <a:srgbClr val="6A0B23"/>
                </a:solidFill>
                <a:latin typeface="Poppins"/>
                <a:ea typeface="Poppins"/>
                <a:cs typeface="Poppins"/>
                <a:sym typeface="Poppins"/>
              </a:rPr>
              <a:t>Home</a:t>
            </a:r>
          </a:p>
        </p:txBody>
      </p:sp>
      <p:sp>
        <p:nvSpPr>
          <p:cNvPr id="92" name="AutoShape 92"/>
          <p:cNvSpPr/>
          <p:nvPr/>
        </p:nvSpPr>
        <p:spPr>
          <a:xfrm>
            <a:off x="1721077" y="4154963"/>
            <a:ext cx="14845847" cy="0"/>
          </a:xfrm>
          <a:prstGeom prst="line">
            <a:avLst/>
          </a:prstGeom>
          <a:ln w="9525" cap="flat">
            <a:solidFill>
              <a:srgbClr val="D9D9D9"/>
            </a:solidFill>
            <a:prstDash val="solid"/>
            <a:headEnd type="none" w="sm" len="sm"/>
            <a:tailEnd type="none" w="sm" len="sm"/>
          </a:ln>
        </p:spPr>
        <p:txBody>
          <a:bodyPr/>
          <a:lstStyle/>
          <a:p>
            <a:endParaRPr lang="en-IN"/>
          </a:p>
        </p:txBody>
      </p:sp>
      <p:sp>
        <p:nvSpPr>
          <p:cNvPr id="93" name="AutoShape 93"/>
          <p:cNvSpPr/>
          <p:nvPr/>
        </p:nvSpPr>
        <p:spPr>
          <a:xfrm>
            <a:off x="1721077" y="4970401"/>
            <a:ext cx="14845847" cy="0"/>
          </a:xfrm>
          <a:prstGeom prst="line">
            <a:avLst/>
          </a:prstGeom>
          <a:ln w="9525" cap="flat">
            <a:solidFill>
              <a:srgbClr val="D9D9D9"/>
            </a:solidFill>
            <a:prstDash val="solid"/>
            <a:headEnd type="none" w="sm" len="sm"/>
            <a:tailEnd type="none" w="sm" len="sm"/>
          </a:ln>
        </p:spPr>
        <p:txBody>
          <a:bodyPr/>
          <a:lstStyle/>
          <a:p>
            <a:endParaRPr lang="en-IN"/>
          </a:p>
        </p:txBody>
      </p:sp>
      <p:sp>
        <p:nvSpPr>
          <p:cNvPr id="94" name="AutoShape 94"/>
          <p:cNvSpPr/>
          <p:nvPr/>
        </p:nvSpPr>
        <p:spPr>
          <a:xfrm>
            <a:off x="1721077" y="5785839"/>
            <a:ext cx="14845847" cy="0"/>
          </a:xfrm>
          <a:prstGeom prst="line">
            <a:avLst/>
          </a:prstGeom>
          <a:ln w="9525" cap="flat">
            <a:solidFill>
              <a:srgbClr val="D9D9D9"/>
            </a:solidFill>
            <a:prstDash val="solid"/>
            <a:headEnd type="none" w="sm" len="sm"/>
            <a:tailEnd type="none" w="sm" len="sm"/>
          </a:ln>
        </p:spPr>
        <p:txBody>
          <a:bodyPr/>
          <a:lstStyle/>
          <a:p>
            <a:endParaRPr lang="en-IN"/>
          </a:p>
        </p:txBody>
      </p:sp>
      <p:sp>
        <p:nvSpPr>
          <p:cNvPr id="95" name="AutoShape 95"/>
          <p:cNvSpPr/>
          <p:nvPr/>
        </p:nvSpPr>
        <p:spPr>
          <a:xfrm>
            <a:off x="1721077" y="6601277"/>
            <a:ext cx="14845847" cy="0"/>
          </a:xfrm>
          <a:prstGeom prst="line">
            <a:avLst/>
          </a:prstGeom>
          <a:ln w="9525" cap="flat">
            <a:solidFill>
              <a:srgbClr val="D9D9D9"/>
            </a:solidFill>
            <a:prstDash val="solid"/>
            <a:headEnd type="none" w="sm" len="sm"/>
            <a:tailEnd type="none" w="sm" len="sm"/>
          </a:ln>
        </p:spPr>
        <p:txBody>
          <a:bodyPr/>
          <a:lstStyle/>
          <a:p>
            <a:endParaRPr lang="en-IN"/>
          </a:p>
        </p:txBody>
      </p:sp>
      <p:sp>
        <p:nvSpPr>
          <p:cNvPr id="96" name="AutoShape 96"/>
          <p:cNvSpPr/>
          <p:nvPr/>
        </p:nvSpPr>
        <p:spPr>
          <a:xfrm>
            <a:off x="1721077" y="7634493"/>
            <a:ext cx="14845847" cy="0"/>
          </a:xfrm>
          <a:prstGeom prst="line">
            <a:avLst/>
          </a:prstGeom>
          <a:ln w="9525" cap="flat">
            <a:solidFill>
              <a:srgbClr val="D9D9D9"/>
            </a:solidFill>
            <a:prstDash val="solid"/>
            <a:headEnd type="none" w="sm" len="sm"/>
            <a:tailEnd type="none" w="sm" len="sm"/>
          </a:ln>
        </p:spPr>
        <p:txBody>
          <a:bodyPr/>
          <a:lstStyle/>
          <a:p>
            <a:endParaRPr lang="en-IN"/>
          </a:p>
        </p:txBody>
      </p:sp>
      <p:sp>
        <p:nvSpPr>
          <p:cNvPr id="97" name="TextBox 97"/>
          <p:cNvSpPr txBox="1"/>
          <p:nvPr/>
        </p:nvSpPr>
        <p:spPr>
          <a:xfrm>
            <a:off x="1716948" y="1591088"/>
            <a:ext cx="2902986" cy="252581"/>
          </a:xfrm>
          <a:prstGeom prst="rect">
            <a:avLst/>
          </a:prstGeom>
        </p:spPr>
        <p:txBody>
          <a:bodyPr lIns="0" tIns="0" rIns="0" bIns="0" rtlCol="0" anchor="t">
            <a:spAutoFit/>
          </a:bodyPr>
          <a:lstStyle/>
          <a:p>
            <a:pPr marL="0" lvl="0" indent="0" algn="l">
              <a:lnSpc>
                <a:spcPts val="1902"/>
              </a:lnSpc>
              <a:spcBef>
                <a:spcPct val="0"/>
              </a:spcBef>
            </a:pPr>
            <a:r>
              <a:rPr lang="en-US" sz="1729" b="1" u="none" strike="noStrike">
                <a:solidFill>
                  <a:srgbClr val="6A0B23"/>
                </a:solidFill>
                <a:latin typeface="Poppins Semi-Bold"/>
                <a:ea typeface="Poppins Semi-Bold"/>
                <a:cs typeface="Poppins Semi-Bold"/>
                <a:sym typeface="Poppins Semi-Bold"/>
              </a:rPr>
              <a:t>[Organization Name]</a:t>
            </a:r>
          </a:p>
        </p:txBody>
      </p:sp>
      <p:sp>
        <p:nvSpPr>
          <p:cNvPr id="98" name="TextBox 98"/>
          <p:cNvSpPr txBox="1"/>
          <p:nvPr/>
        </p:nvSpPr>
        <p:spPr>
          <a:xfrm>
            <a:off x="5282754" y="1591088"/>
            <a:ext cx="1868528" cy="252581"/>
          </a:xfrm>
          <a:prstGeom prst="rect">
            <a:avLst/>
          </a:prstGeom>
        </p:spPr>
        <p:txBody>
          <a:bodyPr lIns="0" tIns="0" rIns="0" bIns="0" rtlCol="0" anchor="t">
            <a:spAutoFit/>
          </a:bodyPr>
          <a:lstStyle/>
          <a:p>
            <a:pPr marL="0" lvl="0" indent="0" algn="l">
              <a:lnSpc>
                <a:spcPts val="1902"/>
              </a:lnSpc>
              <a:spcBef>
                <a:spcPct val="0"/>
              </a:spcBef>
            </a:pPr>
            <a:r>
              <a:rPr lang="en-US" sz="1729" b="1">
                <a:solidFill>
                  <a:srgbClr val="6A0B23"/>
                </a:solidFill>
                <a:latin typeface="Poppins Semi-Bold"/>
                <a:ea typeface="Poppins Semi-Bold"/>
                <a:cs typeface="Poppins Semi-Bold"/>
                <a:sym typeface="Poppins Semi-Bold"/>
              </a:rPr>
              <a:t>KNAV BAS OD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0E1150D560E54591C9141405A651E5" ma:contentTypeVersion="15" ma:contentTypeDescription="Create a new document." ma:contentTypeScope="" ma:versionID="3d8ad8a8fb2b9260b05d114572a96def">
  <xsd:schema xmlns:xsd="http://www.w3.org/2001/XMLSchema" xmlns:xs="http://www.w3.org/2001/XMLSchema" xmlns:p="http://schemas.microsoft.com/office/2006/metadata/properties" xmlns:ns1="http://schemas.microsoft.com/sharepoint/v3" xmlns:ns2="b4e2e53c-0f1f-4715-94f1-5e73db55e77c" xmlns:ns3="e2361a7b-f027-41f3-b70c-a7388b39c94e" targetNamespace="http://schemas.microsoft.com/office/2006/metadata/properties" ma:root="true" ma:fieldsID="1d9eaccda63299394c5d8fa8ed4e0784" ns1:_="" ns2:_="" ns3:_="">
    <xsd:import namespace="http://schemas.microsoft.com/sharepoint/v3"/>
    <xsd:import namespace="b4e2e53c-0f1f-4715-94f1-5e73db55e77c"/>
    <xsd:import namespace="e2361a7b-f027-41f3-b70c-a7388b39c94e"/>
    <xsd:element name="properties">
      <xsd:complexType>
        <xsd:sequence>
          <xsd:element name="documentManagement">
            <xsd:complexType>
              <xsd:all>
                <xsd:element ref="ns2:MediaServiceOCR" minOccurs="0"/>
                <xsd:element ref="ns3:SharedWithUsers" minOccurs="0"/>
                <xsd:element ref="ns3:SharedWithDetails" minOccurs="0"/>
                <xsd:element ref="ns2:MediaServiceObjectDetectorVersions" minOccurs="0"/>
                <xsd:element ref="ns2:_Flow_SignoffStatus" minOccurs="0"/>
                <xsd:element ref="ns2:MediaServiceSearchProperties" minOccurs="0"/>
                <xsd:element ref="ns2:MediaServiceLocation" minOccurs="0"/>
                <xsd:element ref="ns2:MediaServiceMetadata" minOccurs="0"/>
                <xsd:element ref="ns2:MediaServiceFast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4e2e53c-0f1f-4715-94f1-5e73db55e77c" elementFormDefault="qualified">
    <xsd:import namespace="http://schemas.microsoft.com/office/2006/documentManagement/types"/>
    <xsd:import namespace="http://schemas.microsoft.com/office/infopath/2007/PartnerControls"/>
    <xsd:element name="MediaServiceOCR" ma:index="8" nillable="true" ma:displayName="Extracted Text" ma:internalName="MediaServiceOCR" ma:readOnly="true">
      <xsd:simpleType>
        <xsd:restriction base="dms:Note">
          <xsd:maxLength value="255"/>
        </xsd:restriction>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Flow_SignoffStatus" ma:index="12" nillable="true" ma:displayName="Sign-off status" ma:internalName="Sign_x002d_off_x0020_status">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Location" ma:index="14" nillable="true" ma:displayName="Location" ma:indexed="true" ma:internalName="MediaServiceLocation" ma:readOnly="true">
      <xsd:simpleType>
        <xsd:restriction base="dms:Text"/>
      </xsd:simpleType>
    </xsd:element>
    <xsd:element name="MediaServiceMetadata" ma:index="15" nillable="true" ma:displayName="MediaServiceMetadata" ma:hidden="true" ma:internalName="MediaServiceMetadata" ma:readOnly="true">
      <xsd:simpleType>
        <xsd:restriction base="dms:Note"/>
      </xsd:simpleType>
    </xsd:element>
    <xsd:element name="MediaServiceFastMetadata" ma:index="16" nillable="true" ma:displayName="MediaServiceFastMetadata" ma:hidden="true" ma:internalName="MediaServiceFastMetadata" ma:readOnly="true">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594cf8e-73e5-4f30-8c73-8a5df3ccdd3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2361a7b-f027-41f3-b70c-a7388b39c94e"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679e42d-35f0-46ba-bbb4-427143d641c4}" ma:internalName="TaxCatchAll" ma:showField="CatchAllData" ma:web="e2361a7b-f027-41f3-b70c-a7388b39c94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e2361a7b-f027-41f3-b70c-a7388b39c94e" xsi:nil="true"/>
    <_ip_UnifiedCompliancePolicyProperties xmlns="http://schemas.microsoft.com/sharepoint/v3" xsi:nil="true"/>
    <_Flow_SignoffStatus xmlns="b4e2e53c-0f1f-4715-94f1-5e73db55e77c" xsi:nil="true"/>
    <lcf76f155ced4ddcb4097134ff3c332f xmlns="b4e2e53c-0f1f-4715-94f1-5e73db55e77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984BE7B-58B4-4D8B-886F-33A9F18E68BC}"/>
</file>

<file path=customXml/itemProps2.xml><?xml version="1.0" encoding="utf-8"?>
<ds:datastoreItem xmlns:ds="http://schemas.openxmlformats.org/officeDocument/2006/customXml" ds:itemID="{BC7472CB-9D76-4837-B20E-A2447F9D20E2}"/>
</file>

<file path=customXml/itemProps3.xml><?xml version="1.0" encoding="utf-8"?>
<ds:datastoreItem xmlns:ds="http://schemas.openxmlformats.org/officeDocument/2006/customXml" ds:itemID="{37DA576A-6E8F-4623-948C-4EC332D82857}"/>
</file>

<file path=docProps/app.xml><?xml version="1.0" encoding="utf-8"?>
<Properties xmlns="http://schemas.openxmlformats.org/officeDocument/2006/extended-properties" xmlns:vt="http://schemas.openxmlformats.org/officeDocument/2006/docPropsVTypes">
  <TotalTime>5</TotalTime>
  <Words>683</Words>
  <Application>Microsoft Office PowerPoint</Application>
  <PresentationFormat>Custom</PresentationFormat>
  <Paragraphs>123</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Innovative App Pitch (Presentation)</dc:title>
  <cp:lastModifiedBy>Mohanraj K</cp:lastModifiedBy>
  <cp:revision>3</cp:revision>
  <dcterms:created xsi:type="dcterms:W3CDTF">2006-08-16T00:00:00Z</dcterms:created>
  <dcterms:modified xsi:type="dcterms:W3CDTF">2025-07-31T06:06:21Z</dcterms:modified>
  <dc:identifier>DAGthE5Lux4</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0x010100EC0E1150D560E54591C9141405A651E5</vt:lpwstr>
  </property>
</Properties>
</file>